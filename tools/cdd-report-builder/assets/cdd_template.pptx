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4"/>
    <p:sldId id="257" r:id="rId3"/>
    <p:sldId id="258" r:id="rId2"/>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S001_cover   (blueprint slide 1 - Engagement Overview)</a:t>
            </a:r>
          </a:p>
          <a:p>
            <a:r>
              <a:t>WORKING TITLE   Cover Page</a:t>
            </a:r>
          </a:p>
          <a:p>
            <a:r>
              <a:t>PURPOSE         Identify the engagement, the parties, and confidentiality status at a glance.</a:t>
            </a:r>
          </a:p>
          <a:p/>
          <a:p>
            <a:r>
              <a:t>WHAT THIS SLIDE MUST CONTAIN</a:t>
            </a:r>
          </a:p>
          <a:p>
            <a:r>
              <a:t>  - Project codename ('Project [X]'), engagement type (sell-side / buy-side support) and report status</a:t>
            </a:r>
          </a:p>
          <a:p>
            <a:r>
              <a:t>    (Draft / Final).</a:t>
            </a:r>
          </a:p>
          <a:p>
            <a:r>
              <a:t>  - Advisory team with named leads and contact details; client identified per the engagement letter.</a:t>
            </a:r>
          </a:p>
          <a:p>
            <a:r>
              <a:t>  - Date of issue and a clear CONFIDENTIAL designation in the top corner.</a:t>
            </a:r>
          </a:p>
          <a:p>
            <a:r>
              <a:t>  - Clean, brand-led layout — no findings, data, or claims on the cover.</a:t>
            </a:r>
          </a:p>
          <a:p/>
          <a:p>
            <a:r>
              <a:t>SOURCES         Engagement letter / SOW; deal-team roster; client naming conventions.</a:t>
            </a:r>
          </a:p>
          <a:p>
            <a:r>
              <a:t>ANALYSIS        None — purely identifying. Confirm codename and permitted recipients with the client</a:t>
            </a:r>
          </a:p>
          <a:p>
            <a:r>
              <a:t>                first.</a:t>
            </a:r>
          </a:p>
          <a:p>
            <a:r>
              <a:t>EXHIBIT         Full-bleed branded cover: title block + team block, no data.  (form: cover)</a:t>
            </a:r>
          </a:p>
          <a:p>
            <a:r>
              <a:t>QUALITY BAR     Confirm the confidentiality designation and approved recipient list before any draft</a:t>
            </a:r>
          </a:p>
          <a:p>
            <a:r>
              <a:t>                circulates.</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S002_disclaimer   (blueprint slide 2 - Engagement Overview)</a:t>
            </a:r>
          </a:p>
          <a:p>
            <a:r>
              <a:t>WORKING TITLE   Disclaimer &amp; Reliance Limitations</a:t>
            </a:r>
          </a:p>
          <a:p>
            <a:r>
              <a:t>PURPOSE         Define scope, reliance, and the limits of assurance before any finding is read.</a:t>
            </a:r>
          </a:p>
          <a:p/>
          <a:p>
            <a:r>
              <a:t>WHAT THIS SLIDE MUST CONTAIN</a:t>
            </a:r>
          </a:p>
          <a:p>
            <a:r>
              <a:t>  - State the report was prepared for the named client, on topics the client identified, using only the</a:t>
            </a:r>
          </a:p>
          <a:p>
            <a:r>
              <a:t>    procedures the client requested.</a:t>
            </a:r>
          </a:p>
          <a:p>
            <a:r>
              <a:t>  - Clarify the report provides no assurance and is subject to limitations; recipients accept its scope.</a:t>
            </a:r>
          </a:p>
          <a:p>
            <a:r>
              <a:t>  - Set third-party terms: recipients must perform their own diligence and acquire no rights against the</a:t>
            </a:r>
          </a:p>
          <a:p>
            <a:r>
              <a:t>    advisor.</a:t>
            </a:r>
          </a:p>
          <a:p>
            <a:r>
              <a:t>  - Prohibit redistribution except by legal process, with indemnification language for downstream</a:t>
            </a:r>
          </a:p>
          <a:p>
            <a:r>
              <a:t>    claims.</a:t>
            </a:r>
          </a:p>
          <a:p/>
          <a:p>
            <a:r>
              <a:t>SOURCES         Firm legal / risk template; reliance language from the engagement letter.</a:t>
            </a:r>
          </a:p>
          <a:p>
            <a:r>
              <a:t>ANALYSIS        None — legal boilerplate tailored to scope; route new client types or geographies</a:t>
            </a:r>
          </a:p>
          <a:p>
            <a:r>
              <a:t>                through legal review.</a:t>
            </a:r>
          </a:p>
          <a:p>
            <a:r>
              <a:t>EXHIBIT         Text-only bullet slide, kept identical across every report.  (form: text_panel)</a:t>
            </a:r>
          </a:p>
          <a:p>
            <a:r>
              <a:t>QUALITY BAR     Never soften reliance language to please a prospective buyer — disclaimer scope creep is</a:t>
            </a:r>
          </a:p>
          <a:p>
            <a:r>
              <a:t>                a liability.</a:t>
            </a:r>
          </a:p>
          <a:p/>
          <a:p>
            <a:r>
              <a:t>DILIGENCEIQ MAPPING</a:t>
            </a:r>
          </a:p>
          <a:p>
            <a:r>
              <a:t>  gate            always</a:t>
            </a:r>
          </a:p>
          <a:p>
            <a:r>
              <a:t>  transform       T1-EXTRACT, T12-COMPANY-VS-MARKET, T8-FACT-VS-VIEW</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S003_engagement   (blueprint slide 3 - Engagement Overview)</a:t>
            </a:r>
          </a:p>
          <a:p>
            <a:r>
              <a:t>WORKING TITLE   Engagement Overview &amp; Objectives</a:t>
            </a:r>
          </a:p>
          <a:p>
            <a:r>
              <a:t>PURPOSE         State the mandate in one sentence and decompose it into the five diligence workstreams.</a:t>
            </a:r>
          </a:p>
          <a:p/>
          <a:p>
            <a:r>
              <a:t>WHAT THIS SLIDE MUST CONTAIN</a:t>
            </a:r>
          </a:p>
          <a:p>
            <a:r>
              <a:t>  - Action title naming what the client engaged the firm to assess (market opportunity, customer</a:t>
            </a:r>
          </a:p>
          <a:p>
            <a:r>
              <a:t>    sentiment, competitive positioning, growth avenues).</a:t>
            </a:r>
          </a:p>
          <a:p>
            <a:r>
              <a:t>  - A 'Primary Objectives' strip summarising the mandate in one full sentence.</a:t>
            </a:r>
          </a:p>
          <a:p>
            <a:r>
              <a:t>  - Five numbered workstreams — Business Primer · Market Dynamics &amp; Opportunity · Customer Dynamics &amp;</a:t>
            </a:r>
          </a:p>
          <a:p>
            <a:r>
              <a:t>    Feedback · Competitive Landscape &amp; Positioning · Growth Opportunities.</a:t>
            </a:r>
          </a:p>
          <a:p>
            <a:r>
              <a:t>  - Three to five scope bullets under each workstream stating exactly what will be assessed, defined, or</a:t>
            </a:r>
          </a:p>
          <a:p>
            <a:r>
              <a:t>    validated.</a:t>
            </a:r>
          </a:p>
          <a:p/>
          <a:p>
            <a:r>
              <a:t>SOURCES         Kick-off materials; the sponsor's underwriting questions and stated IC concerns.</a:t>
            </a:r>
          </a:p>
          <a:p>
            <a:r>
              <a:t>ANALYSIS        Translate the buyer's underwriting questions into testable workstreams and scope</a:t>
            </a:r>
          </a:p>
          <a:p>
            <a:r>
              <a:t>                bullets.</a:t>
            </a:r>
          </a:p>
          <a:p>
            <a:r>
              <a:t>EXHIBIT         Objectives banner + five-column workstream grid with scope bullets.  (form: banded_table)</a:t>
            </a:r>
          </a:p>
          <a:p>
            <a:r>
              <a:t>QUALITY BAR     Objectives must mirror the buyer's actual decision criteria — not a generic checklist.</a:t>
            </a:r>
          </a:p>
          <a:p/>
          <a:p>
            <a:r>
              <a:t>DILIGENCEIQ MAPPING</a:t>
            </a:r>
          </a:p>
          <a:p>
            <a:r>
              <a:t>  gate            core</a:t>
            </a:r>
          </a:p>
          <a:p>
            <a:r>
              <a:t>  primary modules SCM</a:t>
            </a:r>
          </a:p>
          <a:p>
            <a:r>
              <a:t>  fallback        EXS, REC  (E12-SUBSTITUTION if used)</a:t>
            </a:r>
          </a:p>
          <a:p>
            <a:r>
              <a:t>  secondary       EXS, DCO</a:t>
            </a:r>
          </a:p>
          <a:p>
            <a:r>
              <a:t>  transform       T1-EXTRACT, T12-COMPANY-VS-MARKET, T8-FACT-VS-VIEW</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S004_contents   (blueprint slide 4 - Engagement Overview)</a:t>
            </a:r>
          </a:p>
          <a:p>
            <a:r>
              <a:t>WORKING TITLE   Contents</a:t>
            </a:r>
          </a:p>
          <a:p>
            <a:r>
              <a:t>PURPOSE         Give the reader a two-level map of the report with page references.</a:t>
            </a:r>
          </a:p>
          <a:p/>
          <a:p>
            <a:r>
              <a:t>WHAT THIS SLIDE MUST CONTAIN</a:t>
            </a:r>
          </a:p>
          <a:p>
            <a:r>
              <a:t>  - Top-level sections in reading order: Engagement Overview · Business Introduction &amp; Market Primer ·</a:t>
            </a:r>
          </a:p>
          <a:p>
            <a:r>
              <a:t>    Investment Highlights · Detailed Findings · Appendix.</a:t>
            </a:r>
          </a:p>
          <a:p>
            <a:r>
              <a:t>  - Detailed Findings expanded into its four workstream chapters, each with its page number.</a:t>
            </a:r>
          </a:p>
          <a:p>
            <a:r>
              <a:t>  - Appendix expanded into its lettered parts (landscape, sizing methodology, case studies,</a:t>
            </a:r>
          </a:p>
          <a:p>
            <a:r>
              <a:t>    supplementary data).</a:t>
            </a:r>
          </a:p>
          <a:p>
            <a:r>
              <a:t>  - Page references verified against final pagination.</a:t>
            </a:r>
          </a:p>
          <a:p/>
          <a:p>
            <a:r>
              <a:t>SOURCES         Final deck pagination.</a:t>
            </a:r>
          </a:p>
          <a:p>
            <a:r>
              <a:t>ANALYSIS        None — navigation only.</a:t>
            </a:r>
          </a:p>
          <a:p>
            <a:r>
              <a:t>EXHIBIT         Two-level indented contents list with right-aligned page numbers.  (form: text_panel)</a:t>
            </a:r>
          </a:p>
          <a:p>
            <a:r>
              <a:t>QUALITY BAR     Section titles and page numbers must match the dividers and footers exactly.</a:t>
            </a:r>
          </a:p>
          <a:p/>
          <a:p>
            <a:r>
              <a:t>DILIGENCEIQ MAPPING</a:t>
            </a:r>
          </a:p>
          <a:p>
            <a:r>
              <a:t>  gate            derived</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S005_research_approach   (blueprint slide 5 - Engagement Overview)</a:t>
            </a:r>
          </a:p>
          <a:p>
            <a:r>
              <a:t>WORKING TITLE   Research Approach &amp; Interview Sample</a:t>
            </a:r>
          </a:p>
          <a:p>
            <a:r>
              <a:t>PURPOSE         Show the evidence base — how many conversations, of what type, from which perspectives.</a:t>
            </a:r>
          </a:p>
          <a:p/>
          <a:p>
            <a:r>
              <a:t>WHAT THIS SLIDE MUST CONTAIN</a:t>
            </a:r>
          </a:p>
          <a:p>
            <a:r>
              <a:t>  - Statement that findings combine primary research (interviews, survey) with secondary data analysis,</a:t>
            </a:r>
          </a:p>
          <a:p>
            <a:r>
              <a:t>    and what the interviews focused on.</a:t>
            </a:r>
          </a:p>
          <a:p>
            <a:r>
              <a:t>  - Phone interview table by interviewee type (target customers, competitor customers, competitors,</a:t>
            </a:r>
          </a:p>
          <a:p>
            <a:r>
              <a:t>    partners) with counts and total [n = X].</a:t>
            </a:r>
          </a:p>
          <a:p>
            <a:r>
              <a:t>  - Survey sample table by respondent type with counts and total [n = X].</a:t>
            </a:r>
          </a:p>
          <a:p>
            <a:r>
              <a:t>  - Logo wall of organizations interviewed (anonymise where required).</a:t>
            </a:r>
          </a:p>
          <a:p/>
          <a:p>
            <a:r>
              <a:t>SOURCES         Interview tracker; survey-platform export; primary-research logs.</a:t>
            </a:r>
          </a:p>
          <a:p>
            <a:r>
              <a:t>ANALYSIS        Report every n transparently; note the sample is built for triangulation, not</a:t>
            </a:r>
          </a:p>
          <a:p>
            <a:r>
              <a:t>                statistical precision.</a:t>
            </a:r>
          </a:p>
          <a:p>
            <a:r>
              <a:t>EXHIBIT         Two count tables + interviewed-organizations logo wall.  (form: banded_table)</a:t>
            </a:r>
          </a:p>
          <a:p>
            <a:r>
              <a:t>QUALITY BAR     Disclose every sample size — findings from a handful of calls must never be dressed as</a:t>
            </a:r>
          </a:p>
          <a:p>
            <a:r>
              <a:t>                consensus.</a:t>
            </a:r>
          </a:p>
          <a:p/>
          <a:p>
            <a:r>
              <a:t>DILIGENCEIQ MAPPING</a:t>
            </a:r>
          </a:p>
          <a:p>
            <a:r>
              <a:t>  gate            core</a:t>
            </a:r>
          </a:p>
          <a:p>
            <a:r>
              <a:t>  primary modules SCM</a:t>
            </a:r>
          </a:p>
          <a:p>
            <a:r>
              <a:t>  fallback        EXS, APX  (E12-SUBSTITUTION if used)</a:t>
            </a:r>
          </a:p>
          <a:p>
            <a:r>
              <a:t>  transform       T1-EXTRACT, T10-NARRATIVE-TO-TABLE, T12-COMPANY-VS-MARKET, T2-COMBINE, T8-FACT-VS-VIEW,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S006_survey_sample   (blueprint slide 6 - Engagement Overview)</a:t>
            </a:r>
          </a:p>
          <a:p>
            <a:r>
              <a:t>WORKING TITLE   Survey Sample Distribution</a:t>
            </a:r>
          </a:p>
          <a:p>
            <a:r>
              <a:t>PURPOSE         Break the survey base down by respondent type, size, and industry so cuts can be judged.</a:t>
            </a:r>
          </a:p>
          <a:p/>
          <a:p>
            <a:r>
              <a:t>WHAT THIS SLIDE MUST CONTAIN</a:t>
            </a:r>
          </a:p>
          <a:p>
            <a:r>
              <a:t>  - 100% stacked bars for the overall respondent-type split, firm-size mix within each type, and</a:t>
            </a:r>
          </a:p>
          <a:p>
            <a:r>
              <a:t>    industry mix.</a:t>
            </a:r>
          </a:p>
          <a:p>
            <a:r>
              <a:t>  - A multi-select horizontal bar for focus industries served by one respondent group (sums &gt;100%).</a:t>
            </a:r>
          </a:p>
          <a:p>
            <a:r>
              <a:t>  - The n beneath every column so each cut can be evaluated independently.</a:t>
            </a:r>
          </a:p>
          <a:p>
            <a:r>
              <a:t>  - Survey field dates and method noted in the source line.</a:t>
            </a:r>
          </a:p>
          <a:p/>
          <a:p>
            <a:r>
              <a:t>SOURCES         Web-survey export.</a:t>
            </a:r>
          </a:p>
          <a:p>
            <a:r>
              <a:t>ANALYSIS        Check sample representativeness against the target's ICP; flag skews before findings are</a:t>
            </a:r>
          </a:p>
          <a:p>
            <a:r>
              <a:t>                generalised.</a:t>
            </a:r>
          </a:p>
          <a:p>
            <a:r>
              <a:t>EXHIBIT         Three 100% stacked columns + one multi-select bar panel, all with n labels.  (form: stacked_bar)</a:t>
            </a:r>
          </a:p>
          <a:p>
            <a:r>
              <a:t>QUALITY BAR     Any sample skew acknowledged here — not discovered by the IC later.</a:t>
            </a:r>
          </a:p>
          <a:p/>
          <a:p>
            <a:r>
              <a:t>DILIGENCEIQ MAPPING</a:t>
            </a:r>
          </a:p>
          <a:p>
            <a:r>
              <a:t>  gate            research_gated</a:t>
            </a:r>
          </a:p>
          <a:p>
            <a:r>
              <a:t>  primary modules SCM</a:t>
            </a:r>
          </a:p>
          <a:p>
            <a:r>
              <a:t>  secondary       CSG</a:t>
            </a:r>
          </a:p>
          <a:p>
            <a:r>
              <a:t>  transform       T1-EXTRACT, T11-TRIANGULATE, T12-COMPANY-VS-MARKET, T5-CALCULATE, T8-FACT-VS-VIEW</a:t>
            </a:r>
          </a:p>
          <a:p>
            <a:r>
              <a:t>  source priority R3,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S007_glossary   (blueprint slide 7 - Engagement Overview)</a:t>
            </a:r>
          </a:p>
          <a:p>
            <a:r>
              <a:t>WORKING TITLE   Glossary</a:t>
            </a:r>
          </a:p>
          <a:p>
            <a:r>
              <a:t>PURPOSE         Standardise the specialist language the rest of the report depends on.</a:t>
            </a:r>
          </a:p>
          <a:p/>
          <a:p>
            <a:r>
              <a:t>WHAT THIS SLIDE MUST CONTAIN</a:t>
            </a:r>
          </a:p>
          <a:p>
            <a:r>
              <a:t>  - Two-column table: key term | plain-English description, one row per term.</a:t>
            </a:r>
          </a:p>
          <a:p>
            <a:r>
              <a:t>  - Cover the industry value chain roles, the target's model-specific terms, and adjacent provider</a:t>
            </a:r>
          </a:p>
          <a:p>
            <a:r>
              <a:t>    archetypes.</a:t>
            </a:r>
          </a:p>
          <a:p>
            <a:r>
              <a:t>  - Include sizing and metric definitions used later: TAM, SAM, served market, gross vs net revenue,</a:t>
            </a:r>
          </a:p>
          <a:p>
            <a:r>
              <a:t>    volume metrics.</a:t>
            </a:r>
          </a:p>
          <a:p>
            <a:r>
              <a:t>  - Order terms from ecosystem roles to metrics so the table reads as a primer.</a:t>
            </a:r>
          </a:p>
          <a:p/>
          <a:p>
            <a:r>
              <a:t>SOURCES         Industry references; management materials; firm's standard definitions.</a:t>
            </a:r>
          </a:p>
          <a:p>
            <a:r>
              <a:t>ANALYSIS        None — alignment only; ensure definitions match how terms are used in the body.</a:t>
            </a:r>
          </a:p>
          <a:p>
            <a:r>
              <a:t>EXHIBIT         Clean term / description table.  (form: text_panel)</a:t>
            </a:r>
          </a:p>
          <a:p>
            <a:r>
              <a:t>QUALITY BAR     Every specialist term used later in the deck appears here first.</a:t>
            </a:r>
          </a:p>
          <a:p/>
          <a:p>
            <a:r>
              <a:t>DILIGENCEIQ MAPPING</a:t>
            </a:r>
          </a:p>
          <a:p>
            <a:r>
              <a:t>  gate            derived</a:t>
            </a:r>
          </a:p>
          <a:p>
            <a:r>
              <a:t>  transform       T0-AUTO, T10-NARRATIVE-TO-TABLE, T2-COMBINE,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S008_div_business   (blueprint slide 8 - Business Introduction &amp; Market Primer)</a:t>
            </a:r>
          </a:p>
          <a:p>
            <a:r>
              <a:t>WORKING TITLE   Section Divider — Business Introduction &amp; Market Primer</a:t>
            </a:r>
          </a:p>
          <a:p>
            <a:r>
              <a:t>PURPOSE         Signal the start of the primer chapter with the standard divider design.</a:t>
            </a:r>
          </a:p>
          <a:p/>
          <a:p>
            <a:r>
              <a:t>WHAT THIS SLIDE MUST CONTAIN</a:t>
            </a:r>
          </a:p>
          <a:p>
            <a:r>
              <a:t>  - Section title only, on the firm's standard divider layout.</a:t>
            </a:r>
          </a:p>
          <a:p>
            <a:r>
              <a:t>  - Consistent branding (logo, tagline, copyright) identical across all dividers.</a:t>
            </a:r>
          </a:p>
          <a:p>
            <a:r>
              <a:t>  - No findings or data on divider pages.</a:t>
            </a:r>
          </a:p>
          <a:p/>
          <a:p>
            <a:r>
              <a:t>SOURCES         Deck template.</a:t>
            </a:r>
          </a:p>
          <a:p>
            <a:r>
              <a:t>ANALYSIS        None.</a:t>
            </a:r>
          </a:p>
          <a:p>
            <a:r>
              <a:t>EXHIBIT         Full-bleed branded section divider.  (form: divider)</a:t>
            </a:r>
          </a:p>
          <a:p>
            <a:r>
              <a:t>QUALITY BAR     Divider titles must match the contents page word-for-word.</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S009_company_snapshot   (blueprint slide 9 - Business Introduction &amp; Market Primer)</a:t>
            </a:r>
          </a:p>
          <a:p>
            <a:r>
              <a:t>WORKING TITLE   Company Overview &amp; Financial Snapshot</a:t>
            </a:r>
          </a:p>
          <a:p>
            <a:r>
              <a:t>PURPOSE         Introduce the Target's model, scale, and trajectory on a single page.</a:t>
            </a:r>
          </a:p>
          <a:p/>
          <a:p>
            <a:r>
              <a:t>WHAT THIS SLIDE MUST CONTAIN</a:t>
            </a:r>
          </a:p>
          <a:p>
            <a:r>
              <a:t>  - Action title stating the growth story and the strategic shift under way; sub-line giving the forward</a:t>
            </a:r>
          </a:p>
          <a:p>
            <a:r>
              <a:t>    implication.</a:t>
            </a:r>
          </a:p>
          <a:p>
            <a:r>
              <a:t>  - Revenue bar chart (last 2–3 fiscal years + budget year) with CAGR callout and 1–2 interpretation</a:t>
            </a:r>
          </a:p>
          <a:p>
            <a:r>
              <a:t>    bullets.</a:t>
            </a:r>
          </a:p>
          <a:p>
            <a:r>
              <a:t>  - Company description bullets: what it does, proprietary technology, focus verticals, headline</a:t>
            </a:r>
          </a:p>
          <a:p>
            <a:r>
              <a:t>    profitability with YoY growth.</a:t>
            </a:r>
          </a:p>
          <a:p>
            <a:r>
              <a:t>  - Stat rail: revenue, volume processed / delivered, customer count, founding year, headquarters.</a:t>
            </a:r>
          </a:p>
          <a:p>
            <a:r>
              <a:t>  - End-market mix pie and go-to-market channel split for the most recent period.</a:t>
            </a:r>
          </a:p>
          <a:p/>
          <a:p>
            <a:r>
              <a:t>SOURCES         Management accounts / CIM; KPI pack; QofE where available.</a:t>
            </a:r>
          </a:p>
          <a:p>
            <a:r>
              <a:t>ANALYSIS        Reconcile revenue and EBITDA to QofE; recompute CAGR; verify mix splits against</a:t>
            </a:r>
          </a:p>
          <a:p>
            <a:r>
              <a:t>                management data.</a:t>
            </a:r>
          </a:p>
          <a:p>
            <a:r>
              <a:t>EXHIBIT         Revenue bars + stat rail + end-market pie + channel donut.  (form: kpi_strip)</a:t>
            </a:r>
          </a:p>
          <a:p>
            <a:r>
              <a:t>QUALITY BAR     Every figure on this page ties to management data or QofE — no marketing numbers.</a:t>
            </a:r>
          </a:p>
          <a:p/>
          <a:p>
            <a:r>
              <a:t>DILIGENCEIQ MAPPING</a:t>
            </a:r>
          </a:p>
          <a:p>
            <a:r>
              <a:t>  gate            core</a:t>
            </a:r>
          </a:p>
          <a:p>
            <a:r>
              <a:t>  primary modules CBG, HPF</a:t>
            </a:r>
          </a:p>
          <a:p>
            <a:r>
              <a:t>  fallback        EXS, RVQ, CSC, CFL, CAP  (E12-SUBSTITUTION if used)</a:t>
            </a:r>
          </a:p>
          <a:p>
            <a:r>
              <a:t>  secondary       RVQ, CAP, MGQ, CFL, CSC, EXS, CSG</a:t>
            </a:r>
          </a:p>
          <a:p>
            <a:r>
              <a:t>  may state       fin.revenue, fin.revenue_growth, fin.ebitda_margin, cust.count, ops.headcount</a:t>
            </a:r>
          </a:p>
          <a:p>
            <a:r>
              <a:t>  transform       T1-EXTRACT, T11-TRIANGULATE, T12-COMPANY-VS-MARKET, T3-SUMMARISE, T5-CALCULATE, T6-CONCLUDE, T8-FACT-VS-VIEW</a:t>
            </a:r>
          </a:p>
          <a:p>
            <a:r>
              <a:t>  calculations    C11-MARGIN, C4-MIX</a:t>
            </a:r>
          </a:p>
          <a:p>
            <a:r>
              <a:t>  source priority R1, R3, R4, R5</a:t>
            </a:r>
          </a:p>
          <a:p>
            <a:r>
              <a:t>  exceptions      E1-NOT-PROVIDED, E3-CONFLICT, E6-SUITABILITY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S010_platform_evolution   (blueprint slide 10 - Business Introduction &amp; Market Primer)</a:t>
            </a:r>
          </a:p>
          <a:p>
            <a:r>
              <a:t>WORKING TITLE   Platform Evolution &amp; Acquisition Integration</a:t>
            </a:r>
          </a:p>
          <a:p>
            <a:r>
              <a:t>PURPOSE         Show how acquisitions and organic build created today's differentiated platform.</a:t>
            </a:r>
          </a:p>
          <a:p/>
          <a:p>
            <a:r>
              <a:t>WHAT THIS SLIDE MUST CONTAIN</a:t>
            </a:r>
          </a:p>
          <a:p>
            <a:r>
              <a:t>  - Timeline of acquisitions and organic build phases with dates and the capability each added.</a:t>
            </a:r>
          </a:p>
          <a:p>
            <a:r>
              <a:t>  - Capability inventory grouped by product family (vertical features, segment-specific processing,</a:t>
            </a:r>
          </a:p>
          <a:p>
            <a:r>
              <a:t>    partner APIs, value-added services), marked non-exhaustive.</a:t>
            </a:r>
          </a:p>
          <a:p>
            <a:r>
              <a:t>  - Before / after right-to-win schematic: capabilities pre-acquisition vs the differentiated model</a:t>
            </a:r>
          </a:p>
          <a:p>
            <a:r>
              <a:t>    today.</a:t>
            </a:r>
          </a:p>
          <a:p>
            <a:r>
              <a:t>  - Closing statement of how the evolution increased right-to-win across channels and end-markets.</a:t>
            </a:r>
          </a:p>
          <a:p/>
          <a:p>
            <a:r>
              <a:t>SOURCES         Management information; management and market interviews.</a:t>
            </a:r>
          </a:p>
          <a:p>
            <a:r>
              <a:t>ANALYSIS        Link each acquisition to the specific capabilities and customer segments it unlocked.</a:t>
            </a:r>
          </a:p>
          <a:p>
            <a:r>
              <a:t>EXHIBIT         Timeline + capability grid + before/after panel.  (form: lifecycle_flow)</a:t>
            </a:r>
          </a:p>
          <a:p>
            <a:r>
              <a:t>QUALITY BAR     'Differentiated' claims trace to named capabilities — not asserted.</a:t>
            </a:r>
          </a:p>
          <a:p/>
          <a:p>
            <a:r>
              <a:t>DILIGENCEIQ MAPPING</a:t>
            </a:r>
          </a:p>
          <a:p>
            <a:r>
              <a:t>  gate            conditional</a:t>
            </a:r>
          </a:p>
          <a:p>
            <a:r>
              <a:t>  primary modules CBG, STR</a:t>
            </a:r>
          </a:p>
          <a:p>
            <a:r>
              <a:t>  secondary       SYN, IPT</a:t>
            </a:r>
          </a:p>
          <a:p>
            <a:r>
              <a:t>  transform       T1-EXTRACT, T10-NARRATIVE-TO-TABLE, T12-COMPANY-VS-MARKET, T2-COMBINE, T8-FACT-VS-VIEW,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S011_value_chain   (blueprint slide 11 - Business Introduction &amp; Market Primer)</a:t>
            </a:r>
          </a:p>
          <a:p>
            <a:r>
              <a:t>WORKING TITLE   Value Chain &amp; Stakeholder Map</a:t>
            </a:r>
          </a:p>
          <a:p>
            <a:r>
              <a:t>PURPOSE         Orient the reader: who does what in this industry, and where the Target sits.</a:t>
            </a:r>
          </a:p>
          <a:p/>
          <a:p>
            <a:r>
              <a:t>WHAT THIS SLIDE MUST CONTAIN</a:t>
            </a:r>
          </a:p>
          <a:p>
            <a:r>
              <a:t>  - Stakeholder table grouped into three bands: infrastructure providers, competitors, customers.</a:t>
            </a:r>
          </a:p>
          <a:p>
            <a:r>
              <a:t>  - One row per stakeholder type with example providers (logos) and a 1–2 line description of the role.</a:t>
            </a:r>
          </a:p>
          <a:p>
            <a:r>
              <a:t>  - The Target's archetype row visually distinguished within the competitor band.</a:t>
            </a:r>
          </a:p>
          <a:p>
            <a:r>
              <a:t>  - Descriptions written for a reader new to the industry.</a:t>
            </a:r>
          </a:p>
          <a:p/>
          <a:p>
            <a:r>
              <a:t>SOURCES         Secondary research; expert interviews.</a:t>
            </a:r>
          </a:p>
          <a:p>
            <a:r>
              <a:t>ANALYSIS        Position the Target precisely; make competitor vs supplier vs customer unambiguous.</a:t>
            </a:r>
          </a:p>
          <a:p>
            <a:r>
              <a:t>EXHIBIT         Banded stakeholder table with logo cells and role descriptions.  (form: banded_table)</a:t>
            </a:r>
          </a:p>
          <a:p>
            <a:r>
              <a:t>QUALITY BAR     A generalist IC member can navigate the rest of the report from this page alone.</a:t>
            </a:r>
          </a:p>
          <a:p/>
          <a:p>
            <a:r>
              <a:t>DILIGENCEIQ MAPPING</a:t>
            </a:r>
          </a:p>
          <a:p>
            <a:r>
              <a:t>  gate            core</a:t>
            </a:r>
          </a:p>
          <a:p>
            <a:r>
              <a:t>  primary modules MDF</a:t>
            </a:r>
          </a:p>
          <a:p>
            <a:r>
              <a:t>  fallback        CSG, CID, SUP  (E12-SUBSTITUTION if used)</a:t>
            </a:r>
          </a:p>
          <a:p>
            <a:r>
              <a:t>  secondary       SUP, CSG, CID</a:t>
            </a:r>
          </a:p>
          <a:p>
            <a:r>
              <a:t>  may state       mkt.definition</a:t>
            </a:r>
          </a:p>
          <a:p>
            <a:r>
              <a:t>  transform       T1-EXTRACT, T10-NARRATIVE-TO-TABLE, T12-COMPANY-VS-MARKET, T2-COMBINE, T7-CONFIDENCE, T8-FACT-VS-VIEW, T9-DEDUP</a:t>
            </a:r>
          </a:p>
          <a:p>
            <a:r>
              <a:t>  source priority R2, R3, R5</a:t>
            </a:r>
          </a:p>
          <a:p>
            <a:r>
              <a:t>  exceptions      E1-NOT-PROVIDED,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S012_business_model_flow   (blueprint slide 12 - Business Introduction &amp; Market Primer)</a:t>
            </a:r>
          </a:p>
          <a:p>
            <a:r>
              <a:t>WORKING TITLE   Business Model Routes &amp; Value-Chain Flow</a:t>
            </a:r>
          </a:p>
          <a:p>
            <a:r>
              <a:t>PURPOSE         Map the numbered routes customers take to the service — and which the Target addresses.</a:t>
            </a:r>
          </a:p>
          <a:p/>
          <a:p>
            <a:r>
              <a:t>WHAT THIS SLIDE MUST CONTAIN</a:t>
            </a:r>
          </a:p>
          <a:p>
            <a:r>
              <a:t>  - Value-chain schematic with numbered routes (direct to infrastructure, via traditional intermediary,</a:t>
            </a:r>
          </a:p>
          <a:p>
            <a:r>
              <a:t>    via the Target's model, via the incumbent alternative).</a:t>
            </a:r>
          </a:p>
          <a:p>
            <a:r>
              <a:t>  - Detail panel explaining each numbered route: who uses it, why, and its economics and trade-offs.</a:t>
            </a:r>
          </a:p>
          <a:p>
            <a:r>
              <a:t>  - Markers showing which routes are addressable to the Target, including legacy / resale offerings.</a:t>
            </a:r>
          </a:p>
          <a:p>
            <a:r>
              <a:t>  - Sub-line stating the structural takeaway about the Target's differentiated route.</a:t>
            </a:r>
          </a:p>
          <a:p/>
          <a:p>
            <a:r>
              <a:t>SOURCES         Expert interviews; secondary research; management materials.</a:t>
            </a:r>
          </a:p>
          <a:p>
            <a:r>
              <a:t>ANALYSIS        Locate the Target's addressability by route; identify structural advantages per route.</a:t>
            </a:r>
          </a:p>
          <a:p>
            <a:r>
              <a:t>EXHIBIT         Flow diagram with numbered routes + matching numbered detail column.  (form: lifecycle_flow)</a:t>
            </a:r>
          </a:p>
          <a:p>
            <a:r>
              <a:t>QUALITY BAR     Every route drawn on the diagram has a corresponding detail entry — no orphan arrows.</a:t>
            </a:r>
          </a:p>
          <a:p/>
          <a:p>
            <a:r>
              <a:t>DILIGENCEIQ MAPPING</a:t>
            </a:r>
          </a:p>
          <a:p>
            <a:r>
              <a:t>  gate            core</a:t>
            </a:r>
          </a:p>
          <a:p>
            <a:r>
              <a:t>  primary modules CBG, MDF</a:t>
            </a:r>
          </a:p>
          <a:p>
            <a:r>
              <a:t>  fallback        EXS, RVQ, MSS  (E12-SUBSTITUTION if used)</a:t>
            </a:r>
          </a:p>
          <a:p>
            <a:r>
              <a:t>  secondary       RVQ, MSS</a:t>
            </a:r>
          </a:p>
          <a:p>
            <a:r>
              <a:t>  may state       fin.revenue_mix</a:t>
            </a:r>
          </a:p>
          <a:p>
            <a:r>
              <a:t>  transform       T1-EXTRACT, T10-NARRATIVE-TO-TABLE, T12-COMPANY-VS-MARKET, T2-COMBINE, T8-FACT-VS-VIEW, T9-DEDUP</a:t>
            </a:r>
          </a:p>
          <a:p>
            <a:r>
              <a:t>  calculations    C11-MARGIN, C4-MIX</a:t>
            </a:r>
          </a:p>
          <a:p>
            <a:r>
              <a:t>  source priority R1, R3, R5</a:t>
            </a:r>
          </a:p>
          <a:p>
            <a:r>
              <a:t>  exceptions      E1-NOT-PROVIDED, E6-SUITABILITY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S013_business_model_comparison   (blueprint slide 13 - Business Introduction &amp; Market Primer)</a:t>
            </a:r>
          </a:p>
          <a:p>
            <a:r>
              <a:t>WORKING TITLE   Business Model Comparison</a:t>
            </a:r>
          </a:p>
          <a:p>
            <a:r>
              <a:t>PURPOSE         Contrast the Target's model with the two incumbent archetypes it must beat.</a:t>
            </a:r>
          </a:p>
          <a:p/>
          <a:p>
            <a:r>
              <a:t>WHAT THIS SLIDE MUST CONTAIN</a:t>
            </a:r>
          </a:p>
          <a:p>
            <a:r>
              <a:t>  - Three side-by-side schematics: incumbent model A, the Target's model, incumbent model B.</a:t>
            </a:r>
          </a:p>
          <a:p>
            <a:r>
              <a:t>  - Callout annotations on each schematic explaining flexibility, control, and integration differences.</a:t>
            </a:r>
          </a:p>
          <a:p>
            <a:r>
              <a:t>  - Strengths and weaknesses lists under each model, written from the customer's perspective.</a:t>
            </a:r>
          </a:p>
          <a:p>
            <a:r>
              <a:t>  - Title asserting what the Target's model uniquely combines from the other two.</a:t>
            </a:r>
          </a:p>
          <a:p/>
          <a:p>
            <a:r>
              <a:t>SOURCES         Management information; expert and customer interviews.</a:t>
            </a:r>
          </a:p>
          <a:p>
            <a:r>
              <a:t>ANALYSIS        Contrast architecture, economics, and service posture; isolate the genuine combination</a:t>
            </a:r>
          </a:p>
          <a:p>
            <a:r>
              <a:t>                advantage.</a:t>
            </a:r>
          </a:p>
          <a:p>
            <a:r>
              <a:t>EXHIBIT         Three-panel model schematic with strengths / weaknesses blocks.  (form: scorecard)</a:t>
            </a:r>
          </a:p>
          <a:p>
            <a:r>
              <a:t>QUALITY BAR     Comparison built on customers' selection criteria — not the Target's marketing deck.</a:t>
            </a:r>
          </a:p>
          <a:p/>
          <a:p>
            <a:r>
              <a:t>DILIGENCEIQ MAPPING</a:t>
            </a:r>
          </a:p>
          <a:p>
            <a:r>
              <a:t>  gate            conditional</a:t>
            </a:r>
          </a:p>
          <a:p>
            <a:r>
              <a:t>  primary modules CDF, CID</a:t>
            </a:r>
          </a:p>
          <a:p>
            <a:r>
              <a:t>  secondary       MDF, MPR</a:t>
            </a:r>
          </a:p>
          <a:p>
            <a:r>
              <a:t>  may state       comp.archetypes</a:t>
            </a:r>
          </a:p>
          <a:p>
            <a:r>
              <a:t>  transform       T1-EXTRACT, T10-NARRATIVE-TO-TABLE, T12-COMPANY-VS-MARKET, T2-COMBINE, T4-RECLASSIFY, T7-CONFIDENCE, T8-FACT-VS-VIEW,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S014_model_scorecard   (blueprint slide 14 - Business Introduction &amp; Market Primer)</a:t>
            </a:r>
          </a:p>
          <a:p>
            <a:r>
              <a:t>WORKING TITLE   Model Scorecard vs Customer Selection Criteria</a:t>
            </a:r>
          </a:p>
          <a:p>
            <a:r>
              <a:t>PURPOSE         Score each model against what customers actually weigh — and read off right-to-win.</a:t>
            </a:r>
          </a:p>
          <a:p/>
          <a:p>
            <a:r>
              <a:t>WHAT THIS SLIDE MUST CONTAIN</a:t>
            </a:r>
          </a:p>
          <a:p>
            <a:r>
              <a:t>  - Matrix rows = selection considerations (risk / liability, revenue model, technical flexibility,</a:t>
            </a:r>
          </a:p>
          <a:p>
            <a:r>
              <a:t>    branding control, onboarding speed).</a:t>
            </a:r>
          </a:p>
          <a:p>
            <a:r>
              <a:t>  - Columns = the competing models, each cell rated (most / more / less favourable) with a one-line</a:t>
            </a:r>
          </a:p>
          <a:p>
            <a:r>
              <a:t>    rationale.</a:t>
            </a:r>
          </a:p>
          <a:p>
            <a:r>
              <a:t>  - Right-to-win impact gauges by customer segment for each consideration.</a:t>
            </a:r>
          </a:p>
          <a:p>
            <a:r>
              <a:t>  - Implications column translating each row into a consequence for the Target.</a:t>
            </a:r>
          </a:p>
          <a:p/>
          <a:p>
            <a:r>
              <a:t>SOURCES         Web survey; expert and customer interviews.</a:t>
            </a:r>
          </a:p>
          <a:p>
            <a:r>
              <a:t>ANALYSIS        Score each model per criterion from evidence; convert scores into segment-level right-</a:t>
            </a:r>
          </a:p>
          <a:p>
            <a:r>
              <a:t>                to-win.</a:t>
            </a:r>
          </a:p>
          <a:p>
            <a:r>
              <a:t>EXHIBIT         Criteria × model matrix with favourability ratings, impact gauges, implications rail.  (form: scorecard)</a:t>
            </a:r>
          </a:p>
          <a:p>
            <a:r>
              <a:t>QUALITY BAR     Each rating supported by at least one interview or survey datapoint.</a:t>
            </a:r>
          </a:p>
          <a:p/>
          <a:p>
            <a:r>
              <a:t>DILIGENCEIQ MAPPING</a:t>
            </a:r>
          </a:p>
          <a:p>
            <a:r>
              <a:t>  gate            research_gated</a:t>
            </a:r>
          </a:p>
          <a:p>
            <a:r>
              <a:t>  primary modules BBH, CDF</a:t>
            </a:r>
          </a:p>
          <a:p>
            <a:r>
              <a:t>  secondary       CSA</a:t>
            </a:r>
          </a:p>
          <a:p>
            <a:r>
              <a:t>  may state       cust.purchase_criteria</a:t>
            </a:r>
          </a:p>
          <a:p>
            <a:r>
              <a:t>  transform       T1-EXTRACT, T10-NARRATIVE-TO-TABLE, T12-COMPANY-VS-MARKET, T2-COMBINE, T4-RECLASSIFY, T8-FACT-VS-VIEW, T9-DEDUP</a:t>
            </a:r>
          </a:p>
          <a:p>
            <a:r>
              <a:t>  source priority R3, R4,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S015_barriers   (blueprint slide 15 - Business Introduction &amp; Market Primer)</a:t>
            </a:r>
          </a:p>
          <a:p>
            <a:r>
              <a:t>WORKING TITLE   Structural Barriers to Replication</a:t>
            </a:r>
          </a:p>
          <a:p>
            <a:r>
              <a:t>PURPOSE         Argue why incumbents cannot copy the Target's proposition — from economics, not hope.</a:t>
            </a:r>
          </a:p>
          <a:p/>
          <a:p>
            <a:r>
              <a:t>WHAT THIS SLIDE MUST CONTAIN</a:t>
            </a:r>
          </a:p>
          <a:p>
            <a:r>
              <a:t>  - Two panels, one per incumbent archetype, each listing 2–3 structural barriers (technology model,</a:t>
            </a:r>
          </a:p>
          <a:p>
            <a:r>
              <a:t>    cost structure, historical positioning, channel conflict).</a:t>
            </a:r>
          </a:p>
          <a:p>
            <a:r>
              <a:t>  - A short explanation under each barrier of why it is structural rather than a current-state gap.</a:t>
            </a:r>
          </a:p>
          <a:p>
            <a:r>
              <a:t>  - Synthesis banner per archetype stating the conclusion in one sentence.</a:t>
            </a:r>
          </a:p>
          <a:p/>
          <a:p>
            <a:r>
              <a:t>SOURCES         Expert interviews; secondary research.</a:t>
            </a:r>
          </a:p>
          <a:p>
            <a:r>
              <a:t>ANALYSIS        Stress-test each barrier: what investment or pivot would erode it, and how likely is</a:t>
            </a:r>
          </a:p>
          <a:p>
            <a:r>
              <a:t>                that?</a:t>
            </a:r>
          </a:p>
          <a:p>
            <a:r>
              <a:t>EXHIBIT         Two-column barrier panels + synthesis banners.  (form: banded_table)</a:t>
            </a:r>
          </a:p>
          <a:p>
            <a:r>
              <a:t>QUALITY BAR     'Cannot replicate' is argued from business-model economics — never merely asserted.</a:t>
            </a:r>
          </a:p>
          <a:p/>
          <a:p>
            <a:r>
              <a:t>DILIGENCEIQ MAPPING</a:t>
            </a:r>
          </a:p>
          <a:p>
            <a:r>
              <a:t>  gate            conditional</a:t>
            </a:r>
          </a:p>
          <a:p>
            <a:r>
              <a:t>  primary modules CDF, IPT</a:t>
            </a:r>
          </a:p>
          <a:p>
            <a:r>
              <a:t>  secondary       MSS, RCO</a:t>
            </a:r>
          </a:p>
          <a:p>
            <a:r>
              <a:t>  may state       comp.barrier</a:t>
            </a:r>
          </a:p>
          <a:p>
            <a:r>
              <a:t>  transform       T1-EXTRACT, T12-COMPANY-VS-MARKET, T7-CONFIDENCE, T8-FACT-VS-VIEW</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S016_pain_points   (blueprint slide 16 - Business Introduction &amp; Market Primer)</a:t>
            </a:r>
          </a:p>
          <a:p>
            <a:r>
              <a:t>WORKING TITLE   Incumbent Pain Points vs Target Value Proposition</a:t>
            </a:r>
          </a:p>
          <a:p>
            <a:r>
              <a:t>PURPOSE         Pair every incumbent weakness with the Target capability that exploits it — and prove it with quotes.</a:t>
            </a:r>
          </a:p>
          <a:p/>
          <a:p>
            <a:r>
              <a:t>WHAT THIS SLIDE MUST CONTAIN</a:t>
            </a:r>
          </a:p>
          <a:p>
            <a:r>
              <a:t>  - Numbered pain points with the dominant incumbent model (cost, inflexibility, missing vertical depth,</a:t>
            </a:r>
          </a:p>
          <a:p>
            <a:r>
              <a:t>    weak support).</a:t>
            </a:r>
          </a:p>
          <a:p>
            <a:r>
              <a:t>  - The matching Target value proposition beside each pain point.</a:t>
            </a:r>
          </a:p>
          <a:p>
            <a:r>
              <a:t>  - Verbatim market commentary for each pair, quoted with the speaker's role and organisation type.</a:t>
            </a:r>
          </a:p>
          <a:p>
            <a:r>
              <a:t>  - Sub-line framing the displacement opportunity this creates.</a:t>
            </a:r>
          </a:p>
          <a:p/>
          <a:p>
            <a:r>
              <a:t>SOURCES         Competitor, customer, and churned-account interviews.</a:t>
            </a:r>
          </a:p>
          <a:p>
            <a:r>
              <a:t>ANALYSIS        Map each pain point to a verified Target capability; let the market's own words carry</a:t>
            </a:r>
          </a:p>
          <a:p>
            <a:r>
              <a:t>                the claim.</a:t>
            </a:r>
          </a:p>
          <a:p>
            <a:r>
              <a:t>EXHIBIT         Three-column layout: pain point → value proposition → supporting quote.  (form: banded_table)</a:t>
            </a:r>
          </a:p>
          <a:p>
            <a:r>
              <a:t>QUALITY BAR     Every pain point is paired with a real, attributed quote — no orphan claims.</a:t>
            </a:r>
          </a:p>
          <a:p/>
          <a:p>
            <a:r>
              <a:t>DILIGENCEIQ MAPPING</a:t>
            </a:r>
          </a:p>
          <a:p>
            <a:r>
              <a:t>  gate            conditional</a:t>
            </a:r>
          </a:p>
          <a:p>
            <a:r>
              <a:t>  primary modules CDF, CSA</a:t>
            </a:r>
          </a:p>
          <a:p>
            <a:r>
              <a:t>  secondary       CID, BBH</a:t>
            </a:r>
          </a:p>
          <a:p>
            <a:r>
              <a:t>  may state       comp.differentiation</a:t>
            </a:r>
          </a:p>
          <a:p>
            <a:r>
              <a:t>  transform       T1-EXTRACT, T10-NARRATIVE-TO-TABLE, T12-COMPANY-VS-MARKET, T2-COMBINE, T7-CONFIDENCE, T8-FACT-VS-VIEW,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S017_roadmap   (blueprint slide 17 - Business Introduction &amp; Market Primer)</a:t>
            </a:r>
          </a:p>
          <a:p>
            <a:r>
              <a:t>WORKING TITLE   Platform Roadmap Beyond the Core</a:t>
            </a:r>
          </a:p>
          <a:p>
            <a:r>
              <a:t>PURPOSE         Show how the platform evolves from product to infrastructure — and label plans as plans.</a:t>
            </a:r>
          </a:p>
          <a:p/>
          <a:p>
            <a:r>
              <a:t>WHAT THIS SLIDE MUST CONTAIN</a:t>
            </a:r>
          </a:p>
          <a:p>
            <a:r>
              <a:t>  - Current capability inventory grouped by product area (onboarding, core service, value-added</a:t>
            </a:r>
          </a:p>
          <a:p>
            <a:r>
              <a:t>    solutions, partner tooling).</a:t>
            </a:r>
          </a:p>
          <a:p>
            <a:r>
              <a:t>  - Planned extensions per area in a parallel 'to evolve into' column.</a:t>
            </a:r>
          </a:p>
          <a:p>
            <a:r>
              <a:t>  - Framing line: the platform becomes infrastructure that lets customers scale, monetise, and</a:t>
            </a:r>
          </a:p>
          <a:p>
            <a:r>
              <a:t>    differentiate.</a:t>
            </a:r>
          </a:p>
          <a:p>
            <a:r>
              <a:t>  - Monetisation implications of each extension noted briefly.</a:t>
            </a:r>
          </a:p>
          <a:p/>
          <a:p>
            <a:r>
              <a:t>SOURCES         Management roadmap; product materials; market interviews.</a:t>
            </a:r>
          </a:p>
          <a:p>
            <a:r>
              <a:t>ANALYSIS        Assess roadmap credibility and sequencing against evidence of market demand.</a:t>
            </a:r>
          </a:p>
          <a:p>
            <a:r>
              <a:t>EXHIBIT         Two-column now → next capability map by product area.  (form: lifecycle_flow)</a:t>
            </a:r>
          </a:p>
          <a:p>
            <a:r>
              <a:t>QUALITY BAR     Roadmap items are clearly labelled as plans, never blended with current capability.</a:t>
            </a:r>
          </a:p>
          <a:p/>
          <a:p>
            <a:r>
              <a:t>DILIGENCEIQ MAPPING</a:t>
            </a:r>
          </a:p>
          <a:p>
            <a:r>
              <a:t>  gate            conditional</a:t>
            </a:r>
          </a:p>
          <a:p>
            <a:r>
              <a:t>  primary modules STR, GRO</a:t>
            </a:r>
          </a:p>
          <a:p>
            <a:r>
              <a:t>  secondary       IPT</a:t>
            </a:r>
          </a:p>
          <a:p>
            <a:r>
              <a:t>  transform       T1-EXTRACT, T10-NARRATIVE-TO-TABLE, T12-COMPANY-VS-MARKET, T2-COMBINE, T8-FACT-VS-VIEW,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S018_industry_trends   (blueprint slide 18 - Business Introduction &amp; Market Primer)</a:t>
            </a:r>
          </a:p>
          <a:p>
            <a:r>
              <a:t>WORKING TITLE   Industry Trends &amp; Implications</a:t>
            </a:r>
          </a:p>
          <a:p>
            <a:r>
              <a:t>PURPOSE         Close the primer with the structural tailwinds and headwinds that frame the thesis.</a:t>
            </a:r>
          </a:p>
          <a:p/>
          <a:p>
            <a:r>
              <a:t>WHAT THIS SLIDE MUST CONTAIN</a:t>
            </a:r>
          </a:p>
          <a:p>
            <a:r>
              <a:t>  - Three to five industry trends, each with a 2–3 sentence description grounded in market evidence.</a:t>
            </a:r>
          </a:p>
          <a:p>
            <a:r>
              <a:t>  - Degree-of-impact rating per trend (high / medium) with a one-line justification.</a:t>
            </a:r>
          </a:p>
          <a:p>
            <a:r>
              <a:t>  - An explicit impact / implication statement for the Target on every trend.</a:t>
            </a:r>
          </a:p>
          <a:p>
            <a:r>
              <a:t>  - Trends chosen because they bear on the investment thesis — not generic sector commentary.</a:t>
            </a:r>
          </a:p>
          <a:p/>
          <a:p>
            <a:r>
              <a:t>SOURCES         Expert interviews; secondary research.</a:t>
            </a:r>
          </a:p>
          <a:p>
            <a:r>
              <a:t>ANALYSIS        Rate impact and direction; connect each trend to a specific Target lever or risk.</a:t>
            </a:r>
          </a:p>
          <a:p>
            <a:r>
              <a:t>EXHIBIT         Trend table: trend | description | impact chip + implication.  (form: banded_table)</a:t>
            </a:r>
          </a:p>
          <a:p>
            <a:r>
              <a:t>QUALITY BAR     Every trend ends in a so-what for the Target; no trend is decoration.</a:t>
            </a:r>
          </a:p>
          <a:p/>
          <a:p>
            <a:r>
              <a:t>DILIGENCEIQ MAPPING</a:t>
            </a:r>
          </a:p>
          <a:p>
            <a:r>
              <a:t>  gate            core</a:t>
            </a:r>
          </a:p>
          <a:p>
            <a:r>
              <a:t>  primary modules MDF, DDR</a:t>
            </a:r>
          </a:p>
          <a:p>
            <a:r>
              <a:t>  fallback        MRK, RCO, GRO  (E12-SUBSTITUTION if used)</a:t>
            </a:r>
          </a:p>
          <a:p>
            <a:r>
              <a:t>  secondary       MRK, RCO, ESG</a:t>
            </a:r>
          </a:p>
          <a:p>
            <a:r>
              <a:t>  may state       mkt.demand_driver</a:t>
            </a:r>
          </a:p>
          <a:p>
            <a:r>
              <a:t>  transform       T1-EXTRACT, T10-NARRATIVE-TO-TABLE, T12-COMPANY-VS-MARKET, T2-COMBINE, T7-CONFIDENCE, T8-FACT-VS-VIEW, T9-DEDUP</a:t>
            </a:r>
          </a:p>
          <a:p>
            <a:r>
              <a:t>  source priority R2, R3, R5</a:t>
            </a:r>
          </a:p>
          <a:p>
            <a:r>
              <a:t>  exceptions      E1-NOT-PROVIDED,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S019_div_highlights   (blueprint slide 19 - Investment Highlights)</a:t>
            </a:r>
          </a:p>
          <a:p>
            <a:r>
              <a:t>WORKING TITLE   Section Divider — Investment Highlights</a:t>
            </a:r>
          </a:p>
          <a:p>
            <a:r>
              <a:t>PURPOSE         Signal the synthesis chapter — the case the IC can stop after.</a:t>
            </a:r>
          </a:p>
          <a:p/>
          <a:p>
            <a:r>
              <a:t>WHAT THIS SLIDE MUST CONTAIN</a:t>
            </a:r>
          </a:p>
          <a:p>
            <a:r>
              <a:t>  - Section title only, on the standard divider layout.</a:t>
            </a:r>
          </a:p>
          <a:p>
            <a:r>
              <a:t>  - Consistent branding identical to other dividers.</a:t>
            </a:r>
          </a:p>
          <a:p/>
          <a:p>
            <a:r>
              <a:t>SOURCES         Deck template.</a:t>
            </a:r>
          </a:p>
          <a:p>
            <a:r>
              <a:t>ANALYSIS        None.</a:t>
            </a:r>
          </a:p>
          <a:p>
            <a:r>
              <a:t>EXHIBIT         Full-bleed branded section divider.  (form: divider)</a:t>
            </a:r>
          </a:p>
          <a:p>
            <a:r>
              <a:t>QUALITY BAR     Divider title matches the contents page word-for-word.</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S020_highlights_summary   (blueprint slide 20 - Investment Highlights)</a:t>
            </a:r>
          </a:p>
          <a:p>
            <a:r>
              <a:t>WORKING TITLE   Investment Highlights Summary</a:t>
            </a:r>
          </a:p>
          <a:p>
            <a:r>
              <a:t>PURPOSE         The whole case on one page — written last, placed first.</a:t>
            </a:r>
          </a:p>
          <a:p/>
          <a:p>
            <a:r>
              <a:t>WHAT THIS SLIDE MUST CONTAIN</a:t>
            </a:r>
          </a:p>
          <a:p>
            <a:r>
              <a:t>  - One banner row per workstream, numbered 1–5 (market · decision-making · customer feedback ·</a:t>
            </a:r>
          </a:p>
          <a:p>
            <a:r>
              <a:t>    competitive positioning · growth).</a:t>
            </a:r>
          </a:p>
          <a:p>
            <a:r>
              <a:t>  - Two to three bolded highlight statements per row, each followed by its supporting clause.</a:t>
            </a:r>
          </a:p>
          <a:p>
            <a:r>
              <a:t>  - Quantified claims carry their key figures (market size, growth rate, satisfaction metrics) inline.</a:t>
            </a:r>
          </a:p>
          <a:p>
            <a:r>
              <a:t>  - Action title synthesising the transformation story and why dynamics favour the Target.</a:t>
            </a:r>
          </a:p>
          <a:p/>
          <a:p>
            <a:r>
              <a:t>SOURCES         The detailed findings sections of this report.</a:t>
            </a:r>
          </a:p>
          <a:p>
            <a:r>
              <a:t>ANALYSIS        Distil each workstream to its 2–3 most defensible claims; cut anything not proven later.</a:t>
            </a:r>
          </a:p>
          <a:p>
            <a:r>
              <a:t>EXHIBIT         Numbered highlight banner, one row per workstream.  (form: banded_table)</a:t>
            </a:r>
          </a:p>
          <a:p>
            <a:r>
              <a:t>QUALITY BAR     The IC can stop here and know the answer — and every claim traces to a findings page.</a:t>
            </a:r>
          </a:p>
          <a:p/>
          <a:p>
            <a:r>
              <a:t>DILIGENCEIQ MAPPING</a:t>
            </a:r>
          </a:p>
          <a:p>
            <a:r>
              <a:t>  gate            derived</a:t>
            </a:r>
          </a:p>
          <a:p>
            <a:r>
              <a:t>  primary modules EXS, REC</a:t>
            </a:r>
          </a:p>
          <a:p>
            <a:r>
              <a:t>  secondary       SWO, DCO</a:t>
            </a:r>
          </a:p>
          <a:p>
            <a:r>
              <a:t>  transform       T0-AUTO, T10-NARRATIVE-TO-TABLE, T2-COMBINE, T3-SUMMARISE, T6-CONCLUDE,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S021_h1_market_size   (blueprint slide 21 - Investment Highlights)</a:t>
            </a:r>
          </a:p>
          <a:p>
            <a:r>
              <a:t>WORKING TITLE   Highlight 1 — Market Size (TAM / SAM / Served)</a:t>
            </a:r>
          </a:p>
          <a:p>
            <a:r>
              <a:t>PURPOSE         Establish the headline opportunity: how big, how serviceable, how contested.</a:t>
            </a:r>
          </a:p>
          <a:p/>
          <a:p>
            <a:r>
              <a:t>WHAT THIS SLIDE MUST CONTAIN</a:t>
            </a:r>
          </a:p>
          <a:p>
            <a:r>
              <a:t>  - Opportunity pyramid: TAM, SAM, and served market with $ values and component splits (core + adjacent</a:t>
            </a:r>
          </a:p>
          <a:p>
            <a:r>
              <a:t>    offering).</a:t>
            </a:r>
          </a:p>
          <a:p>
            <a:r>
              <a:t>  - Segmented bar of the opportunity by customer size band, with channel mix inside each band.</a:t>
            </a:r>
          </a:p>
          <a:p>
            <a:r>
              <a:t>  - Opportunity definition strip stating what the TAM captures and at what economics.</a:t>
            </a:r>
          </a:p>
          <a:p>
            <a:r>
              <a:t>  - Workstream number chip tying the page to Highlight 1.</a:t>
            </a:r>
          </a:p>
          <a:p/>
          <a:p>
            <a:r>
              <a:t>SOURCES         Market model; web survey; secondary sizing sources; management data.</a:t>
            </a:r>
          </a:p>
          <a:p>
            <a:r>
              <a:t>ANALYSIS        Size top-down, validate bottom-up; state inclusion / exclusion rules on-page.</a:t>
            </a:r>
          </a:p>
          <a:p>
            <a:r>
              <a:t>EXHIBIT         Opportunity pyramid + segmented size-band bar.  (form: walkdown)</a:t>
            </a:r>
          </a:p>
          <a:p>
            <a:r>
              <a:t>QUALITY BAR     Sizing traces to the appendix methodology page step-by-step.</a:t>
            </a:r>
          </a:p>
          <a:p/>
          <a:p>
            <a:r>
              <a:t>DILIGENCEIQ MAPPING</a:t>
            </a:r>
          </a:p>
          <a:p>
            <a:r>
              <a:t>  gate            core</a:t>
            </a:r>
          </a:p>
          <a:p>
            <a:r>
              <a:t>  primary modules MVG</a:t>
            </a:r>
          </a:p>
          <a:p>
            <a:r>
              <a:t>  fallback        MDF, GRO  (E12-SUBSTITUTION if used)</a:t>
            </a:r>
          </a:p>
          <a:p>
            <a:r>
              <a:t>  secondary       MDF</a:t>
            </a:r>
          </a:p>
          <a:p>
            <a:r>
              <a:t>  may state       mkt.tam, mkt.sam, mkt.som</a:t>
            </a:r>
          </a:p>
          <a:p>
            <a:r>
              <a:t>  transform       T1-EXTRACT, T11-TRIANGULATE, T12-COMPANY-VS-MARKET, T5-CALCULATE, T7-CONFIDENCE, T8-FACT-VS-VIEW</a:t>
            </a:r>
          </a:p>
          <a:p>
            <a:r>
              <a:t>  calculations    C7-CAGR, C8-UNIT-NORMALISE</a:t>
            </a:r>
          </a:p>
          <a:p>
            <a:r>
              <a:t>  source priority R2, R3, R5</a:t>
            </a:r>
          </a:p>
          <a:p>
            <a:r>
              <a:t>  exceptions      E1-NOT-PROVIDED, E3-CONFLICT,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S022_h1_sam_walkup   (blueprint slide 22 - Investment Highlights)</a:t>
            </a:r>
          </a:p>
          <a:p>
            <a:r>
              <a:t>WORKING TITLE   Highlight 1 — SAM Expansion Walkup</a:t>
            </a:r>
          </a:p>
          <a:p>
            <a:r>
              <a:t>PURPOSE         Show the incremental opportunity the Target's new model unlocked.</a:t>
            </a:r>
          </a:p>
          <a:p/>
          <a:p>
            <a:r>
              <a:t>WHAT THIS SLIDE MUST CONTAIN</a:t>
            </a:r>
          </a:p>
          <a:p>
            <a:r>
              <a:t>  - Walkup waterfall from core serviceable market to the expanded SAM, with the increment attributable</a:t>
            </a:r>
          </a:p>
          <a:p>
            <a:r>
              <a:t>    to the new offering.</a:t>
            </a:r>
          </a:p>
          <a:p>
            <a:r>
              <a:t>  - Channel / customer-type stacking inside each bar.</a:t>
            </a:r>
          </a:p>
          <a:p>
            <a:r>
              <a:t>  - Annotation of what product innovation added ($ value) and the new monetisation pathways opened.</a:t>
            </a:r>
          </a:p>
          <a:p>
            <a:r>
              <a:t>  - Sub-line stating what SAM excludes and why.</a:t>
            </a:r>
          </a:p>
          <a:p/>
          <a:p>
            <a:r>
              <a:t>SOURCES         Market model; management data.</a:t>
            </a:r>
          </a:p>
          <a:p>
            <a:r>
              <a:t>ANALYSIS        Isolate the increment honestly; check for double counting between core and new</a:t>
            </a:r>
          </a:p>
          <a:p>
            <a:r>
              <a:t>                opportunity.</a:t>
            </a:r>
          </a:p>
          <a:p>
            <a:r>
              <a:t>EXHIBIT         Two-bar walkup waterfall with stacked channel splits and annotation.  (form: walkup)</a:t>
            </a:r>
          </a:p>
          <a:p>
            <a:r>
              <a:t>QUALITY BAR     The increment reconciles exactly with the TAM / SAM definitions used elsewhere.</a:t>
            </a:r>
          </a:p>
          <a:p/>
          <a:p>
            <a:r>
              <a:t>DILIGENCEIQ MAPPING</a:t>
            </a:r>
          </a:p>
          <a:p>
            <a:r>
              <a:t>  gate            conditional</a:t>
            </a:r>
          </a:p>
          <a:p>
            <a:r>
              <a:t>  primary modules MVG, GRO</a:t>
            </a:r>
          </a:p>
          <a:p>
            <a:r>
              <a:t>  secondary       MDF, MSS</a:t>
            </a:r>
          </a:p>
          <a:p>
            <a:r>
              <a:t>  may state       mkt.sam</a:t>
            </a:r>
          </a:p>
          <a:p>
            <a:r>
              <a:t>  transform       T1-EXTRACT, T11-TRIANGULATE, T12-COMPANY-VS-MARKET, T5-CALCULATE, T7-CONFIDENCE, T8-FACT-VS-VIEW</a:t>
            </a:r>
          </a:p>
          <a:p>
            <a:r>
              <a:t>  calculations    C7-CAGR, C8-UNIT-NORMALISE</a:t>
            </a:r>
          </a:p>
          <a:p>
            <a:r>
              <a:t>  source priority R2, R3, R5</a:t>
            </a:r>
          </a:p>
          <a:p>
            <a:r>
              <a:t>  exceptions      E1-NOT-PROVIDED,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S023_h1_growth_drivers   (blueprint slide 23 - Investment Highlights)</a:t>
            </a:r>
          </a:p>
          <a:p>
            <a:r>
              <a:t>WORKING TITLE   Highlight 1 — Market Growth Drivers</a:t>
            </a:r>
          </a:p>
          <a:p>
            <a:r>
              <a:t>PURPOSE         Decompose the growth outlook into named levers the IC can interrogate.</a:t>
            </a:r>
          </a:p>
          <a:p/>
          <a:p>
            <a:r>
              <a:t>WHAT THIS SLIDE MUST CONTAIN</a:t>
            </a:r>
          </a:p>
          <a:p>
            <a:r>
              <a:t>  - Waterfall from current SAM to the 5-year SAM, one bar per growth lever, with the headline CAGR.</a:t>
            </a:r>
          </a:p>
          <a:p>
            <a:r>
              <a:t>  - Side rail defining each lever and its approximate share of total growth.</a:t>
            </a:r>
          </a:p>
          <a:p>
            <a:r>
              <a:t>  - Mix-shift-only levers flagged explicitly as channel shift, not incremental market growth.</a:t>
            </a:r>
          </a:p>
          <a:p>
            <a:r>
              <a:t>  - Channel-level CAGRs (faster-growing vs slower channel) beneath the chart.</a:t>
            </a:r>
          </a:p>
          <a:p/>
          <a:p>
            <a:r>
              <a:t>SOURCES         Market model; web survey; interviews; secondary sources.</a:t>
            </a:r>
          </a:p>
          <a:p>
            <a:r>
              <a:t>ANALYSIS        Decompose the CAGR into levers; separate real expansion from channel mix shift.</a:t>
            </a:r>
          </a:p>
          <a:p>
            <a:r>
              <a:t>EXHIBIT         Growth waterfall + lever definition rail with %-of-growth chips.  (form: banded_table)</a:t>
            </a:r>
          </a:p>
          <a:p>
            <a:r>
              <a:t>QUALITY BAR     Lever contributions sum to the headline CAGR — arithmetic checked.</a:t>
            </a:r>
          </a:p>
          <a:p/>
          <a:p>
            <a:r>
              <a:t>DILIGENCEIQ MAPPING</a:t>
            </a:r>
          </a:p>
          <a:p>
            <a:r>
              <a:t>  gate            core</a:t>
            </a:r>
          </a:p>
          <a:p>
            <a:r>
              <a:t>  primary modules DDR, MVG</a:t>
            </a:r>
          </a:p>
          <a:p>
            <a:r>
              <a:t>  fallback        MVG, MRK  (E12-SUBSTITUTION if used)</a:t>
            </a:r>
          </a:p>
          <a:p>
            <a:r>
              <a:t>  secondary       MRK</a:t>
            </a:r>
          </a:p>
          <a:p>
            <a:r>
              <a:t>  may state       mkt.demand_driver, mkt.cagr</a:t>
            </a:r>
          </a:p>
          <a:p>
            <a:r>
              <a:t>  transform       T1-EXTRACT, T10-NARRATIVE-TO-TABLE, T12-COMPANY-VS-MARKET, T2-COMBINE, T7-CONFIDENCE, T8-FACT-VS-VIEW, T9-DEDUP</a:t>
            </a:r>
          </a:p>
          <a:p>
            <a:r>
              <a:t>  source priority R2, R3, R5</a:t>
            </a:r>
          </a:p>
          <a:p>
            <a:r>
              <a:t>  exceptions      E1-NOT-PROVIDED, E3-CONFLICT,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S024_h1_recession   (blueprint slide 24 - Investment Highlights)</a:t>
            </a:r>
          </a:p>
          <a:p>
            <a:r>
              <a:t>WORKING TITLE   Highlight 1 — Recession Resilience</a:t>
            </a:r>
          </a:p>
          <a:p>
            <a:r>
              <a:t>PURPOSE         Prove the market grows through downturns, not just in good times.</a:t>
            </a:r>
          </a:p>
          <a:p/>
          <a:p>
            <a:r>
              <a:t>WHAT THIS SLIDE MUST CONTAIN</a:t>
            </a:r>
          </a:p>
          <a:p>
            <a:r>
              <a:t>  - Long-run market size vs GDP-growth dual-axis chart (20+ years).</a:t>
            </a:r>
          </a:p>
          <a:p>
            <a:r>
              <a:t>  - Recession windows annotated with period CAGRs for both series (market vs GDP).</a:t>
            </a:r>
          </a:p>
          <a:p>
            <a:r>
              <a:t>  - Takeaway banner stating the resilience conclusion in one sentence.</a:t>
            </a:r>
          </a:p>
          <a:p>
            <a:r>
              <a:t>  - Workstream chip and sub-line tying resilience to the Target's diversified exposure.</a:t>
            </a:r>
          </a:p>
          <a:p/>
          <a:p>
            <a:r>
              <a:t>SOURCES         Historical market estimates; macroeconomic data (e.g., FRED).</a:t>
            </a:r>
          </a:p>
          <a:p>
            <a:r>
              <a:t>ANALYSIS        Compare market vs GDP growth through at least two downturns; test the durability</a:t>
            </a:r>
          </a:p>
          <a:p>
            <a:r>
              <a:t>                argument.</a:t>
            </a:r>
          </a:p>
          <a:p>
            <a:r>
              <a:t>EXHIBIT         Dual-axis time series with recession callout boxes.  (form: line_series)</a:t>
            </a:r>
          </a:p>
          <a:p>
            <a:r>
              <a:t>QUALITY BAR     The resilience claim is grounded in two or more historical downturns.</a:t>
            </a:r>
          </a:p>
          <a:p/>
          <a:p>
            <a:r>
              <a:t>DILIGENCEIQ MAPPING</a:t>
            </a:r>
          </a:p>
          <a:p>
            <a:r>
              <a:t>  gate            conditional</a:t>
            </a:r>
          </a:p>
          <a:p>
            <a:r>
              <a:t>  primary modules MRK</a:t>
            </a:r>
          </a:p>
          <a:p>
            <a:r>
              <a:t>  secondary       SNS, DDR, RVQ</a:t>
            </a:r>
          </a:p>
          <a:p>
            <a:r>
              <a:t>  may state       mkt.recession_sensitivity</a:t>
            </a:r>
          </a:p>
          <a:p>
            <a:r>
              <a:t>  transform       T1-EXTRACT, T11-TRIANGULATE, T12-COMPANY-VS-MARKET, T5-CALCULATE, T7-CONFIDENCE, T8-FACT-VS-VIEW</a:t>
            </a:r>
          </a:p>
          <a:p>
            <a:r>
              <a:t>  calculations    C7-CAGR</a:t>
            </a:r>
          </a:p>
          <a:p>
            <a:r>
              <a:t>  source priority R2, R3, R5</a:t>
            </a:r>
          </a:p>
          <a:p>
            <a:r>
              <a:t>  exceptions      E1-NOT-PROVIDED,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S025_h2_demand_alignment   (blueprint slide 25 - Investment Highlights)</a:t>
            </a:r>
          </a:p>
          <a:p>
            <a:r>
              <a:t>WORKING TITLE   Highlight 2 — Demand Alignment</a:t>
            </a:r>
          </a:p>
          <a:p>
            <a:r>
              <a:t>PURPOSE         Chain the market's buying behaviour to the Target's platform fit.</a:t>
            </a:r>
          </a:p>
          <a:p/>
          <a:p>
            <a:r>
              <a:t>WHAT THIS SLIDE MUST CONTAIN</a:t>
            </a:r>
          </a:p>
          <a:p>
            <a:r>
              <a:t>  - Four-panel argument chain: customers shifting to the new model → shared buying criteria varying by</a:t>
            </a:r>
          </a:p>
          <a:p>
            <a:r>
              <a:t>    size → vertical functionality mattering → the Target flexibly serving both groups.</a:t>
            </a:r>
          </a:p>
          <a:p>
            <a:r>
              <a:t>  - Two to four evidence bullets per panel, grounded in survey and interview findings.</a:t>
            </a:r>
          </a:p>
          <a:p>
            <a:r>
              <a:t>  - Footer proof bar linking the argument to named Target capabilities.</a:t>
            </a:r>
          </a:p>
          <a:p>
            <a:r>
              <a:t>  - Panel headers written as a connected sentence across the page.</a:t>
            </a:r>
          </a:p>
          <a:p/>
          <a:p>
            <a:r>
              <a:t>SOURCES         Web survey; interviews.</a:t>
            </a:r>
          </a:p>
          <a:p>
            <a:r>
              <a:t>ANALYSIS        Build the argument chain so each panel is evidenced, then land on capability fit.</a:t>
            </a:r>
          </a:p>
          <a:p>
            <a:r>
              <a:t>EXHIBIT         Four-column argument panels + footer capability bar.  (form: scorecard)</a:t>
            </a:r>
          </a:p>
          <a:p>
            <a:r>
              <a:t>QUALITY BAR     Each panel cites its evidence base — this page argues, it does not assert.</a:t>
            </a:r>
          </a:p>
          <a:p/>
          <a:p>
            <a:r>
              <a:t>DILIGENCEIQ MAPPING</a:t>
            </a:r>
          </a:p>
          <a:p>
            <a:r>
              <a:t>  gate            research_gated</a:t>
            </a:r>
          </a:p>
          <a:p>
            <a:r>
              <a:t>  primary modules DDR, BBH</a:t>
            </a:r>
          </a:p>
          <a:p>
            <a:r>
              <a:t>  secondary       CSG, CDF</a:t>
            </a:r>
          </a:p>
          <a:p>
            <a:r>
              <a:t>  may state       cust.purchase_criteria</a:t>
            </a:r>
          </a:p>
          <a:p>
            <a:r>
              <a:t>  transform       T1-EXTRACT, T10-NARRATIVE-TO-TABLE, T12-COMPANY-VS-MARKET, T2-COMBINE, T4-RECLASSIFY, T8-FACT-VS-VIEW, T9-DEDUP</a:t>
            </a:r>
          </a:p>
          <a:p>
            <a:r>
              <a:t>  source priority R3, R4,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S026_h2_lifecycle_fit   (blueprint slide 26 - Investment Highlights)</a:t>
            </a:r>
          </a:p>
          <a:p>
            <a:r>
              <a:t>WORKING TITLE   Highlight 2 — Customer Lifecycle Fit</a:t>
            </a:r>
          </a:p>
          <a:p>
            <a:r>
              <a:t>PURPOSE         Show where in the customer lifecycle the Target wins, and why it keeps winning.</a:t>
            </a:r>
          </a:p>
          <a:p/>
          <a:p>
            <a:r>
              <a:t>WHAT THIS SLIDE MUST CONTAIN</a:t>
            </a:r>
          </a:p>
          <a:p>
            <a:r>
              <a:t>  - Lifecycle / maturity curve locating when customers start evaluating providers like the Target, with</a:t>
            </a:r>
          </a:p>
          <a:p>
            <a:r>
              <a:t>    the GTM sweet spot annotated (size band).</a:t>
            </a:r>
          </a:p>
          <a:p>
            <a:r>
              <a:t>  - Notes on stickiness once adopted and the minimal graduation risk below the largest tier.</a:t>
            </a:r>
          </a:p>
          <a:p>
            <a:r>
              <a:t>  - Ranked purchase-criteria index chart from the survey [n = X] beside the curve.</a:t>
            </a:r>
          </a:p>
          <a:p>
            <a:r>
              <a:t>  - Synthesis rail linking the Target's strengths to the top-ranked criteria.</a:t>
            </a:r>
          </a:p>
          <a:p/>
          <a:p>
            <a:r>
              <a:t>SOURCES         Web survey; interviews.</a:t>
            </a:r>
          </a:p>
          <a:p>
            <a:r>
              <a:t>ANALYSIS        Locate the switching window; align the Target's strengths against the highest-ranked</a:t>
            </a:r>
          </a:p>
          <a:p>
            <a:r>
              <a:t>                criteria.</a:t>
            </a:r>
          </a:p>
          <a:p>
            <a:r>
              <a:t>EXHIBIT         Annotated lifecycle curve + indexed criteria bar chart + synthesis rail.  (form: lifecycle_flow)</a:t>
            </a:r>
          </a:p>
          <a:p>
            <a:r>
              <a:t>QUALITY BAR     The sweet-spot claim is consistent with the decision-making chapter's evidence.</a:t>
            </a:r>
          </a:p>
          <a:p/>
          <a:p>
            <a:r>
              <a:t>DILIGENCEIQ MAPPING</a:t>
            </a:r>
          </a:p>
          <a:p>
            <a:r>
              <a:t>  gate            research_gated</a:t>
            </a:r>
          </a:p>
          <a:p>
            <a:r>
              <a:t>  primary modules CST, BBH</a:t>
            </a:r>
          </a:p>
          <a:p>
            <a:r>
              <a:t>  secondary       CSG</a:t>
            </a:r>
          </a:p>
          <a:p>
            <a:r>
              <a:t>  may state       cust.retention</a:t>
            </a:r>
          </a:p>
          <a:p>
            <a:r>
              <a:t>  transform       T1-EXTRACT, T10-NARRATIVE-TO-TABLE, T12-COMPANY-VS-MARKET, T2-COMBINE, T8-FACT-VS-VIEW, T9-DEDUP</a:t>
            </a:r>
          </a:p>
          <a:p>
            <a:r>
              <a:t>  source priority R3, R4,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S027_h3_satisfaction   (blueprint slide 27 - Investment Highlights)</a:t>
            </a:r>
          </a:p>
          <a:p>
            <a:r>
              <a:t>WORKING TITLE   Highlight 3 — Customer Satisfaction</a:t>
            </a:r>
          </a:p>
          <a:p>
            <a:r>
              <a:t>PURPOSE         Let the Target's customers make the satisfaction case in their own words.</a:t>
            </a:r>
          </a:p>
          <a:p/>
          <a:p>
            <a:r>
              <a:t>WHAT THIS SLIDE MUST CONTAIN</a:t>
            </a:r>
          </a:p>
          <a:p>
            <a:r>
              <a:t>  - Driver rows for the recurring satisfaction themes (ease of use, customer service, speed of delivery,</a:t>
            </a:r>
          </a:p>
          <a:p>
            <a:r>
              <a:t>    competitive pricing).</a:t>
            </a:r>
          </a:p>
          <a:p>
            <a:r>
              <a:t>  - Commentary column summarising the evidence per driver.</a:t>
            </a:r>
          </a:p>
          <a:p>
            <a:r>
              <a:t>  - One to two verbatim customer quotes per driver, attributed by role.</a:t>
            </a:r>
          </a:p>
          <a:p>
            <a:r>
              <a:t>  - Sub-line framing the base as stable and satisfied.</a:t>
            </a:r>
          </a:p>
          <a:p/>
          <a:p>
            <a:r>
              <a:t>SOURCES         Customer interviews.</a:t>
            </a:r>
          </a:p>
          <a:p>
            <a:r>
              <a:t>ANALYSIS        Extract recurring drivers across interviews; separate satisfaction from active advocacy.</a:t>
            </a:r>
          </a:p>
          <a:p>
            <a:r>
              <a:t>EXHIBIT         Driver | commentary | quote table.  (form: nps_bar)</a:t>
            </a:r>
          </a:p>
          <a:p>
            <a:r>
              <a:t>QUALITY BAR     Quotes are attributed and representative — not cherry-picked outliers.</a:t>
            </a:r>
          </a:p>
          <a:p/>
          <a:p>
            <a:r>
              <a:t>DILIGENCEIQ MAPPING</a:t>
            </a:r>
          </a:p>
          <a:p>
            <a:r>
              <a:t>  gate            research_gated</a:t>
            </a:r>
          </a:p>
          <a:p>
            <a:r>
              <a:t>  primary modules CSA</a:t>
            </a:r>
          </a:p>
          <a:p>
            <a:r>
              <a:t>  secondary       CST</a:t>
            </a:r>
          </a:p>
          <a:p>
            <a:r>
              <a:t>  may state       cust.nps, cust.satisfaction</a:t>
            </a:r>
          </a:p>
          <a:p>
            <a:r>
              <a:t>  transform       T1-EXTRACT, T11-TRIANGULATE, T12-COMPANY-VS-MARKET, T5-CALCULATE, T8-FACT-VS-VIEW</a:t>
            </a:r>
          </a:p>
          <a:p>
            <a:r>
              <a:t>  calculations    C10-DELTA</a:t>
            </a:r>
          </a:p>
          <a:p>
            <a:r>
              <a:t>  source priority R3, R4, R5</a:t>
            </a:r>
          </a:p>
          <a:p>
            <a:r>
              <a:t>  exceptions      E1-NOT-PROVIDED, E11-NO-PRIMARY, E3-CONFLICT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S028_h4_incumbent_dissatisfaction   (blueprint slide 28 - Investment Highlights)</a:t>
            </a:r>
          </a:p>
          <a:p>
            <a:r>
              <a:t>WORKING TITLE   Highlight 4 — Incumbent Dissatisfaction</a:t>
            </a:r>
          </a:p>
          <a:p>
            <a:r>
              <a:t>PURPOSE         Quantify the frustration with incumbents that creates the Target's wedge.</a:t>
            </a:r>
          </a:p>
          <a:p/>
          <a:p>
            <a:r>
              <a:t>WHAT THIS SLIDE MUST CONTAIN</a:t>
            </a:r>
          </a:p>
          <a:p>
            <a:r>
              <a:t>  - Numbered structural pain points with the legacy model (economics, undifferentiated product, missing</a:t>
            </a:r>
          </a:p>
          <a:p>
            <a:r>
              <a:t>    vertical expertise, poor support).</a:t>
            </a:r>
          </a:p>
          <a:p>
            <a:r>
              <a:t>  - NPS stacked bars for the incumbent's customer groups: detractor / passive / promoter splits with NPS</a:t>
            </a:r>
          </a:p>
          <a:p>
            <a:r>
              <a:t>    values and n.</a:t>
            </a:r>
          </a:p>
          <a:p>
            <a:r>
              <a:t>  - Framing line connecting dissatisfaction to switching potential for the Target.</a:t>
            </a:r>
          </a:p>
          <a:p/>
          <a:p>
            <a:r>
              <a:t>SOURCES         Web survey; interviews.</a:t>
            </a:r>
          </a:p>
          <a:p>
            <a:r>
              <a:t>ANALYSIS        Compute NPS by segment; link each pain point to observed switching intent.</a:t>
            </a:r>
          </a:p>
          <a:p>
            <a:r>
              <a:t>EXHIBIT         Pain-point list + NPS stacked bars with n labels.  (form: grouped_bar)</a:t>
            </a:r>
          </a:p>
          <a:p>
            <a:r>
              <a:t>QUALITY BAR     NPS sample sizes shown; small-n cells flagged rather than hidden.</a:t>
            </a:r>
          </a:p>
          <a:p/>
          <a:p>
            <a:r>
              <a:t>DILIGENCEIQ MAPPING</a:t>
            </a:r>
          </a:p>
          <a:p>
            <a:r>
              <a:t>  gate            research_gated</a:t>
            </a:r>
          </a:p>
          <a:p>
            <a:r>
              <a:t>  primary modules CSA, CID</a:t>
            </a:r>
          </a:p>
          <a:p>
            <a:r>
              <a:t>  secondary       CDF, BBH</a:t>
            </a:r>
          </a:p>
          <a:p>
            <a:r>
              <a:t>  may state       cust.satisfaction</a:t>
            </a:r>
          </a:p>
          <a:p>
            <a:r>
              <a:t>  transform       T1-EXTRACT, T11-TRIANGULATE, T12-COMPANY-VS-MARKET, T5-CALCULATE, T8-FACT-VS-VIEW</a:t>
            </a:r>
          </a:p>
          <a:p>
            <a:r>
              <a:t>  calculations    C12-AVERAGE, C9-INDEX</a:t>
            </a:r>
          </a:p>
          <a:p>
            <a:r>
              <a:t>  source priority R3, R4,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S029_h4_differentiation   (blueprint slide 29 - Investment Highlights)</a:t>
            </a:r>
          </a:p>
          <a:p>
            <a:r>
              <a:t>WORKING TITLE   Highlight 4 — Competitive Differentiation</a:t>
            </a:r>
          </a:p>
          <a:p>
            <a:r>
              <a:t>PURPOSE         Position the Target against competitor archetypes on the criteria that decide deals.</a:t>
            </a:r>
          </a:p>
          <a:p/>
          <a:p>
            <a:r>
              <a:t>WHAT THIS SLIDE MUST CONTAIN</a:t>
            </a:r>
          </a:p>
          <a:p>
            <a:r>
              <a:t>  - Three numbered differentiation claims (platform performance, support quality, flexibility), each</a:t>
            </a:r>
          </a:p>
          <a:p>
            <a:r>
              <a:t>    with supporting evidence bullets.</a:t>
            </a:r>
          </a:p>
          <a:p>
            <a:r>
              <a:t>  - Heat matrix of competitor archetypes vs key criteria (functionality, flexibility, adaptability,</a:t>
            </a:r>
          </a:p>
          <a:p>
            <a:r>
              <a:t>    support, cost).</a:t>
            </a:r>
          </a:p>
          <a:p>
            <a:r>
              <a:t>  - Synthesis banner stating the opportunity as demands evolve toward the Target's model.</a:t>
            </a:r>
          </a:p>
          <a:p/>
          <a:p>
            <a:r>
              <a:t>SOURCES         Web survey; interviews.</a:t>
            </a:r>
          </a:p>
          <a:p>
            <a:r>
              <a:t>ANALYSIS        Benchmark archetypes on the criteria customers rank highest; validate the Target's cells</a:t>
            </a:r>
          </a:p>
          <a:p>
            <a:r>
              <a:t>                externally.</a:t>
            </a:r>
          </a:p>
          <a:p>
            <a:r>
              <a:t>EXHIBIT         Archetype × criteria heat matrix + numbered claims rail.  (form: scorecard)</a:t>
            </a:r>
          </a:p>
          <a:p>
            <a:r>
              <a:t>QUALITY BAR     The Target's scores are third-party evidenced — never self-reported by management.</a:t>
            </a:r>
          </a:p>
          <a:p/>
          <a:p>
            <a:r>
              <a:t>DILIGENCEIQ MAPPING</a:t>
            </a:r>
          </a:p>
          <a:p>
            <a:r>
              <a:t>  gate            core</a:t>
            </a:r>
          </a:p>
          <a:p>
            <a:r>
              <a:t>  primary modules CDF</a:t>
            </a:r>
          </a:p>
          <a:p>
            <a:r>
              <a:t>  fallback        CID, SWO, CSA  (E12-SUBSTITUTION if used)</a:t>
            </a:r>
          </a:p>
          <a:p>
            <a:r>
              <a:t>  secondary       CID, CSA</a:t>
            </a:r>
          </a:p>
          <a:p>
            <a:r>
              <a:t>  may state       comp.differentiation</a:t>
            </a:r>
          </a:p>
          <a:p>
            <a:r>
              <a:t>  transform       T1-EXTRACT, T10-NARRATIVE-TO-TABLE, T12-COMPANY-VS-MARKET, T2-COMBINE, T4-RECLASSIFY, T7-CONFIDENCE, T8-FACT-VS-VIEW,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S030_h4_full_suite   (blueprint slide 30 - Investment Highlights)</a:t>
            </a:r>
          </a:p>
          <a:p>
            <a:r>
              <a:t>WORKING TITLE   Highlight 4 — Full-Suite Offering Receptivity</a:t>
            </a:r>
          </a:p>
          <a:p>
            <a:r>
              <a:t>PURPOSE         Show the market wants the integrated model the Target is building.</a:t>
            </a:r>
          </a:p>
          <a:p/>
          <a:p>
            <a:r>
              <a:t>WHAT THIS SLIDE MUST CONTAIN</a:t>
            </a:r>
          </a:p>
          <a:p>
            <a:r>
              <a:t>  - Capability panel: core capabilities + value-added services, including vertical-specific modules,</a:t>
            </a:r>
          </a:p>
          <a:p>
            <a:r>
              <a:t>    with an upside note on expansion.</a:t>
            </a:r>
          </a:p>
          <a:p>
            <a:r>
              <a:t>  - Survey stacked bars: likelihood to switch to a full-suite provider by customer type, with means,</a:t>
            </a:r>
          </a:p>
          <a:p>
            <a:r>
              <a:t>    top-2 shares, and n.</a:t>
            </a:r>
          </a:p>
          <a:p>
            <a:r>
              <a:t>  - Sub-line noting the model lets customers easily replace or upgrade incumbents.</a:t>
            </a:r>
          </a:p>
          <a:p/>
          <a:p>
            <a:r>
              <a:t>SOURCES         Web survey; management materials.</a:t>
            </a:r>
          </a:p>
          <a:p>
            <a:r>
              <a:t>ANALYSIS        Quantify receptivity by customer type; connect stated appetite to the capability</a:t>
            </a:r>
          </a:p>
          <a:p>
            <a:r>
              <a:t>                inventory.</a:t>
            </a:r>
          </a:p>
          <a:p>
            <a:r>
              <a:t>EXHIBIT         Capability inventory panel + likelihood-to-switch stacked bars.  (form: grouped_bar)</a:t>
            </a:r>
          </a:p>
          <a:p>
            <a:r>
              <a:t>QUALITY BAR     Receptivity is read alongside stated switching barriers — not in isolation.</a:t>
            </a:r>
          </a:p>
          <a:p/>
          <a:p>
            <a:r>
              <a:t>DILIGENCEIQ MAPPING</a:t>
            </a:r>
          </a:p>
          <a:p>
            <a:r>
              <a:t>  gate            research_gated</a:t>
            </a:r>
          </a:p>
          <a:p>
            <a:r>
              <a:t>  primary modules GRO, CDF</a:t>
            </a:r>
          </a:p>
          <a:p>
            <a:r>
              <a:t>  secondary       BBH, MPR</a:t>
            </a:r>
          </a:p>
          <a:p>
            <a:r>
              <a:t>  may state       cust.wtp</a:t>
            </a:r>
          </a:p>
          <a:p>
            <a:r>
              <a:t>  transform       T1-EXTRACT, T11-TRIANGULATE, T12-COMPANY-VS-MARKET, T5-CALCULATE, T8-FACT-VS-VIEW</a:t>
            </a:r>
          </a:p>
          <a:p>
            <a:r>
              <a:t>  calculations    C12-AVERAGE, C9-INDEX</a:t>
            </a:r>
          </a:p>
          <a:p>
            <a:r>
              <a:t>  source priority R3, R4,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S031_h5_growth_levers   (blueprint slide 31 - Investment Highlights)</a:t>
            </a:r>
          </a:p>
          <a:p>
            <a:r>
              <a:t>WORKING TITLE   Highlight 5 — Growth Levers</a:t>
            </a:r>
          </a:p>
          <a:p>
            <a:r>
              <a:t>PURPOSE         Lay out the growth agenda: seven levers, sequenced by proximity to the core.</a:t>
            </a:r>
          </a:p>
          <a:p/>
          <a:p>
            <a:r>
              <a:t>WHAT THIS SLIDE MUST CONTAIN</a:t>
            </a:r>
          </a:p>
          <a:p>
            <a:r>
              <a:t>  - Opportunity matrix plotting the numbered levers by proximity to core (x) and horizon (grouping: core</a:t>
            </a:r>
          </a:p>
          <a:p>
            <a:r>
              <a:t>    / near adjacency / expansion).</a:t>
            </a:r>
          </a:p>
          <a:p>
            <a:r>
              <a:t>  - Lever table: each numbered growth area with the advisor's perspective and considerations.</a:t>
            </a:r>
          </a:p>
          <a:p>
            <a:r>
              <a:t>  - Levers span new customers, new partners, product utilisation, pricing, new segments, product</a:t>
            </a:r>
          </a:p>
          <a:p>
            <a:r>
              <a:t>    expansion, and M&amp;A.</a:t>
            </a:r>
          </a:p>
          <a:p>
            <a:r>
              <a:t>  - Every lever cross-references its deep-dive page in the growth chapter.</a:t>
            </a:r>
          </a:p>
          <a:p/>
          <a:p>
            <a:r>
              <a:t>SOURCES         Findings sections; management strategy materials.</a:t>
            </a:r>
          </a:p>
          <a:p>
            <a:r>
              <a:t>ANALYSIS        Sequence levers by readiness and proximity; separate core momentum from expansion bets.</a:t>
            </a:r>
          </a:p>
          <a:p>
            <a:r>
              <a:t>EXHIBIT         2-axis opportunity matrix + lever perspective table.  (form: banded_table)</a:t>
            </a:r>
          </a:p>
          <a:p>
            <a:r>
              <a:t>QUALITY BAR     Every lever on the matrix has a perspective row — and vice versa.</a:t>
            </a:r>
          </a:p>
          <a:p/>
          <a:p>
            <a:r>
              <a:t>DILIGENCEIQ MAPPING</a:t>
            </a:r>
          </a:p>
          <a:p>
            <a:r>
              <a:t>  gate            core</a:t>
            </a:r>
          </a:p>
          <a:p>
            <a:r>
              <a:t>  primary modules GRO</a:t>
            </a:r>
          </a:p>
          <a:p>
            <a:r>
              <a:t>  fallback        STR, REC, SYN  (E12-SUBSTITUTION if used)</a:t>
            </a:r>
          </a:p>
          <a:p>
            <a:r>
              <a:t>  secondary       STR, SYN, MSS</a:t>
            </a:r>
          </a:p>
          <a:p>
            <a:r>
              <a:t>  transform       T1-EXTRACT, T10-NARRATIVE-TO-TABLE, T12-COMPANY-VS-MARKET, T2-COMBINE, T3-SUMMARISE, T6-CONCLUDE, T8-FACT-VS-VIEW,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S032_div_market   (blueprint slide 32 - Market Dynamics &amp; Opportunity)</a:t>
            </a:r>
          </a:p>
          <a:p>
            <a:r>
              <a:t>WORKING TITLE   Section Divider — Detailed Findings</a:t>
            </a:r>
          </a:p>
          <a:p>
            <a:r>
              <a:t>PURPOSE         Open the findings section and list its four chapters.</a:t>
            </a:r>
          </a:p>
          <a:p/>
          <a:p>
            <a:r>
              <a:t>WHAT THIS SLIDE MUST CONTAIN</a:t>
            </a:r>
          </a:p>
          <a:p>
            <a:r>
              <a:t>  - Section title with the four workstream chapters listed: Market Dynamics &amp; Opportunity · Decision-</a:t>
            </a:r>
          </a:p>
          <a:p>
            <a:r>
              <a:t>    Making Dynamics · Competitive Landscape · Growth Opportunities.</a:t>
            </a:r>
          </a:p>
          <a:p>
            <a:r>
              <a:t>  - Standard divider branding; repeated before each chapter with the current chapter highlighted.</a:t>
            </a:r>
          </a:p>
          <a:p/>
          <a:p>
            <a:r>
              <a:t>SOURCES         Deck template.</a:t>
            </a:r>
          </a:p>
          <a:p>
            <a:r>
              <a:t>ANALYSIS        None.</a:t>
            </a:r>
          </a:p>
          <a:p>
            <a:r>
              <a:t>EXHIBIT         Branded divider with chapter list.  (form: divider)</a:t>
            </a:r>
          </a:p>
          <a:p>
            <a:r>
              <a:t>QUALITY BAR     Chapter list matches the contents page exactly.</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S033_icp_mapping   (blueprint slide 33 - Market Dynamics &amp; Opportunity)</a:t>
            </a:r>
          </a:p>
          <a:p>
            <a:r>
              <a:t>WORKING TITLE   Ideal Customer Profile Mapping</a:t>
            </a:r>
          </a:p>
          <a:p>
            <a:r>
              <a:t>PURPOSE         Define precisely who the Target's model is built for — by size, vertical, and type.</a:t>
            </a:r>
          </a:p>
          <a:p/>
          <a:p>
            <a:r>
              <a:t>WHAT THIS SLIDE MUST CONTAIN</a:t>
            </a:r>
          </a:p>
          <a:p>
            <a:r>
              <a:t>  - Heat grid: customer size band (rows) × industry vertical (columns) × customer type (sub-rows), rated</a:t>
            </a:r>
          </a:p>
          <a:p>
            <a:r>
              <a:t>    very low → very high fit.</a:t>
            </a:r>
          </a:p>
          <a:p>
            <a:r>
              <a:t>  - The ICP zone outlined and labelled; enterprise-tier rows annotated with why addressability is</a:t>
            </a:r>
          </a:p>
          <a:p>
            <a:r>
              <a:t>    limited.</a:t>
            </a:r>
          </a:p>
          <a:p>
            <a:r>
              <a:t>  - Side callouts explaining what drives high fit (purpose-built functionality) and where fit could be</a:t>
            </a:r>
          </a:p>
          <a:p>
            <a:r>
              <a:t>    built.</a:t>
            </a:r>
          </a:p>
          <a:p>
            <a:r>
              <a:t>  - Sub-line noting this reflects the new model specifically, distinct from legacy offerings.</a:t>
            </a:r>
          </a:p>
          <a:p/>
          <a:p>
            <a:r>
              <a:t>SOURCES         Management data; interviews.</a:t>
            </a:r>
          </a:p>
          <a:p>
            <a:r>
              <a:t>ANALYSIS        Define ICP from demonstrated fit and win evidence — not aspiration.</a:t>
            </a:r>
          </a:p>
          <a:p>
            <a:r>
              <a:t>EXHIBIT         ICP heat grid with outlined zone and explanatory callouts.  (form: heat_grid)</a:t>
            </a:r>
          </a:p>
          <a:p>
            <a:r>
              <a:t>QUALITY BAR     ICP boundaries are consistent with the sizing exclusions used in the market chapter.</a:t>
            </a:r>
          </a:p>
          <a:p/>
          <a:p>
            <a:r>
              <a:t>DILIGENCEIQ MAPPING</a:t>
            </a:r>
          </a:p>
          <a:p>
            <a:r>
              <a:t>  gate            conditional</a:t>
            </a:r>
          </a:p>
          <a:p>
            <a:r>
              <a:t>  primary modules CSG</a:t>
            </a:r>
          </a:p>
          <a:p>
            <a:r>
              <a:t>  secondary       BBH, RVQ</a:t>
            </a:r>
          </a:p>
          <a:p>
            <a:r>
              <a:t>  may state       cust.segments</a:t>
            </a:r>
          </a:p>
          <a:p>
            <a:r>
              <a:t>  transform       T1-EXTRACT, T10-NARRATIVE-TO-TABLE, T12-COMPANY-VS-MARKET, T2-COMBINE, T4-RECLASSIFY, T8-FACT-VS-VIEW, T9-DEDUP</a:t>
            </a:r>
          </a:p>
          <a:p>
            <a:r>
              <a:t>  source priority R3, R4,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S034_market_definitions   (blueprint slide 34 - Market Dynamics &amp; Opportunity)</a:t>
            </a:r>
          </a:p>
          <a:p>
            <a:r>
              <a:t>WORKING TITLE   Market Opportunity Definitions</a:t>
            </a:r>
          </a:p>
          <a:p>
            <a:r>
              <a:t>PURPOSE         Make every sizing boundary explicit before any number is shown.</a:t>
            </a:r>
          </a:p>
          <a:p/>
          <a:p>
            <a:r>
              <a:t>WHAT THIS SLIDE MUST CONTAIN</a:t>
            </a:r>
          </a:p>
          <a:p>
            <a:r>
              <a:t>  - Left rail: TAM / SAM / served market pyramid with $ values for each component (core opportunity +</a:t>
            </a:r>
          </a:p>
          <a:p>
            <a:r>
              <a:t>    adjacent offering).</a:t>
            </a:r>
          </a:p>
          <a:p>
            <a:r>
              <a:t>  - Definition columns for each component: what each level includes, what it excludes, and why.</a:t>
            </a:r>
          </a:p>
          <a:p>
            <a:r>
              <a:t>  - Explicit notes on exclusions (segments that self-serve, uneconomic micro tiers) and where TAM equals</a:t>
            </a:r>
          </a:p>
          <a:p>
            <a:r>
              <a:t>    SAM and why.</a:t>
            </a:r>
          </a:p>
          <a:p>
            <a:r>
              <a:t>  - Component tags (A / B) reused on every subsequent sizing page.</a:t>
            </a:r>
          </a:p>
          <a:p/>
          <a:p>
            <a:r>
              <a:t>SOURCES         Market model.</a:t>
            </a:r>
          </a:p>
          <a:p>
            <a:r>
              <a:t>ANALYSIS        Write inclusion / exclusion logic that survives IC interrogation; tag components</a:t>
            </a:r>
          </a:p>
          <a:p>
            <a:r>
              <a:t>                consistently.</a:t>
            </a:r>
          </a:p>
          <a:p>
            <a:r>
              <a:t>EXHIBIT         Definition table: opportunity level × component, with the value rail.  (form: banded_table)</a:t>
            </a:r>
          </a:p>
          <a:p>
            <a:r>
              <a:t>QUALITY BAR     These definitions match every later chart that uses them — no silent redefinition.</a:t>
            </a:r>
          </a:p>
          <a:p/>
          <a:p>
            <a:r>
              <a:t>DILIGENCEIQ MAPPING</a:t>
            </a:r>
          </a:p>
          <a:p>
            <a:r>
              <a:t>  gate            core</a:t>
            </a:r>
          </a:p>
          <a:p>
            <a:r>
              <a:t>  primary modules MDF</a:t>
            </a:r>
          </a:p>
          <a:p>
            <a:r>
              <a:t>  fallback        MVG, CSG  (E12-SUBSTITUTION if used)</a:t>
            </a:r>
          </a:p>
          <a:p>
            <a:r>
              <a:t>  secondary       MVG</a:t>
            </a:r>
          </a:p>
          <a:p>
            <a:r>
              <a:t>  may state       mkt.definition</a:t>
            </a:r>
          </a:p>
          <a:p>
            <a:r>
              <a:t>  transform       T1-EXTRACT, T10-NARRATIVE-TO-TABLE, T12-COMPANY-VS-MARKET, T2-COMBINE, T7-CONFIDENCE, T8-FACT-VS-VIEW, T9-DEDUP</a:t>
            </a:r>
          </a:p>
          <a:p>
            <a:r>
              <a:t>  source priority R2, R3, R5</a:t>
            </a:r>
          </a:p>
          <a:p>
            <a:r>
              <a:t>  exceptions      E1-NOT-PROVIDED,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S035_volume_narrowing   (blueprint slide 35 - Market Dynamics &amp; Opportunity)</a:t>
            </a:r>
          </a:p>
          <a:p>
            <a:r>
              <a:t>WORKING TITLE   Addressable Volume Narrowing</a:t>
            </a:r>
          </a:p>
          <a:p>
            <a:r>
              <a:t>PURPOSE         Walk from total market volume to what is structurally addressable.</a:t>
            </a:r>
          </a:p>
          <a:p/>
          <a:p>
            <a:r>
              <a:t>WHAT THIS SLIDE MUST CONTAIN</a:t>
            </a:r>
          </a:p>
          <a:p>
            <a:r>
              <a:t>  - Three-bar narrowing waterfall: total volume → volume in less-addressable verticals removed →</a:t>
            </a:r>
          </a:p>
          <a:p>
            <a:r>
              <a:t>    addressable volume.</a:t>
            </a:r>
          </a:p>
          <a:p>
            <a:r>
              <a:t>  - Vertical composition (%) inside each bar; excluded verticals in grey, retained in brand colour.</a:t>
            </a:r>
          </a:p>
          <a:p>
            <a:r>
              <a:t>  - Note box explaining the exclusion logic: structural misalignment, direct relationships, internalised</a:t>
            </a:r>
          </a:p>
          <a:p>
            <a:r>
              <a:t>    alternatives.</a:t>
            </a:r>
          </a:p>
          <a:p>
            <a:r>
              <a:t>  - Percentage retained annotated between bars.</a:t>
            </a:r>
          </a:p>
          <a:p/>
          <a:p>
            <a:r>
              <a:t>SOURCES         Government / industry statistics; secondary sizing sources.</a:t>
            </a:r>
          </a:p>
          <a:p>
            <a:r>
              <a:t>ANALYSIS        Exclude verticals by stated structural criteria — never by convenience.</a:t>
            </a:r>
          </a:p>
          <a:p>
            <a:r>
              <a:t>EXHIBIT         Three-bar waterfall with per-vertical stacking and exclusion note.  (form: walkdown)</a:t>
            </a:r>
          </a:p>
          <a:p>
            <a:r>
              <a:t>QUALITY BAR     Every removed vertical has its exclusion rationale stated on-page.</a:t>
            </a:r>
          </a:p>
          <a:p/>
          <a:p>
            <a:r>
              <a:t>DILIGENCEIQ MAPPING</a:t>
            </a:r>
          </a:p>
          <a:p>
            <a:r>
              <a:t>  gate            conditional</a:t>
            </a:r>
          </a:p>
          <a:p>
            <a:r>
              <a:t>  primary modules MVG, MDF</a:t>
            </a:r>
          </a:p>
          <a:p>
            <a:r>
              <a:t>  may state       mkt.volume</a:t>
            </a:r>
          </a:p>
          <a:p>
            <a:r>
              <a:t>  transform       T1-EXTRACT, T11-TRIANGULATE, T12-COMPANY-VS-MARKET, T5-CALCULATE, T7-CONFIDENCE, T8-FACT-VS-VIEW</a:t>
            </a:r>
          </a:p>
          <a:p>
            <a:r>
              <a:t>  calculations    C7-CAGR, C8-UNIT-NORMALISE</a:t>
            </a:r>
          </a:p>
          <a:p>
            <a:r>
              <a:t>  source priority R2, R3, R5</a:t>
            </a:r>
          </a:p>
          <a:p>
            <a:r>
              <a:t>  exceptions      E1-NOT-PROVIDED,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S036_volume_by_channel   (blueprint slide 36 - Market Dynamics &amp; Opportunity)</a:t>
            </a:r>
          </a:p>
          <a:p>
            <a:r>
              <a:t>WORKING TITLE   Addressable Volume by Channel</a:t>
            </a:r>
          </a:p>
          <a:p>
            <a:r>
              <a:t>PURPOSE         Split addressable volume by route-to-customer across the retained verticals.</a:t>
            </a:r>
          </a:p>
          <a:p/>
          <a:p>
            <a:r>
              <a:t>WHAT THIS SLIDE MUST CONTAIN</a:t>
            </a:r>
          </a:p>
          <a:p>
            <a:r>
              <a:t>  - 100% stacked bars per vertical showing channel mix (partner-led vs independent), ordered by volume.</a:t>
            </a:r>
          </a:p>
          <a:p>
            <a:r>
              <a:t>  - Absolute volume totals above each vertical bar and sigma totals per channel at the right.</a:t>
            </a:r>
          </a:p>
          <a:p>
            <a:r>
              <a:t>  - Commentary on where channel adoption lags or leads by vertical.</a:t>
            </a:r>
          </a:p>
          <a:p>
            <a:r>
              <a:t>  - Total addressable volume callout in the corner.</a:t>
            </a:r>
          </a:p>
          <a:p/>
          <a:p>
            <a:r>
              <a:t>SOURCES         Market model; web survey; secondary sources.</a:t>
            </a:r>
          </a:p>
          <a:p>
            <a:r>
              <a:t>ANALYSIS        Estimate channel mix per vertical from survey base rates plus secondary evidence.</a:t>
            </a:r>
          </a:p>
          <a:p>
            <a:r>
              <a:t>EXHIBIT         100% stacked vertical bars with absolute totals and channel sigmas.  (form: stacked_bar)</a:t>
            </a:r>
          </a:p>
          <a:p>
            <a:r>
              <a:t>QUALITY BAR     Channel splits are consistent with the survey base rates reported earlier.</a:t>
            </a:r>
          </a:p>
          <a:p/>
          <a:p>
            <a:r>
              <a:t>DILIGENCEIQ MAPPING</a:t>
            </a:r>
          </a:p>
          <a:p>
            <a:r>
              <a:t>  gate            conditional</a:t>
            </a:r>
          </a:p>
          <a:p>
            <a:r>
              <a:t>  primary modules MVG, MSS</a:t>
            </a:r>
          </a:p>
          <a:p>
            <a:r>
              <a:t>  secondary       CSG</a:t>
            </a:r>
          </a:p>
          <a:p>
            <a:r>
              <a:t>  may state       mkt.volume, mkt.segment_share</a:t>
            </a:r>
          </a:p>
          <a:p>
            <a:r>
              <a:t>  transform       T1-EXTRACT, T11-TRIANGULATE, T12-COMPANY-VS-MARKET, T5-CALCULATE, T7-CONFIDENCE, T8-FACT-VS-VIEW</a:t>
            </a:r>
          </a:p>
          <a:p>
            <a:r>
              <a:t>  source priority R2, R3, R5</a:t>
            </a:r>
          </a:p>
          <a:p>
            <a:r>
              <a:t>  exceptions      E1-NOT-PROVIDED, E3-CONFLICT,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S037_tam_walkdown   (blueprint slide 37 - Market Dynamics &amp; Opportunity)</a:t>
            </a:r>
          </a:p>
          <a:p>
            <a:r>
              <a:t>WORKING TITLE   TAM by Segment &amp; Walkdown to SAM</a:t>
            </a:r>
          </a:p>
          <a:p>
            <a:r>
              <a:t>PURPOSE         Quantify the revenue opportunity and remove the segments the Target cannot serve.</a:t>
            </a:r>
          </a:p>
          <a:p/>
          <a:p>
            <a:r>
              <a:t>WHAT THIS SLIDE MUST CONTAIN</a:t>
            </a:r>
          </a:p>
          <a:p>
            <a:r>
              <a:t>  - Left panel: TAM split by customer size band (100% stacked with channel mix inside each band,</a:t>
            </a:r>
          </a:p>
          <a:p>
            <a:r>
              <a:t>    absolute $ above).</a:t>
            </a:r>
          </a:p>
          <a:p>
            <a:r>
              <a:t>  - Right panel: walkdown waterfall TAM → less-serviceable segments removed → SAM.</a:t>
            </a:r>
          </a:p>
          <a:p>
            <a:r>
              <a:t>  - Explicit statement of the removed segments (top tier that self-serves; micro tier that is</a:t>
            </a:r>
          </a:p>
          <a:p>
            <a:r>
              <a:t>    uneconomic).</a:t>
            </a:r>
          </a:p>
          <a:p>
            <a:r>
              <a:t>  - Draft pages carry a 'Preliminary' tag until the model is locked.</a:t>
            </a:r>
          </a:p>
          <a:p/>
          <a:p>
            <a:r>
              <a:t>SOURCES         Market model; survey; secondary sources.</a:t>
            </a:r>
          </a:p>
          <a:p>
            <a:r>
              <a:t>ANALYSIS        Apply the serviceability filters defined on the definitions page; keep the arithmetic</a:t>
            </a:r>
          </a:p>
          <a:p>
            <a:r>
              <a:t>                visible.</a:t>
            </a:r>
          </a:p>
          <a:p>
            <a:r>
              <a:t>EXHIBIT         Segmented TAM bar + walkdown waterfall.  (form: walkdown)</a:t>
            </a:r>
          </a:p>
          <a:p>
            <a:r>
              <a:t>QUALITY BAR     Walkdown arithmetic sums exactly; removals match the ICP page.</a:t>
            </a:r>
          </a:p>
          <a:p/>
          <a:p>
            <a:r>
              <a:t>DILIGENCEIQ MAPPING</a:t>
            </a:r>
          </a:p>
          <a:p>
            <a:r>
              <a:t>  gate            core</a:t>
            </a:r>
          </a:p>
          <a:p>
            <a:r>
              <a:t>  primary modules MVG, MDF</a:t>
            </a:r>
          </a:p>
          <a:p>
            <a:r>
              <a:t>  fallback        MDF, CSG  (E12-SUBSTITUTION if used)</a:t>
            </a:r>
          </a:p>
          <a:p>
            <a:r>
              <a:t>  secondary       CSG</a:t>
            </a:r>
          </a:p>
          <a:p>
            <a:r>
              <a:t>  may state       mkt.tam, mkt.sam</a:t>
            </a:r>
          </a:p>
          <a:p>
            <a:r>
              <a:t>  transform       T1-EXTRACT, T11-TRIANGULATE, T12-COMPANY-VS-MARKET, T5-CALCULATE, T7-CONFIDENCE, T8-FACT-VS-VIEW</a:t>
            </a:r>
          </a:p>
          <a:p>
            <a:r>
              <a:t>  calculations    C7-CAGR, C8-UNIT-NORMALISE</a:t>
            </a:r>
          </a:p>
          <a:p>
            <a:r>
              <a:t>  source priority R2, R3, R5</a:t>
            </a:r>
          </a:p>
          <a:p>
            <a:r>
              <a:t>  exceptions      E1-NOT-PROVIDED, E3-CONFLICT,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S038_sam_by_endmarket   (blueprint slide 38 - Market Dynamics &amp; Opportunity)</a:t>
            </a:r>
          </a:p>
          <a:p>
            <a:r>
              <a:t>WORKING TITLE   SAM by End-Market &amp; Channel — Served Market</a:t>
            </a:r>
          </a:p>
          <a:p>
            <a:r>
              <a:t>PURPOSE         Locate the competitive battleground: who currently serves the serviceable market.</a:t>
            </a:r>
          </a:p>
          <a:p/>
          <a:p>
            <a:r>
              <a:t>WHAT THIS SLIDE MUST CONTAIN</a:t>
            </a:r>
          </a:p>
          <a:p>
            <a:r>
              <a:t>  - Twin panels: SAM for each channel (independent vs partner-led), split by end-market, ordered by</a:t>
            </a:r>
          </a:p>
          <a:p>
            <a:r>
              <a:t>    size.</a:t>
            </a:r>
          </a:p>
          <a:p>
            <a:r>
              <a:t>  - Served-market shading inside every bar: share via third-party providers vs direct / in-house.</a:t>
            </a:r>
          </a:p>
          <a:p>
            <a:r>
              <a:t>  - Provider-type totals in the legend ($ via third parties vs direct).</a:t>
            </a:r>
          </a:p>
          <a:p>
            <a:r>
              <a:t>  - Sub-line stating the served-market estimate and the displacement logic it implies.</a:t>
            </a:r>
          </a:p>
          <a:p/>
          <a:p>
            <a:r>
              <a:t>SOURCES         Market model; web survey; secondary sources.</a:t>
            </a:r>
          </a:p>
          <a:p>
            <a:r>
              <a:t>ANALYSIS        Estimate current provider mix per end-market; define the near-term contestable pool.</a:t>
            </a:r>
          </a:p>
          <a:p>
            <a:r>
              <a:t>EXHIBIT         Twin stacked-bar panels with served-market shading and totals.  (form: stacked_bar)</a:t>
            </a:r>
          </a:p>
          <a:p>
            <a:r>
              <a:t>QUALITY BAR     The served-market estimate reconciles with competitor share evidence.</a:t>
            </a:r>
          </a:p>
          <a:p/>
          <a:p>
            <a:r>
              <a:t>DILIGENCEIQ MAPPING</a:t>
            </a:r>
          </a:p>
          <a:p>
            <a:r>
              <a:t>  gate            conditional</a:t>
            </a:r>
          </a:p>
          <a:p>
            <a:r>
              <a:t>  primary modules MVG, MSS</a:t>
            </a:r>
          </a:p>
          <a:p>
            <a:r>
              <a:t>  secondary       CSG</a:t>
            </a:r>
          </a:p>
          <a:p>
            <a:r>
              <a:t>  may state       mkt.sam, mkt.som, mkt.segment_share</a:t>
            </a:r>
          </a:p>
          <a:p>
            <a:r>
              <a:t>  transform       T1-EXTRACT, T11-TRIANGULATE, T12-COMPANY-VS-MARKET, T5-CALCULATE, T7-CONFIDENCE, T8-FACT-VS-VIEW</a:t>
            </a:r>
          </a:p>
          <a:p>
            <a:r>
              <a:t>  source priority R2, R3, R5</a:t>
            </a:r>
          </a:p>
          <a:p>
            <a:r>
              <a:t>  exceptions      E1-NOT-PROVIDED, E3-CONFLICT,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S039_value_added_services   (blueprint slide 39 - Market Dynamics &amp; Opportunity)</a:t>
            </a:r>
          </a:p>
          <a:p>
            <a:r>
              <a:t>WORKING TITLE   Value-Added Services Opportunity</a:t>
            </a:r>
          </a:p>
          <a:p>
            <a:r>
              <a:t>PURPOSE         Size the attach opportunity beyond the core service.</a:t>
            </a:r>
          </a:p>
          <a:p/>
          <a:p>
            <a:r>
              <a:t>WHAT THIS SLIDE MUST CONTAIN</a:t>
            </a:r>
          </a:p>
          <a:p>
            <a:r>
              <a:t>  - Left panel: VAS TAM split by customer type, stacked by monetisation mechanism (subscription fee vs</a:t>
            </a:r>
          </a:p>
          <a:p>
            <a:r>
              <a:t>    per-unit uplift), with the pricing assumptions named.</a:t>
            </a:r>
          </a:p>
          <a:p>
            <a:r>
              <a:t>  - Right panel: served vs whitespace split of the VAS market by customer type.</a:t>
            </a:r>
          </a:p>
          <a:p>
            <a:r>
              <a:t>  - Per-customer economics stated in the legend ($ per customer per year; uplift rate).</a:t>
            </a:r>
          </a:p>
          <a:p>
            <a:r>
              <a:t>  - Sub-line: how VAS is monetised and why it is upside to the core opportunity.</a:t>
            </a:r>
          </a:p>
          <a:p/>
          <a:p>
            <a:r>
              <a:t>SOURCES         Market model; price benchmarks; management price sheets.</a:t>
            </a:r>
          </a:p>
          <a:p>
            <a:r>
              <a:t>ANALYSIS        Size the attach opportunity from stated per-customer economics; separate served from</a:t>
            </a:r>
          </a:p>
          <a:p>
            <a:r>
              <a:t>                whitespace.</a:t>
            </a:r>
          </a:p>
          <a:p>
            <a:r>
              <a:t>EXHIBIT         Two stacked-bar panels with assumption footnotes.  (form: banded_table)</a:t>
            </a:r>
          </a:p>
          <a:p>
            <a:r>
              <a:t>QUALITY BAR     Pricing assumptions are benchmarked to real price points — not invented.</a:t>
            </a:r>
          </a:p>
          <a:p/>
          <a:p>
            <a:r>
              <a:t>DILIGENCEIQ MAPPING</a:t>
            </a:r>
          </a:p>
          <a:p>
            <a:r>
              <a:t>  gate            conditional</a:t>
            </a:r>
          </a:p>
          <a:p>
            <a:r>
              <a:t>  primary modules GRO, MPR</a:t>
            </a:r>
          </a:p>
          <a:p>
            <a:r>
              <a:t>  secondary       RVQ</a:t>
            </a:r>
          </a:p>
          <a:p>
            <a:r>
              <a:t>  may state       mkt.price_benchmark</a:t>
            </a:r>
          </a:p>
          <a:p>
            <a:r>
              <a:t>  transform       T1-EXTRACT, T10-NARRATIVE-TO-TABLE, T12-COMPANY-VS-MARKET, T2-COMBINE, T7-CONFIDENCE, T8-FACT-VS-VIEW, T9-DEDUP</a:t>
            </a:r>
          </a:p>
          <a:p>
            <a:r>
              <a:t>  source priority R2, R3, R5</a:t>
            </a:r>
          </a:p>
          <a:p>
            <a:r>
              <a:t>  exceptions      E1-NOT-PROVIDED,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S040_growth_factors_overview   (blueprint slide 40 - Market Dynamics &amp; Opportunity)</a:t>
            </a:r>
          </a:p>
          <a:p>
            <a:r>
              <a:t>WORKING TITLE   Market Growth Factors — Overview</a:t>
            </a:r>
          </a:p>
          <a:p>
            <a:r>
              <a:t>PURPOSE         Name the five forces expanding the market before deep-diving each one.</a:t>
            </a:r>
          </a:p>
          <a:p/>
          <a:p>
            <a:r>
              <a:t>WHAT THIS SLIDE MUST CONTAIN</a:t>
            </a:r>
          </a:p>
          <a:p>
            <a:r>
              <a:t>  - Numbered market factors (~5): underlying demand growth, mix shift to monetizable modes, channel</a:t>
            </a:r>
          </a:p>
          <a:p>
            <a:r>
              <a:t>    adoption, pricing stability, attach-rate growth.</a:t>
            </a:r>
          </a:p>
          <a:p>
            <a:r>
              <a:t>  - Description and implication for each factor in 2–3 sentences.</a:t>
            </a:r>
          </a:p>
          <a:p>
            <a:r>
              <a:t>  - Numbered chips that recur on the following deep-dive pages (one page per factor).</a:t>
            </a:r>
          </a:p>
          <a:p>
            <a:r>
              <a:t>  - Direction / magnitude of each factor noted.</a:t>
            </a:r>
          </a:p>
          <a:p/>
          <a:p>
            <a:r>
              <a:t>SOURCES         Web survey; interviews; secondary research.</a:t>
            </a:r>
          </a:p>
          <a:p>
            <a:r>
              <a:t>ANALYSIS        Identify the forces that genuinely expand or shift the addressable pool.</a:t>
            </a:r>
          </a:p>
          <a:p>
            <a:r>
              <a:t>EXHIBIT         Factor table with numbered chips and implication column.  (form: banded_table)</a:t>
            </a:r>
          </a:p>
          <a:p>
            <a:r>
              <a:t>QUALITY BAR     Every factor listed here has a dedicated evidence page immediately following.</a:t>
            </a:r>
          </a:p>
          <a:p/>
          <a:p>
            <a:r>
              <a:t>DILIGENCEIQ MAPPING</a:t>
            </a:r>
          </a:p>
          <a:p>
            <a:r>
              <a:t>  gate            core</a:t>
            </a:r>
          </a:p>
          <a:p>
            <a:r>
              <a:t>  primary modules DDR, MVG</a:t>
            </a:r>
          </a:p>
          <a:p>
            <a:r>
              <a:t>  fallback        MVG, MRK  (E12-SUBSTITUTION if used)</a:t>
            </a:r>
          </a:p>
          <a:p>
            <a:r>
              <a:t>  secondary       MRK</a:t>
            </a:r>
          </a:p>
          <a:p>
            <a:r>
              <a:t>  may state       mkt.cagr, mkt.demand_driver</a:t>
            </a:r>
          </a:p>
          <a:p>
            <a:r>
              <a:t>  transform       T1-EXTRACT, T10-NARRATIVE-TO-TABLE, T12-COMPANY-VS-MARKET, T2-COMBINE, T7-CONFIDENCE, T8-FACT-VS-VIEW, T9-DEDUP</a:t>
            </a:r>
          </a:p>
          <a:p>
            <a:r>
              <a:t>  source priority R2, R3, R5</a:t>
            </a:r>
          </a:p>
          <a:p>
            <a:r>
              <a:t>  exceptions      E1-NOT-PROVIDED, E3-CONFLICT,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S041_gf1_demand   (blueprint slide 41 - Market Dynamics &amp; Opportunity)</a:t>
            </a:r>
          </a:p>
          <a:p>
            <a:r>
              <a:t>WORKING TITLE   Growth Factor 1 — Underlying Demand Growth</a:t>
            </a:r>
          </a:p>
          <a:p>
            <a:r>
              <a:t>PURPOSE         Evidence that spend in the Target's verticals grows consistently.</a:t>
            </a:r>
          </a:p>
          <a:p/>
          <a:p>
            <a:r>
              <a:t>WHAT THIS SLIDE MUST CONTAIN</a:t>
            </a:r>
          </a:p>
          <a:p>
            <a:r>
              <a:t>  - Target's current mix by vertical (snapshot panel) for context.</a:t>
            </a:r>
          </a:p>
          <a:p>
            <a:r>
              <a:t>  - Long-run (~20-year) revenue index by core vertical with per-vertical CAGRs listed.</a:t>
            </a:r>
          </a:p>
          <a:p>
            <a:r>
              <a:t>  - Recession-window annotation showing growth stayed positive through the downturn.</a:t>
            </a:r>
          </a:p>
          <a:p>
            <a:r>
              <a:t>  - Methodology note naming the statistical proxy used for each vertical.</a:t>
            </a:r>
          </a:p>
          <a:p/>
          <a:p>
            <a:r>
              <a:t>SOURCES         Government statistical series (census, economic data); management data.</a:t>
            </a:r>
          </a:p>
          <a:p>
            <a:r>
              <a:t>ANALYSIS        Build defensible per-vertical growth proxies; compute long-run and recession-period</a:t>
            </a:r>
          </a:p>
          <a:p>
            <a:r>
              <a:t>                CAGRs.</a:t>
            </a:r>
          </a:p>
          <a:p>
            <a:r>
              <a:t>EXHIBIT         Multi-line indexed time series + mix snapshot + CAGR rail.  (form: line_series)</a:t>
            </a:r>
          </a:p>
          <a:p>
            <a:r>
              <a:t>QUALITY BAR     The proxy series behind each vertical is documented in the note.</a:t>
            </a:r>
          </a:p>
          <a:p/>
          <a:p>
            <a:r>
              <a:t>DILIGENCEIQ MAPPING</a:t>
            </a:r>
          </a:p>
          <a:p>
            <a:r>
              <a:t>  gate            conditional</a:t>
            </a:r>
          </a:p>
          <a:p>
            <a:r>
              <a:t>  primary modules DDR</a:t>
            </a:r>
          </a:p>
          <a:p>
            <a:r>
              <a:t>  secondary       MVG</a:t>
            </a:r>
          </a:p>
          <a:p>
            <a:r>
              <a:t>  may state       mkt.demand_driver, mkt.cagr</a:t>
            </a:r>
          </a:p>
          <a:p>
            <a:r>
              <a:t>  transform       T1-EXTRACT, T11-TRIANGULATE, T12-COMPANY-VS-MARKET, T5-CALCULATE, T7-CONFIDENCE, T8-FACT-VS-VIEW</a:t>
            </a:r>
          </a:p>
          <a:p>
            <a:r>
              <a:t>  calculations    C7-CAGR</a:t>
            </a:r>
          </a:p>
          <a:p>
            <a:r>
              <a:t>  source priority R2, R3, R5</a:t>
            </a:r>
          </a:p>
          <a:p>
            <a:r>
              <a:t>  exceptions      E1-NOT-PROVIDED, E3-CONFLICT,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S042_gf2_mix_shift   (blueprint slide 42 - Market Dynamics &amp; Opportunity)</a:t>
            </a:r>
          </a:p>
          <a:p>
            <a:r>
              <a:t>WORKING TITLE   Growth Factor 2 — Mix Shift to Monetizable Modes</a:t>
            </a:r>
          </a:p>
          <a:p>
            <a:r>
              <a:t>PURPOSE         Show behaviour shifting toward the modes the Target monetises.</a:t>
            </a:r>
          </a:p>
          <a:p/>
          <a:p>
            <a:r>
              <a:t>WHAT THIS SLIDE MUST CONTAIN</a:t>
            </a:r>
          </a:p>
          <a:p>
            <a:r>
              <a:t>  - Horizontal 100% stacked bars by year (~8-year series) of end-user behaviour mix, with the</a:t>
            </a:r>
          </a:p>
          <a:p>
            <a:r>
              <a:t>    monetizable modes gaining share.</a:t>
            </a:r>
          </a:p>
          <a:p>
            <a:r>
              <a:t>  - Commentary rail: the structural drivers of the shift, with 1–2 verbatim quotes (e.g., generational</a:t>
            </a:r>
          </a:p>
          <a:p>
            <a:r>
              <a:t>    behaviour, omnichannel expectations).</a:t>
            </a:r>
          </a:p>
          <a:p>
            <a:r>
              <a:t>  - Framing line: the shift expands the monetizable base for providers like the Target.</a:t>
            </a:r>
          </a:p>
          <a:p>
            <a:r>
              <a:t>  - Data-gap footnote where series years are missing.</a:t>
            </a:r>
          </a:p>
          <a:p/>
          <a:p>
            <a:r>
              <a:t>SOURCES         Public statistical series; interviews.</a:t>
            </a:r>
          </a:p>
          <a:p>
            <a:r>
              <a:t>ANALYSIS        Quantify the displacement trend; translate share shift into volume implications.</a:t>
            </a:r>
          </a:p>
          <a:p>
            <a:r>
              <a:t>EXHIBIT         Stacked-bar time series + quote commentary rail.  (form: stacked_bar)</a:t>
            </a:r>
          </a:p>
          <a:p>
            <a:r>
              <a:t>QUALITY BAR     Series source and any data gaps are disclosed in footnotes.</a:t>
            </a:r>
          </a:p>
          <a:p/>
          <a:p>
            <a:r>
              <a:t>DILIGENCEIQ MAPPING</a:t>
            </a:r>
          </a:p>
          <a:p>
            <a:r>
              <a:t>  gate            conditional</a:t>
            </a:r>
          </a:p>
          <a:p>
            <a:r>
              <a:t>  primary modules DDR, CSG</a:t>
            </a:r>
          </a:p>
          <a:p>
            <a:r>
              <a:t>  secondary       MSS, RVQ, MVG</a:t>
            </a:r>
          </a:p>
          <a:p>
            <a:r>
              <a:t>  may state       mkt.segment_share</a:t>
            </a:r>
          </a:p>
          <a:p>
            <a:r>
              <a:t>  transform       T1-EXTRACT, T11-TRIANGULATE, T12-COMPANY-VS-MARKET, T5-CALCULATE, T7-CONFIDENCE, T8-FACT-VS-VIEW</a:t>
            </a:r>
          </a:p>
          <a:p>
            <a:r>
              <a:t>  source priority R2, R3, R5</a:t>
            </a:r>
          </a:p>
          <a:p>
            <a:r>
              <a:t>  exceptions      E1-NOT-PROVIDED,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S043_gf3_channel_adoption   (blueprint slide 43 - Market Dynamics &amp; Opportunity)</a:t>
            </a:r>
          </a:p>
          <a:p>
            <a:r>
              <a:t>WORKING TITLE   Growth Factor 3 — Channel Adoption</a:t>
            </a:r>
          </a:p>
          <a:p>
            <a:r>
              <a:t>PURPOSE         Triangulate preference, current behaviour, and intent for the emerging channel.</a:t>
            </a:r>
          </a:p>
          <a:p/>
          <a:p>
            <a:r>
              <a:t>WHAT THIS SLIDE MUST CONTAIN</a:t>
            </a:r>
          </a:p>
          <a:p>
            <a:r>
              <a:t>  - Panel 1: customer preference for embedded / integrated vs standalone (1–7 scale stacked bar; mean,</a:t>
            </a:r>
          </a:p>
          <a:p>
            <a:r>
              <a:t>    top-2, n).</a:t>
            </a:r>
          </a:p>
          <a:p>
            <a:r>
              <a:t>  - Panel 2: current approach mix among partner organisations (% by approach).</a:t>
            </a:r>
          </a:p>
          <a:p>
            <a:r>
              <a:t>  - Panel 3: non-adopters' likelihood to adopt via a third party (scale stacked bar; mean, n).</a:t>
            </a:r>
          </a:p>
          <a:p>
            <a:r>
              <a:t>  - Commentary rail synthesising the three panels with a supporting quote.</a:t>
            </a:r>
          </a:p>
          <a:p/>
          <a:p>
            <a:r>
              <a:t>SOURCES         Web survey; interviews.</a:t>
            </a:r>
          </a:p>
          <a:p>
            <a:r>
              <a:t>ANALYSIS        Keep stated preference and behavioural intent distinct; report all scales and n's.</a:t>
            </a:r>
          </a:p>
          <a:p>
            <a:r>
              <a:t>EXHIBIT         Three survey stacked-bar panels + commentary rail.  (form: line_series)</a:t>
            </a:r>
          </a:p>
          <a:p>
            <a:r>
              <a:t>QUALITY BAR     Preference vs intent distinction preserved — they are different claims.</a:t>
            </a:r>
          </a:p>
          <a:p/>
          <a:p>
            <a:r>
              <a:t>DILIGENCEIQ MAPPING</a:t>
            </a:r>
          </a:p>
          <a:p>
            <a:r>
              <a:t>  gate            research_gated</a:t>
            </a:r>
          </a:p>
          <a:p>
            <a:r>
              <a:t>  primary modules MSS, DDR</a:t>
            </a:r>
          </a:p>
          <a:p>
            <a:r>
              <a:t>  secondary       BBH, MVG</a:t>
            </a:r>
          </a:p>
          <a:p>
            <a:r>
              <a:t>  may state       mkt.segment_share</a:t>
            </a:r>
          </a:p>
          <a:p>
            <a:r>
              <a:t>  transform       T1-EXTRACT, T11-TRIANGULATE, T12-COMPANY-VS-MARKET, T5-CALCULATE, T7-CONFIDENCE, T8-FACT-VS-VIEW</a:t>
            </a:r>
          </a:p>
          <a:p>
            <a:r>
              <a:t>  calculations    C7-CAGR</a:t>
            </a:r>
          </a:p>
          <a:p>
            <a:r>
              <a:t>  source priority R2, R3, R5</a:t>
            </a:r>
          </a:p>
          <a:p>
            <a:r>
              <a:t>  exceptions      E1-NOT-PROVIDED, E11-NO-PRIMARY,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S044_gf3_channel_stickiness   (blueprint slide 44 - Market Dynamics &amp; Opportunity)</a:t>
            </a:r>
          </a:p>
          <a:p>
            <a:r>
              <a:t>WORKING TITLE   Growth Factor 3 — Stickiness of the Emerging Channel</a:t>
            </a:r>
          </a:p>
          <a:p>
            <a:r>
              <a:t>PURPOSE         Show that once adopted, the emerging channel is harder to leave.</a:t>
            </a:r>
          </a:p>
          <a:p/>
          <a:p>
            <a:r>
              <a:t>WHAT THIS SLIDE MUST CONTAIN</a:t>
            </a:r>
          </a:p>
          <a:p>
            <a:r>
              <a:t>  - Difficulty-to-switch stacked bars: emerging channel vs legacy standalone (1–7 scale; means, top-2,</a:t>
            </a:r>
          </a:p>
          <a:p>
            <a:r>
              <a:t>    n).</a:t>
            </a:r>
          </a:p>
          <a:p>
            <a:r>
              <a:t>  - Commentary: why deep workflow integration raises switching costs, with 2 verbatim quotes on</a:t>
            </a:r>
          </a:p>
          <a:p>
            <a:r>
              <a:t>    mechanism.</a:t>
            </a:r>
          </a:p>
          <a:p>
            <a:r>
              <a:t>  - Implication line: as the Target grows in this channel, retention economics improve.</a:t>
            </a:r>
          </a:p>
          <a:p/>
          <a:p>
            <a:r>
              <a:t>SOURCES         Web survey; interviews.</a:t>
            </a:r>
          </a:p>
          <a:p>
            <a:r>
              <a:t>ANALYSIS        Compare switching friction across channels; tie the gap to a causal mechanism.</a:t>
            </a:r>
          </a:p>
          <a:p>
            <a:r>
              <a:t>EXHIBIT         Paired stacked bars + mechanism commentary with quotes.  (form: nps_bar)</a:t>
            </a:r>
          </a:p>
          <a:p>
            <a:r>
              <a:t>QUALITY BAR     The stickiness claim rests on mechanism plus data — not scores alone.</a:t>
            </a:r>
          </a:p>
          <a:p/>
          <a:p>
            <a:r>
              <a:t>DILIGENCEIQ MAPPING</a:t>
            </a:r>
          </a:p>
          <a:p>
            <a:r>
              <a:t>  gate            research_gated</a:t>
            </a:r>
          </a:p>
          <a:p>
            <a:r>
              <a:t>  primary modules CST, MSS</a:t>
            </a:r>
          </a:p>
          <a:p>
            <a:r>
              <a:t>  secondary       CSA</a:t>
            </a:r>
          </a:p>
          <a:p>
            <a:r>
              <a:t>  may state       cust.retention</a:t>
            </a:r>
          </a:p>
          <a:p>
            <a:r>
              <a:t>  transform       T1-EXTRACT, T11-TRIANGULATE, T12-COMPANY-VS-MARKET, T5-CALCULATE, T8-FACT-VS-VIEW</a:t>
            </a:r>
          </a:p>
          <a:p>
            <a:r>
              <a:t>  calculations    C10-DELTA</a:t>
            </a:r>
          </a:p>
          <a:p>
            <a:r>
              <a:t>  source priority R3, R4,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S045_gf4_pricing_stability   (blueprint slide 45 - Market Dynamics &amp; Opportunity)</a:t>
            </a:r>
          </a:p>
          <a:p>
            <a:r>
              <a:t>WORKING TITLE   Growth Factor 4 — Pricing &amp; Margin Stability</a:t>
            </a:r>
          </a:p>
          <a:p>
            <a:r>
              <a:t>PURPOSE         Decompose pricing to show provider economics hold or improve.</a:t>
            </a:r>
          </a:p>
          <a:p/>
          <a:p>
            <a:r>
              <a:t>WHAT THIS SLIDE MUST CONTAIN</a:t>
            </a:r>
          </a:p>
          <a:p>
            <a:r>
              <a:t>  - Stacked bar decomposing gross pricing into pass-through cost vs provider residual, with typical</a:t>
            </a:r>
          </a:p>
          <a:p>
            <a:r>
              <a:t>    ranges.</a:t>
            </a:r>
          </a:p>
          <a:p>
            <a:r>
              <a:t>  - Expected-trajectory table per layer (overall rate / provider residual / pass-through) with direction</a:t>
            </a:r>
          </a:p>
          <a:p>
            <a:r>
              <a:t>    arrows.</a:t>
            </a:r>
          </a:p>
          <a:p>
            <a:r>
              <a:t>  - Commentary rail: quotes supporting stability or modest growth per layer.</a:t>
            </a:r>
          </a:p>
          <a:p>
            <a:r>
              <a:t>  - Note on the structural reasons providers defend their share (service quality, value-added tools).</a:t>
            </a:r>
          </a:p>
          <a:p/>
          <a:p>
            <a:r>
              <a:t>SOURCES         Interviews; industry benchmarks.</a:t>
            </a:r>
          </a:p>
          <a:p>
            <a:r>
              <a:t>ANALYSIS        Decompose the price stack; assess compression risk layer by layer.</a:t>
            </a:r>
          </a:p>
          <a:p>
            <a:r>
              <a:t>EXHIBIT         Pricing decomposition bar + trajectory table + quote rail.  (form: line_series)</a:t>
            </a:r>
          </a:p>
          <a:p>
            <a:r>
              <a:t>QUALITY BAR     Trajectory claims are sourced to market participants, not extrapolation.</a:t>
            </a:r>
          </a:p>
          <a:p/>
          <a:p>
            <a:r>
              <a:t>DILIGENCEIQ MAPPING</a:t>
            </a:r>
          </a:p>
          <a:p>
            <a:r>
              <a:t>  gate            conditional</a:t>
            </a:r>
          </a:p>
          <a:p>
            <a:r>
              <a:t>  primary modules MPR</a:t>
            </a:r>
          </a:p>
          <a:p>
            <a:r>
              <a:t>  secondary       CSC, RVQ</a:t>
            </a:r>
          </a:p>
          <a:p>
            <a:r>
              <a:t>  may state       mkt.price_benchmark, fin.gross_margin</a:t>
            </a:r>
          </a:p>
          <a:p>
            <a:r>
              <a:t>  transform       T1-EXTRACT, T11-TRIANGULATE, T12-COMPANY-VS-MARKET, T5-CALCULATE, T7-CONFIDENCE, T8-FACT-VS-VIEW</a:t>
            </a:r>
          </a:p>
          <a:p>
            <a:r>
              <a:t>  calculations    C11-MARGIN, C4-MIX, C7-CAGR</a:t>
            </a:r>
          </a:p>
          <a:p>
            <a:r>
              <a:t>  source priority R1, R2, R3, R5</a:t>
            </a:r>
          </a:p>
          <a:p>
            <a:r>
              <a:t>  exceptions      E1-NOT-PROVIDED, E3-CONFLICT, E4-UNIT-MISMATCH, E6-SUITABILITY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S046_sam_growth_build   (blueprint slide 46 - Market Dynamics &amp; Opportunity)</a:t>
            </a:r>
          </a:p>
          <a:p>
            <a:r>
              <a:t>WORKING TITLE   SAM Growth Build (Detailed)</a:t>
            </a:r>
          </a:p>
          <a:p>
            <a:r>
              <a:t>PURPOSE         The full 5-year growth model behind the highlights-page waterfall.</a:t>
            </a:r>
          </a:p>
          <a:p/>
          <a:p>
            <a:r>
              <a:t>WHAT THIS SLIDE MUST CONTAIN</a:t>
            </a:r>
          </a:p>
          <a:p>
            <a:r>
              <a:t>  - Growth waterfall from current SAM to 5-year SAM, one bar per lever, with headline CAGR.</a:t>
            </a:r>
          </a:p>
          <a:p>
            <a:r>
              <a:t>  - Left rail: each lever defined with its ~% share of total growth.</a:t>
            </a:r>
          </a:p>
          <a:p>
            <a:r>
              <a:t>  - Mix-shift-only levers flagged as structural channel change, not incremental growth.</a:t>
            </a:r>
          </a:p>
          <a:p>
            <a:r>
              <a:t>  - End-state definition note: what the terminal-year figure includes; channel CAGRs beneath.</a:t>
            </a:r>
          </a:p>
          <a:p/>
          <a:p>
            <a:r>
              <a:t>SOURCES         Market model; survey; interviews; secondary sources.</a:t>
            </a:r>
          </a:p>
          <a:p>
            <a:r>
              <a:t>ANALYSIS        Quantify each lever's contribution and document its assumptions.</a:t>
            </a:r>
          </a:p>
          <a:p>
            <a:r>
              <a:t>EXHIBIT         Waterfall + lever contribution rail with % chips.  (form: walkup)</a:t>
            </a:r>
          </a:p>
          <a:p>
            <a:r>
              <a:t>QUALITY BAR     Matches the Investment Highlights version to the dollar.</a:t>
            </a:r>
          </a:p>
          <a:p/>
          <a:p>
            <a:r>
              <a:t>DILIGENCEIQ MAPPING</a:t>
            </a:r>
          </a:p>
          <a:p>
            <a:r>
              <a:t>  gate            conditional</a:t>
            </a:r>
          </a:p>
          <a:p>
            <a:r>
              <a:t>  primary modules MVG</a:t>
            </a:r>
          </a:p>
          <a:p>
            <a:r>
              <a:t>  secondary       DDR, MSS</a:t>
            </a:r>
          </a:p>
          <a:p>
            <a:r>
              <a:t>  may state       mkt.sam, mkt.cagr</a:t>
            </a:r>
          </a:p>
          <a:p>
            <a:r>
              <a:t>  transform       T1-EXTRACT, T11-TRIANGULATE, T12-COMPANY-VS-MARKET, T5-CALCULATE, T7-CONFIDENCE, T8-FACT-VS-VIEW</a:t>
            </a:r>
          </a:p>
          <a:p>
            <a:r>
              <a:t>  calculations    C7-CAGR, C8-UNIT-NORMALISE</a:t>
            </a:r>
          </a:p>
          <a:p>
            <a:r>
              <a:t>  source priority R2, R3, R5</a:t>
            </a:r>
          </a:p>
          <a:p>
            <a:r>
              <a:t>  exceptions      E1-NOT-PROVIDED, E3-CONFLICT,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S047_scenario_analysis   (blueprint slide 47 - Market Dynamics &amp; Opportunity)</a:t>
            </a:r>
          </a:p>
          <a:p>
            <a:r>
              <a:t>WORKING TITLE   Scenario Analysis</a:t>
            </a:r>
          </a:p>
          <a:p>
            <a:r>
              <a:t>PURPOSE         Bound the outlook with honest bear / base / bull cases per channel.</a:t>
            </a:r>
          </a:p>
          <a:p/>
          <a:p>
            <a:r>
              <a:t>WHAT THIS SLIDE MUST CONTAIN</a:t>
            </a:r>
          </a:p>
          <a:p>
            <a:r>
              <a:t>  - Twin panels (one per channel): current vs terminal-year SAM under bear / base / bull, with CAGR per</a:t>
            </a:r>
          </a:p>
          <a:p>
            <a:r>
              <a:t>    case.</a:t>
            </a:r>
          </a:p>
          <a:p>
            <a:r>
              <a:t>  - Annotation of what differentiates the cases (the highest-impact assumptions flexed).</a:t>
            </a:r>
          </a:p>
          <a:p>
            <a:r>
              <a:t>  - Note on which channel benefits disproportionately and why.</a:t>
            </a:r>
          </a:p>
          <a:p>
            <a:r>
              <a:t>  - Range framing: both channels grow meaningfully within a narrow band.</a:t>
            </a:r>
          </a:p>
          <a:p/>
          <a:p>
            <a:r>
              <a:t>SOURCES         Market model sensitivity runs.</a:t>
            </a:r>
          </a:p>
          <a:p>
            <a:r>
              <a:t>ANALYSIS        Flex the assumptions that matter most; name them — avoid arbitrary ±% cases.</a:t>
            </a:r>
          </a:p>
          <a:p>
            <a:r>
              <a:t>EXHIBIT         Grouped scenario bars, twin panels by channel.  (form: scenario_table)</a:t>
            </a:r>
          </a:p>
          <a:p>
            <a:r>
              <a:t>QUALITY BAR     Scenario drivers are named on-page; ranges are defensible.</a:t>
            </a:r>
          </a:p>
          <a:p/>
          <a:p>
            <a:r>
              <a:t>DILIGENCEIQ MAPPING</a:t>
            </a:r>
          </a:p>
          <a:p>
            <a:r>
              <a:t>  gate            conditional</a:t>
            </a:r>
          </a:p>
          <a:p>
            <a:r>
              <a:t>  primary modules SNS</a:t>
            </a:r>
          </a:p>
          <a:p>
            <a:r>
              <a:t>  secondary       MVG, FVR, MRK</a:t>
            </a:r>
          </a:p>
          <a:p>
            <a:r>
              <a:t>  may state       val.sensitivity, mkt.cagr</a:t>
            </a:r>
          </a:p>
          <a:p>
            <a:r>
              <a:t>  transform       T1-EXTRACT, T10-NARRATIVE-TO-TABLE, T11-TRIANGULATE, T12-COMPANY-VS-MARKET, T2-COMBINE, T5-CALCULATE, T7-CONFIDENCE, T8-FACT-VS-VIEW, T9-DEDUP</a:t>
            </a:r>
          </a:p>
          <a:p>
            <a:r>
              <a:t>  calculations    C14-SUM, C15-NET, C7-CAGR, C8-UNIT-NORMALISE</a:t>
            </a:r>
          </a:p>
          <a:p>
            <a:r>
              <a:t>  source priority R1, R2, R3, R5</a:t>
            </a:r>
          </a:p>
          <a:p>
            <a:r>
              <a:t>  exceptions      E1-NOT-PROVIDED, E3-CONFLICT, E4-UNIT-MISMATCH, E6-SUITABILITY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S048_downturn_resilience   (blueprint slide 48 - Market Dynamics &amp; Opportunity)</a:t>
            </a:r>
          </a:p>
          <a:p>
            <a:r>
              <a:t>WORKING TITLE   Downturn Resilience (Detailed)</a:t>
            </a:r>
          </a:p>
          <a:p>
            <a:r>
              <a:t>PURPOSE         The full evidence base for the countercyclical claim.</a:t>
            </a:r>
          </a:p>
          <a:p/>
          <a:p>
            <a:r>
              <a:t>WHAT THIS SLIDE MUST CONTAIN</a:t>
            </a:r>
          </a:p>
          <a:p>
            <a:r>
              <a:t>  - Long-run SAM vs GDP-growth series with recession windows and period CAGRs annotated.</a:t>
            </a:r>
          </a:p>
          <a:p>
            <a:r>
              <a:t>  - Mechanism callouts: (1) mission-critical nature of the service; (2) countercyclical pricing dynamics</a:t>
            </a:r>
          </a:p>
          <a:p>
            <a:r>
              <a:t>    — each with a supporting quote.</a:t>
            </a:r>
          </a:p>
          <a:p>
            <a:r>
              <a:t>  - Takeaway banner restating the resilience conclusion.</a:t>
            </a:r>
          </a:p>
          <a:p>
            <a:r>
              <a:t>  - Indexing note: how the historical series was constructed.</a:t>
            </a:r>
          </a:p>
          <a:p/>
          <a:p>
            <a:r>
              <a:t>SOURCES         Historical market estimates; macro data; interviews.</a:t>
            </a:r>
          </a:p>
          <a:p>
            <a:r>
              <a:t>ANALYSIS        Evidence both resilience mechanisms independently; index the series transparently.</a:t>
            </a:r>
          </a:p>
          <a:p>
            <a:r>
              <a:t>EXHIBIT         Annotated dual-axis time series + two mechanism callouts.  (form: line_series)</a:t>
            </a:r>
          </a:p>
          <a:p>
            <a:r>
              <a:t>QUALITY BAR     Each mechanism is supported by a quote or datapoint — not narrative alone.</a:t>
            </a:r>
          </a:p>
          <a:p/>
          <a:p>
            <a:r>
              <a:t>DILIGENCEIQ MAPPING</a:t>
            </a:r>
          </a:p>
          <a:p>
            <a:r>
              <a:t>  gate            conditional</a:t>
            </a:r>
          </a:p>
          <a:p>
            <a:r>
              <a:t>  primary modules MRK, SNS</a:t>
            </a:r>
          </a:p>
          <a:p>
            <a:r>
              <a:t>  secondary       RVQ, DDR, CFL, CSC</a:t>
            </a:r>
          </a:p>
          <a:p>
            <a:r>
              <a:t>  may state       mkt.recession_sensitivity</a:t>
            </a:r>
          </a:p>
          <a:p>
            <a:r>
              <a:t>  transform       T1-EXTRACT, T11-TRIANGULATE, T12-COMPANY-VS-MARKET, T5-CALCULATE, T7-CONFIDENCE, T8-FACT-VS-VIEW</a:t>
            </a:r>
          </a:p>
          <a:p>
            <a:r>
              <a:t>  calculations    C7-CAGR</a:t>
            </a:r>
          </a:p>
          <a:p>
            <a:r>
              <a:t>  source priority R2, R3, R5</a:t>
            </a:r>
          </a:p>
          <a:p>
            <a:r>
              <a:t>  exceptions      E1-NOT-PROVIDED,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S049_risk_assessment   (blueprint slide 49 - Market Dynamics &amp; Opportunity)</a:t>
            </a:r>
          </a:p>
          <a:p>
            <a:r>
              <a:t>WORKING TITLE   Risk Assessment</a:t>
            </a:r>
          </a:p>
          <a:p>
            <a:r>
              <a:t>PURPOSE         Carry every thesis risk to a named severity and a mitigant.</a:t>
            </a:r>
          </a:p>
          <a:p/>
          <a:p>
            <a:r>
              <a:t>WHAT THIS SLIDE MUST CONTAIN</a:t>
            </a:r>
          </a:p>
          <a:p>
            <a:r>
              <a:t>  - Risk rows: disintermediation (customers going direct), macro pressure on the core segment,</a:t>
            </a:r>
          </a:p>
          <a:p>
            <a:r>
              <a:t>    technology substitution, margin compression from price transparency.</a:t>
            </a:r>
          </a:p>
          <a:p>
            <a:r>
              <a:t>  - Severity gauge per risk (low → high) set by evidence.</a:t>
            </a:r>
          </a:p>
          <a:p>
            <a:r>
              <a:t>  - Market assessment column: what the evidence says, with a quote or datapoint per risk.</a:t>
            </a:r>
          </a:p>
          <a:p>
            <a:r>
              <a:t>  - Implication column: the Target's mitigants and residual exposure.</a:t>
            </a:r>
          </a:p>
          <a:p/>
          <a:p>
            <a:r>
              <a:t>SOURCES         Interviews; web survey; secondary research.</a:t>
            </a:r>
          </a:p>
          <a:p>
            <a:r>
              <a:t>ANALYSIS        Rate likelihood and severity from evidence; test each mitigant honestly.</a:t>
            </a:r>
          </a:p>
          <a:p>
            <a:r>
              <a:t>EXHIBIT         Risk table with severity gauges and implication rail.  (form: risk_matrix)</a:t>
            </a:r>
          </a:p>
          <a:p>
            <a:r>
              <a:t>QUALITY BAR     Every risk raised anywhere in the deck is resolved or carried here.</a:t>
            </a:r>
          </a:p>
          <a:p/>
          <a:p>
            <a:r>
              <a:t>DILIGENCEIQ MAPPING</a:t>
            </a:r>
          </a:p>
          <a:p>
            <a:r>
              <a:t>  gate            core</a:t>
            </a:r>
          </a:p>
          <a:p>
            <a:r>
              <a:t>  primary modules MRK, IRK</a:t>
            </a:r>
          </a:p>
          <a:p>
            <a:r>
              <a:t>  fallback        IRK, OPR, SCR, RCO  (E12-SUBSTITUTION if used)</a:t>
            </a:r>
          </a:p>
          <a:p>
            <a:r>
              <a:t>  secondary       OPR, SCR, RCO</a:t>
            </a:r>
          </a:p>
          <a:p>
            <a:r>
              <a:t>  may state       risk.item, risk.regulatory</a:t>
            </a:r>
          </a:p>
          <a:p>
            <a:r>
              <a:t>  transform       T1-EXTRACT, T10-NARRATIVE-TO-TABLE, T12-COMPANY-VS-MARKET, T2-COMBINE, T4-RECLASSIFY, T8-FACT-VS-VIEW, T9-DEDUP</a:t>
            </a:r>
          </a:p>
          <a:p>
            <a:r>
              <a:t>  calculations    C6-RISK-SCORE</a:t>
            </a:r>
          </a:p>
          <a:p>
            <a:r>
              <a:t>  source priority R3, R5</a:t>
            </a:r>
          </a:p>
          <a:p>
            <a:r>
              <a:t>  exceptions      E1-NOT-PROVIDED, E3-CONFLICT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S050_div_decisions   (blueprint slide 50 - Decision-Making Dynamics)</a:t>
            </a:r>
          </a:p>
          <a:p>
            <a:r>
              <a:t>WORKING TITLE   Section Divider — Decision-Making Dynamics</a:t>
            </a:r>
          </a:p>
          <a:p>
            <a:r>
              <a:t>PURPOSE         Re-show the findings divider with this chapter highlighted.</a:t>
            </a:r>
          </a:p>
          <a:p/>
          <a:p>
            <a:r>
              <a:t>WHAT THIS SLIDE MUST CONTAIN</a:t>
            </a:r>
          </a:p>
          <a:p>
            <a:r>
              <a:t>  - Four-chapter list with Decision-Making Dynamics highlighted as current.</a:t>
            </a:r>
          </a:p>
          <a:p>
            <a:r>
              <a:t>  - Standard divider branding.</a:t>
            </a:r>
          </a:p>
          <a:p/>
          <a:p>
            <a:r>
              <a:t>SOURCES         Deck template.</a:t>
            </a:r>
          </a:p>
          <a:p>
            <a:r>
              <a:t>ANALYSIS        None.</a:t>
            </a:r>
          </a:p>
          <a:p>
            <a:r>
              <a:t>EXHIBIT         Branded divider with chapter list, current chapter emphasised.  (form: divider)</a:t>
            </a:r>
          </a:p>
          <a:p>
            <a:r>
              <a:t>QUALITY BAR     Highlight state matches the reader's position in the deck.</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S051_partner_switching_lifecycle   (blueprint slide 51 - Decision-Making Dynamics)</a:t>
            </a:r>
          </a:p>
          <a:p>
            <a:r>
              <a:t>WORKING TITLE   Partner Switching Lifecycle</a:t>
            </a:r>
          </a:p>
          <a:p>
            <a:r>
              <a:t>PURPOSE         Locate the window in a partner's maturity when providers get switched.</a:t>
            </a:r>
          </a:p>
          <a:p/>
          <a:p>
            <a:r>
              <a:t>WHAT THIS SLIDE MUST CONTAIN</a:t>
            </a:r>
          </a:p>
          <a:p>
            <a:r>
              <a:t>  - Maturity curve (adoption vs time) with early-stage priorities (speed, simplicity) vs scaled</a:t>
            </a:r>
          </a:p>
          <a:p>
            <a:r>
              <a:t>    priorities (economics, control) annotated.</a:t>
            </a:r>
          </a:p>
          <a:p>
            <a:r>
              <a:t>  - The switching window highlighted: where most provider reassessment occurs, with the adoption-range</a:t>
            </a:r>
          </a:p>
          <a:p>
            <a:r>
              <a:t>    trigger.</a:t>
            </a:r>
          </a:p>
          <a:p>
            <a:r>
              <a:t>  - Note on the largest tier that eventually goes direct — and why that is rare.</a:t>
            </a:r>
          </a:p>
          <a:p>
            <a:r>
              <a:t>  - Synthesis bar: why these dynamics favour the Target's economics and flexibility.</a:t>
            </a:r>
          </a:p>
          <a:p/>
          <a:p>
            <a:r>
              <a:t>SOURCES         Interviews.</a:t>
            </a:r>
          </a:p>
          <a:p>
            <a:r>
              <a:t>ANALYSIS        Define switching triggers by lifecycle stage; identify where the Target should</a:t>
            </a:r>
          </a:p>
          <a:p>
            <a:r>
              <a:t>                intercept.</a:t>
            </a:r>
          </a:p>
          <a:p>
            <a:r>
              <a:t>EXHIBIT         Annotated lifecycle curve with highlighted switching window.  (form: lifecycle_flow)</a:t>
            </a:r>
          </a:p>
          <a:p>
            <a:r>
              <a:t>QUALITY BAR     The window claim is consistent with the churn-trigger data later in the deck.</a:t>
            </a:r>
          </a:p>
          <a:p/>
          <a:p>
            <a:r>
              <a:t>DILIGENCEIQ MAPPING</a:t>
            </a:r>
          </a:p>
          <a:p>
            <a:r>
              <a:t>  gate            research_gated</a:t>
            </a:r>
          </a:p>
          <a:p>
            <a:r>
              <a:t>  primary modules BBH, SUP</a:t>
            </a:r>
          </a:p>
          <a:p>
            <a:r>
              <a:t>  secondary       CST</a:t>
            </a:r>
          </a:p>
          <a:p>
            <a:r>
              <a:t>  may state       cust.switching_trigger</a:t>
            </a:r>
          </a:p>
          <a:p>
            <a:r>
              <a:t>  transform       T1-EXTRACT, T10-NARRATIVE-TO-TABLE, T12-COMPANY-VS-MARKET, T2-COMBINE, T8-FACT-VS-VIEW, T9-DEDUP</a:t>
            </a:r>
          </a:p>
          <a:p>
            <a:r>
              <a:t>  source priority R3, R4,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S052_switching_drivers   (blueprint slide 52 - Decision-Making Dynamics)</a:t>
            </a:r>
          </a:p>
          <a:p>
            <a:r>
              <a:t>WORKING TITLE   Customer Switching Drivers</a:t>
            </a:r>
          </a:p>
          <a:p>
            <a:r>
              <a:t>PURPOSE         Explain why end customers move, and what they gain when they do.</a:t>
            </a:r>
          </a:p>
          <a:p/>
          <a:p>
            <a:r>
              <a:t>WHAT THIS SLIDE MUST CONTAIN</a:t>
            </a:r>
          </a:p>
          <a:p>
            <a:r>
              <a:t>  - Driver rows (e.g., partner rolls out an integrated solution; customer scales past its current</a:t>
            </a:r>
          </a:p>
          <a:p>
            <a:r>
              <a:t>    provider) with descriptions.</a:t>
            </a:r>
          </a:p>
          <a:p>
            <a:r>
              <a:t>  - Benefit chips per driver: integration depth, experience, economics, support.</a:t>
            </a:r>
          </a:p>
          <a:p>
            <a:r>
              <a:t>  - Overview column detailing each benefit in 1–2 sentences.</a:t>
            </a:r>
          </a:p>
          <a:p>
            <a:r>
              <a:t>  - Implication rail: how the Target captures volume from each driver.</a:t>
            </a:r>
          </a:p>
          <a:p/>
          <a:p>
            <a:r>
              <a:t>SOURCES         Interviews; web survey.</a:t>
            </a:r>
          </a:p>
          <a:p>
            <a:r>
              <a:t>ANALYSIS        Separate push factors (incumbent failure) from pull factors (new-model advantages).</a:t>
            </a:r>
          </a:p>
          <a:p>
            <a:r>
              <a:t>EXHIBIT         Driver → benefits → overview table with implication rail.  (form: banded_table)</a:t>
            </a:r>
          </a:p>
          <a:p>
            <a:r>
              <a:t>QUALITY BAR     Each driver is evidenced by a quote or survey statistic.</a:t>
            </a:r>
          </a:p>
          <a:p/>
          <a:p>
            <a:r>
              <a:t>DILIGENCEIQ MAPPING</a:t>
            </a:r>
          </a:p>
          <a:p>
            <a:r>
              <a:t>  gate            conditional</a:t>
            </a:r>
          </a:p>
          <a:p>
            <a:r>
              <a:t>  primary modules BBH, CST</a:t>
            </a:r>
          </a:p>
          <a:p>
            <a:r>
              <a:t>  secondary       CSA, MPR</a:t>
            </a:r>
          </a:p>
          <a:p>
            <a:r>
              <a:t>  may state       cust.switching_trigger</a:t>
            </a:r>
          </a:p>
          <a:p>
            <a:r>
              <a:t>  transform       T1-EXTRACT, T10-NARRATIVE-TO-TABLE, T12-COMPANY-VS-MARKET, T2-COMBINE, T8-FACT-VS-VIEW, T9-DEDUP</a:t>
            </a:r>
          </a:p>
          <a:p>
            <a:r>
              <a:t>  source priority R3, R4,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S053_decision_tree   (blueprint slide 53 - Decision-Making Dynamics)</a:t>
            </a:r>
          </a:p>
          <a:p>
            <a:r>
              <a:t>WORKING TITLE   Customer Decision Tree</a:t>
            </a:r>
          </a:p>
          <a:p>
            <a:r>
              <a:t>PURPOSE         Map every path a switching customer can take — and where the Target wins.</a:t>
            </a:r>
          </a:p>
          <a:p/>
          <a:p>
            <a:r>
              <a:t>WHAT THIS SLIDE MUST CONTAIN</a:t>
            </a:r>
          </a:p>
          <a:p>
            <a:r>
              <a:t>  - Trigger events on the left feeding yes / no decision nodes.</a:t>
            </a:r>
          </a:p>
          <a:p>
            <a:r>
              <a:t>  - Branches resolving to outcomes: adopt the partner-embedded option, choose a standalone third party</a:t>
            </a:r>
          </a:p>
          <a:p>
            <a:r>
              <a:t>    (which type?), or stay.</a:t>
            </a:r>
          </a:p>
          <a:p>
            <a:r>
              <a:t>  - Markers on every path where the Target is addressable (embedded, standalone, resale).</a:t>
            </a:r>
          </a:p>
          <a:p>
            <a:r>
              <a:t>  - Annotations explaining what drives each branch choice.</a:t>
            </a:r>
          </a:p>
          <a:p/>
          <a:p>
            <a:r>
              <a:t>SOURCES         Interviews.</a:t>
            </a:r>
          </a:p>
          <a:p>
            <a:r>
              <a:t>ANALYSIS        Trace decision paths from real switching stories; locate the Target's entry points on</a:t>
            </a:r>
          </a:p>
          <a:p>
            <a:r>
              <a:t>                each.</a:t>
            </a:r>
          </a:p>
          <a:p>
            <a:r>
              <a:t>EXHIBIT         Left-to-right decision tree with outcome rail and addressability markers.  (form: decision_tree)</a:t>
            </a:r>
          </a:p>
          <a:p>
            <a:r>
              <a:t>QUALITY BAR     Every leaf node states who wins that path and why.</a:t>
            </a:r>
          </a:p>
          <a:p/>
          <a:p>
            <a:r>
              <a:t>DILIGENCEIQ MAPPING</a:t>
            </a:r>
          </a:p>
          <a:p>
            <a:r>
              <a:t>  gate            research_gated</a:t>
            </a:r>
          </a:p>
          <a:p>
            <a:r>
              <a:t>  primary modules BBH</a:t>
            </a:r>
          </a:p>
          <a:p>
            <a:r>
              <a:t>  secondary       CSG</a:t>
            </a:r>
          </a:p>
          <a:p>
            <a:r>
              <a:t>  may state       cust.decision_process</a:t>
            </a:r>
          </a:p>
          <a:p>
            <a:r>
              <a:t>  transform       T1-EXTRACT, T10-NARRATIVE-TO-TABLE, T12-COMPANY-VS-MARKET, T2-COMBINE, T8-FACT-VS-VIEW, T9-DEDUP</a:t>
            </a:r>
          </a:p>
          <a:p>
            <a:r>
              <a:t>  source priority R3, R4,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S054_decision_process   (blueprint slide 54 - Decision-Making Dynamics)</a:t>
            </a:r>
          </a:p>
          <a:p>
            <a:r>
              <a:t>WORKING TITLE   Decision Process &amp; Stakeholders by Segment</a:t>
            </a:r>
          </a:p>
          <a:p>
            <a:r>
              <a:t>PURPOSE         Contrast how small, startup, and sophisticated buyers actually decide.</a:t>
            </a:r>
          </a:p>
          <a:p/>
          <a:p>
            <a:r>
              <a:t>WHAT THIS SLIDE MUST CONTAIN</a:t>
            </a:r>
          </a:p>
          <a:p>
            <a:r>
              <a:t>  - Three columns: small customers · small startup partners · large sophisticated organisations.</a:t>
            </a:r>
          </a:p>
          <a:p>
            <a:r>
              <a:t>  - Decision-making process per column (owner-led and fast → default-brand quick picks → formal multi-</a:t>
            </a:r>
          </a:p>
          <a:p>
            <a:r>
              <a:t>    stakeholder RFP).</a:t>
            </a:r>
          </a:p>
          <a:p>
            <a:r>
              <a:t>  - Decision timeline stats per column with survey n's (e.g., % deciding within 4–12 months).</a:t>
            </a:r>
          </a:p>
          <a:p>
            <a:r>
              <a:t>  - Key decision-makers and influencers mapped per column (owner; C-suite; cross-functional + external</a:t>
            </a:r>
          </a:p>
          <a:p>
            <a:r>
              <a:t>    influencers).</a:t>
            </a:r>
          </a:p>
          <a:p/>
          <a:p>
            <a:r>
              <a:t>SOURCES         Web survey; interviews.</a:t>
            </a:r>
          </a:p>
          <a:p>
            <a:r>
              <a:t>ANALYSIS        Contrast processes across segments; extract the GTM motion each requires.</a:t>
            </a:r>
          </a:p>
          <a:p>
            <a:r>
              <a:t>EXHIBIT         Three-column comparison with stakeholder icon rows and timeline stats.  (form: heat_grid)</a:t>
            </a:r>
          </a:p>
          <a:p>
            <a:r>
              <a:t>QUALITY BAR     Timeline statistics carry their survey n's on-page.</a:t>
            </a:r>
          </a:p>
          <a:p/>
          <a:p>
            <a:r>
              <a:t>DILIGENCEIQ MAPPING</a:t>
            </a:r>
          </a:p>
          <a:p>
            <a:r>
              <a:t>  gate            conditional</a:t>
            </a:r>
          </a:p>
          <a:p>
            <a:r>
              <a:t>  primary modules BBH, CSG</a:t>
            </a:r>
          </a:p>
          <a:p>
            <a:r>
              <a:t>  may state       cust.decision_process</a:t>
            </a:r>
          </a:p>
          <a:p>
            <a:r>
              <a:t>  transform       T1-EXTRACT, T10-NARRATIVE-TO-TABLE, T12-COMPANY-VS-MARKET, T2-COMBINE, T4-RECLASSIFY, T8-FACT-VS-VIEW, T9-DEDUP</a:t>
            </a:r>
          </a:p>
          <a:p>
            <a:r>
              <a:t>  source priority R3, R4,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S055_purchase_criteria   (blueprint slide 55 - Decision-Making Dynamics)</a:t>
            </a:r>
          </a:p>
          <a:p>
            <a:r>
              <a:t>WORKING TITLE   Purchase Criteria by Customer Type &amp; Size</a:t>
            </a:r>
          </a:p>
          <a:p>
            <a:r>
              <a:t>PURPOSE         Rank what buyers weigh — and test the Target against every criterion.</a:t>
            </a:r>
          </a:p>
          <a:p/>
          <a:p>
            <a:r>
              <a:t>WHAT THIS SLIDE MUST CONTAIN</a:t>
            </a:r>
          </a:p>
          <a:p>
            <a:r>
              <a:t>  - Twin indexed bar charts ranking purchase criteria for each customer type [n's shown].</a:t>
            </a:r>
          </a:p>
          <a:p>
            <a:r>
              <a:t>  - Size-index chips per criterion showing how importance shifts from small to large buyers.</a:t>
            </a:r>
          </a:p>
          <a:p>
            <a:r>
              <a:t>  - Commentary column with a supporting quote per major criterion.</a:t>
            </a:r>
          </a:p>
          <a:p>
            <a:r>
              <a:t>  - Target-alignment column: evidence-based fit assessment per criterion.</a:t>
            </a:r>
          </a:p>
          <a:p/>
          <a:p>
            <a:r>
              <a:t>SOURCES         Web survey; interviews.</a:t>
            </a:r>
          </a:p>
          <a:p>
            <a:r>
              <a:t>ANALYSIS        Index criteria importance; validate the Target's fit per criterion with customer</a:t>
            </a:r>
          </a:p>
          <a:p>
            <a:r>
              <a:t>                evidence.</a:t>
            </a:r>
          </a:p>
          <a:p>
            <a:r>
              <a:t>EXHIBIT         Twin indexed bars + criteria table with size chips, quotes, and alignment column.  (form: scorecard)</a:t>
            </a:r>
          </a:p>
          <a:p>
            <a:r>
              <a:t>QUALITY BAR     The alignment column is grounded in customer evidence, not management's view.</a:t>
            </a:r>
          </a:p>
          <a:p/>
          <a:p>
            <a:r>
              <a:t>DILIGENCEIQ MAPPING</a:t>
            </a:r>
          </a:p>
          <a:p>
            <a:r>
              <a:t>  gate            conditional</a:t>
            </a:r>
          </a:p>
          <a:p>
            <a:r>
              <a:t>  primary modules BBH, CSG</a:t>
            </a:r>
          </a:p>
          <a:p>
            <a:r>
              <a:t>  secondary       MPR, CDF</a:t>
            </a:r>
          </a:p>
          <a:p>
            <a:r>
              <a:t>  may state       cust.purchase_criteria</a:t>
            </a:r>
          </a:p>
          <a:p>
            <a:r>
              <a:t>  transform       T1-EXTRACT, T10-NARRATIVE-TO-TABLE, T12-COMPANY-VS-MARKET, T2-COMBINE, T4-RECLASSIFY, T8-FACT-VS-VIEW, T9-DEDUP</a:t>
            </a:r>
          </a:p>
          <a:p>
            <a:r>
              <a:t>  source priority R3, R4,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S056_vertical_needs   (blueprint slide 56 - Decision-Making Dynamics)</a:t>
            </a:r>
          </a:p>
          <a:p>
            <a:r>
              <a:t>WORKING TITLE   Vertical-Specific Functionality Needs</a:t>
            </a:r>
          </a:p>
          <a:p>
            <a:r>
              <a:t>PURPOSE         Show how much vertical depth matters — differently — to each buyer group.</a:t>
            </a:r>
          </a:p>
          <a:p/>
          <a:p>
            <a:r>
              <a:t>WHAT THIS SLIDE MUST CONTAIN</a:t>
            </a:r>
          </a:p>
          <a:p>
            <a:r>
              <a:t>  - Importance stacked bars (1–7 scale) by size band for each customer type, with means and n's.</a:t>
            </a:r>
          </a:p>
          <a:p>
            <a:r>
              <a:t>  - Commentary: one group values vertical features as operational necessity, the other as product</a:t>
            </a:r>
          </a:p>
          <a:p>
            <a:r>
              <a:t>    differentiator.</a:t>
            </a:r>
          </a:p>
          <a:p>
            <a:r>
              <a:t>  - Supporting quotes for each framing.</a:t>
            </a:r>
          </a:p>
          <a:p>
            <a:r>
              <a:t>  - Implication panel: what the Target's vertical toolset earns it in each group.</a:t>
            </a:r>
          </a:p>
          <a:p/>
          <a:p>
            <a:r>
              <a:t>SOURCES         Web survey; interviews.</a:t>
            </a:r>
          </a:p>
          <a:p>
            <a:r>
              <a:t>ANALYSIS        Segment importance scores; interpret the different reasons behind similar scores.</a:t>
            </a:r>
          </a:p>
          <a:p>
            <a:r>
              <a:t>EXHIBIT         Stacked-bar panels by segment + commentary and implication rail.  (form: heat_grid)</a:t>
            </a:r>
          </a:p>
          <a:p>
            <a:r>
              <a:t>QUALITY BAR     Differences are interpreted, not just displayed.</a:t>
            </a:r>
          </a:p>
          <a:p/>
          <a:p>
            <a:r>
              <a:t>DILIGENCEIQ MAPPING</a:t>
            </a:r>
          </a:p>
          <a:p>
            <a:r>
              <a:t>  gate            research_gated</a:t>
            </a:r>
          </a:p>
          <a:p>
            <a:r>
              <a:t>  primary modules CSG, BBH</a:t>
            </a:r>
          </a:p>
          <a:p>
            <a:r>
              <a:t>  secondary       CDF, IPT</a:t>
            </a:r>
          </a:p>
          <a:p>
            <a:r>
              <a:t>  may state       cust.segments</a:t>
            </a:r>
          </a:p>
          <a:p>
            <a:r>
              <a:t>  transform       T1-EXTRACT, T10-NARRATIVE-TO-TABLE, T12-COMPANY-VS-MARKET, T2-COMBINE, T4-RECLASSIFY, T8-FACT-VS-VIEW, T9-DEDUP</a:t>
            </a:r>
          </a:p>
          <a:p>
            <a:r>
              <a:t>  source priority R3, R4,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S057_switching_complexity   (blueprint slide 57 - Decision-Making Dynamics)</a:t>
            </a:r>
          </a:p>
          <a:p>
            <a:r>
              <a:t>WORKING TITLE   Switching Complexity by Segment</a:t>
            </a:r>
          </a:p>
          <a:p>
            <a:r>
              <a:t>PURPOSE         Grade the friction of switching for every sub-segment — and derive the entry strategy.</a:t>
            </a:r>
          </a:p>
          <a:p/>
          <a:p>
            <a:r>
              <a:t>WHAT THIS SLIDE MUST CONTAIN</a:t>
            </a:r>
          </a:p>
          <a:p>
            <a:r>
              <a:t>  - Rows per sub-segment (small / medium / large partners; embedded, large-direct, small-direct</a:t>
            </a:r>
          </a:p>
          <a:p>
            <a:r>
              <a:t>    customers) with low→high difficulty gauges.</a:t>
            </a:r>
          </a:p>
          <a:p>
            <a:r>
              <a:t>  - Overview column explaining what drives friction (infrastructure investment, integration depth,</a:t>
            </a:r>
          </a:p>
          <a:p>
            <a:r>
              <a:t>    contracts).</a:t>
            </a:r>
          </a:p>
          <a:p>
            <a:r>
              <a:t>  - Implication column: where the Target should fully replace vs supplement incumbents.</a:t>
            </a:r>
          </a:p>
          <a:p>
            <a:r>
              <a:t>  - Footnote defining the size boundaries used.</a:t>
            </a:r>
          </a:p>
          <a:p/>
          <a:p>
            <a:r>
              <a:t>SOURCES         Interviews.</a:t>
            </a:r>
          </a:p>
          <a:p>
            <a:r>
              <a:t>ANALYSIS        Map friction to prior infrastructure investment; convert into a replace-vs-supplement</a:t>
            </a:r>
          </a:p>
          <a:p>
            <a:r>
              <a:t>                strategy.</a:t>
            </a:r>
          </a:p>
          <a:p>
            <a:r>
              <a:t>EXHIBIT         Difficulty gauge table with overview and implication columns.  (form: heat_grid)</a:t>
            </a:r>
          </a:p>
          <a:p>
            <a:r>
              <a:t>QUALITY BAR     Entry-strategy implications follow logically from the friction evidence.</a:t>
            </a:r>
          </a:p>
          <a:p/>
          <a:p>
            <a:r>
              <a:t>DILIGENCEIQ MAPPING</a:t>
            </a:r>
          </a:p>
          <a:p>
            <a:r>
              <a:t>  gate            conditional</a:t>
            </a:r>
          </a:p>
          <a:p>
            <a:r>
              <a:t>  primary modules CST, BBH</a:t>
            </a:r>
          </a:p>
          <a:p>
            <a:r>
              <a:t>  secondary       OPR</a:t>
            </a:r>
          </a:p>
          <a:p>
            <a:r>
              <a:t>  may state       cust.switching_trigger</a:t>
            </a:r>
          </a:p>
          <a:p>
            <a:r>
              <a:t>  transform       T1-EXTRACT, T10-NARRATIVE-TO-TABLE, T12-COMPANY-VS-MARKET, T2-COMBINE, T4-RECLASSIFY, T8-FACT-VS-VIEW, T9-DEDUP</a:t>
            </a:r>
          </a:p>
          <a:p>
            <a:r>
              <a:t>  source priority R3, R4,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S058_div_competition   (blueprint slide 58 - Competitive Landscape)</a:t>
            </a:r>
          </a:p>
          <a:p>
            <a:r>
              <a:t>WORKING TITLE   Section Divider — Competitive Landscape</a:t>
            </a:r>
          </a:p>
          <a:p>
            <a:r>
              <a:t>PURPOSE         Re-show the findings divider with this chapter highlighted.</a:t>
            </a:r>
          </a:p>
          <a:p/>
          <a:p>
            <a:r>
              <a:t>WHAT THIS SLIDE MUST CONTAIN</a:t>
            </a:r>
          </a:p>
          <a:p>
            <a:r>
              <a:t>  - Four-chapter list with Competitive Landscape highlighted as current.</a:t>
            </a:r>
          </a:p>
          <a:p>
            <a:r>
              <a:t>  - Standard divider branding.</a:t>
            </a:r>
          </a:p>
          <a:p/>
          <a:p>
            <a:r>
              <a:t>SOURCES         Deck template.</a:t>
            </a:r>
          </a:p>
          <a:p>
            <a:r>
              <a:t>ANALYSIS        None.</a:t>
            </a:r>
          </a:p>
          <a:p>
            <a:r>
              <a:t>EXHIBIT         Branded divider with chapter list, current chapter emphasised.  (form: divider)</a:t>
            </a:r>
          </a:p>
          <a:p>
            <a:r>
              <a:t>QUALITY BAR     Highlight state matches the reader's position in the deck.</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S059_routes_to_market   (blueprint slide 59 - Competitive Landscape)</a:t>
            </a:r>
          </a:p>
          <a:p>
            <a:r>
              <a:t>WORKING TITLE   Routes to Market &amp; Where Competition Happens</a:t>
            </a:r>
          </a:p>
          <a:p>
            <a:r>
              <a:t>PURPOSE         Map how the Target reaches customers, and who it meets in each route.</a:t>
            </a:r>
          </a:p>
          <a:p/>
          <a:p>
            <a:r>
              <a:t>WHAT THIS SLIDE MUST CONTAIN</a:t>
            </a:r>
          </a:p>
          <a:p>
            <a:r>
              <a:t>  - Three-panel schematic: direct to customers / partners; indirectly via intermediaries; servicing</a:t>
            </a:r>
          </a:p>
          <a:p>
            <a:r>
              <a:t>    incumbent-model providers.</a:t>
            </a:r>
          </a:p>
          <a:p>
            <a:r>
              <a:t>  - Actor boxes per panel showing customer tiers reached and the intermediaries involved.</a:t>
            </a:r>
          </a:p>
          <a:p>
            <a:r>
              <a:t>  - Explanatory captions on how each route works and where the Target competes vs supplies.</a:t>
            </a:r>
          </a:p>
          <a:p>
            <a:r>
              <a:t>  - Legend distinguishing core competition, service suppliers, and adjacent suppliers.</a:t>
            </a:r>
          </a:p>
          <a:p/>
          <a:p>
            <a:r>
              <a:t>SOURCES         Interviews; management materials.</a:t>
            </a:r>
          </a:p>
          <a:p>
            <a:r>
              <a:t>ANALYSIS        Clarify where competition actually occurs by route — not just who exists in the market.</a:t>
            </a:r>
          </a:p>
          <a:p>
            <a:r>
              <a:t>EXHIBIT         Route schematic with actor boxes and relationship legend.  (form: lifecycle_flow)</a:t>
            </a:r>
          </a:p>
          <a:p>
            <a:r>
              <a:t>QUALITY BAR     Consistent with the value-chain map in the primer chapter.</a:t>
            </a:r>
          </a:p>
          <a:p/>
          <a:p>
            <a:r>
              <a:t>DILIGENCEIQ MAPPING</a:t>
            </a:r>
          </a:p>
          <a:p>
            <a:r>
              <a:t>  gate            conditional</a:t>
            </a:r>
          </a:p>
          <a:p>
            <a:r>
              <a:t>  primary modules MSS, CID</a:t>
            </a:r>
          </a:p>
          <a:p>
            <a:r>
              <a:t>  secondary       CSG</a:t>
            </a:r>
          </a:p>
          <a:p>
            <a:r>
              <a:t>  may state       comp.set</a:t>
            </a:r>
          </a:p>
          <a:p>
            <a:r>
              <a:t>  transform       T1-EXTRACT, T10-NARRATIVE-TO-TABLE, T12-COMPANY-VS-MARKET, T2-COMBINE, T7-CONFIDENCE, T8-FACT-VS-VIEW,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S060_competitor_archetypes   (blueprint slide 60 - Competitive Landscape)</a:t>
            </a:r>
          </a:p>
          <a:p>
            <a:r>
              <a:t>WORKING TITLE   Competitor Archetype Comparison</a:t>
            </a:r>
          </a:p>
          <a:p>
            <a:r>
              <a:t>PURPOSE         Benchmark the archetypes head-to-head on customers' criteria — with the market's own words.</a:t>
            </a:r>
          </a:p>
          <a:p/>
          <a:p>
            <a:r>
              <a:t>WHAT THIS SLIDE MUST CONTAIN</a:t>
            </a:r>
          </a:p>
          <a:p>
            <a:r>
              <a:t>  - One row per archetype (legacy infrastructure providers, incumbent full-stack model, traditional</a:t>
            </a:r>
          </a:p>
          <a:p>
            <a:r>
              <a:t>    intermediaries, the Target's model) with key players (logos).</a:t>
            </a:r>
          </a:p>
          <a:p>
            <a:r>
              <a:t>  - Key characteristics bullets per archetype (2–3, balanced).</a:t>
            </a:r>
          </a:p>
          <a:p>
            <a:r>
              <a:t>  - Heat ratings across the criteria set: customization, adaptability, support, cost.</a:t>
            </a:r>
          </a:p>
          <a:p>
            <a:r>
              <a:t>  - Market feedback quote per archetype, attributed by role.</a:t>
            </a:r>
          </a:p>
          <a:p/>
          <a:p>
            <a:r>
              <a:t>SOURCES         Interviews; secondary research.</a:t>
            </a:r>
          </a:p>
          <a:p>
            <a:r>
              <a:t>ANALYSIS        Benchmark archetypes on customers' decision criteria; keep ratings evidence-based.</a:t>
            </a:r>
          </a:p>
          <a:p>
            <a:r>
              <a:t>EXHIBIT         Archetype table with logo cells, heat chips, and quote column.  (form: banded_table)</a:t>
            </a:r>
          </a:p>
          <a:p>
            <a:r>
              <a:t>QUALITY BAR     Every rating is triangulated across at least two independent source types.</a:t>
            </a:r>
          </a:p>
          <a:p/>
          <a:p>
            <a:r>
              <a:t>DILIGENCEIQ MAPPING</a:t>
            </a:r>
          </a:p>
          <a:p>
            <a:r>
              <a:t>  gate            core</a:t>
            </a:r>
          </a:p>
          <a:p>
            <a:r>
              <a:t>  primary modules CID</a:t>
            </a:r>
          </a:p>
          <a:p>
            <a:r>
              <a:t>  fallback        CDF, MSS  (E12-SUBSTITUTION if used)</a:t>
            </a:r>
          </a:p>
          <a:p>
            <a:r>
              <a:t>  secondary       CDF, MSS</a:t>
            </a:r>
          </a:p>
          <a:p>
            <a:r>
              <a:t>  may state       comp.set, comp.archetypes</a:t>
            </a:r>
          </a:p>
          <a:p>
            <a:r>
              <a:t>  transform       T1-EXTRACT, T10-NARRATIVE-TO-TABLE, T12-COMPANY-VS-MARKET, T2-COMBINE, T7-CONFIDENCE, T8-FACT-VS-VIEW, T9-DEDUP</a:t>
            </a:r>
          </a:p>
          <a:p>
            <a:r>
              <a:t>  source priority R3, R5</a:t>
            </a:r>
          </a:p>
          <a:p>
            <a:r>
              <a:t>  exceptions      E1-NOT-PROVIDED, E3-CONFLICT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S061_positioning_map   (blueprint slide 61 - Competitive Landscape)</a:t>
            </a:r>
          </a:p>
          <a:p>
            <a:r>
              <a:t>WORKING TITLE   Competitive Positioning Map</a:t>
            </a:r>
          </a:p>
          <a:p>
            <a:r>
              <a:t>PURPOSE         Plot the landscape on the two axes customers actually choose on.</a:t>
            </a:r>
          </a:p>
          <a:p/>
          <a:p>
            <a:r>
              <a:t>WHAT THIS SLIDE MUST CONTAIN</a:t>
            </a:r>
          </a:p>
          <a:p>
            <a:r>
              <a:t>  - 2×2 logo scatter: value-added capability (y) vs vertical specialization (x), all significant players</a:t>
            </a:r>
          </a:p>
          <a:p>
            <a:r>
              <a:t>    plotted.</a:t>
            </a:r>
          </a:p>
          <a:p>
            <a:r>
              <a:t>  - Key takeaways rail: 3–4 landscape conclusions, each with a supporting quote.</a:t>
            </a:r>
          </a:p>
          <a:p>
            <a:r>
              <a:t>  - Note box handling edge cases (large vertical players with in-house models) and why they are the</a:t>
            </a:r>
          </a:p>
          <a:p>
            <a:r>
              <a:t>    exception.</a:t>
            </a:r>
          </a:p>
          <a:p>
            <a:r>
              <a:t>  - Positioning banner: where the Target plays and what that intersection wins.</a:t>
            </a:r>
          </a:p>
          <a:p/>
          <a:p>
            <a:r>
              <a:t>SOURCES         Interviews; secondary research.</a:t>
            </a:r>
          </a:p>
          <a:p>
            <a:r>
              <a:t>ANALYSIS        Choose axes reflecting customers' choice drivers; plot positions from evidence, not</a:t>
            </a:r>
          </a:p>
          <a:p>
            <a:r>
              <a:t>                websites alone.</a:t>
            </a:r>
          </a:p>
          <a:p>
            <a:r>
              <a:t>EXHIBIT         Logo scatter 2×2 + takeaways rail + exception note.  (form: positioning_map)</a:t>
            </a:r>
          </a:p>
          <a:p>
            <a:r>
              <a:t>QUALITY BAR     Axis choice is justified, and the Target's plotted position is defensible from data.</a:t>
            </a:r>
          </a:p>
          <a:p/>
          <a:p>
            <a:r>
              <a:t>DILIGENCEIQ MAPPING</a:t>
            </a:r>
          </a:p>
          <a:p>
            <a:r>
              <a:t>  gate            core</a:t>
            </a:r>
          </a:p>
          <a:p>
            <a:r>
              <a:t>  primary modules CID, CDF</a:t>
            </a:r>
          </a:p>
          <a:p>
            <a:r>
              <a:t>  fallback        CDF, MSS  (E12-SUBSTITUTION if used)</a:t>
            </a:r>
          </a:p>
          <a:p>
            <a:r>
              <a:t>  secondary       MPR, MSS</a:t>
            </a:r>
          </a:p>
          <a:p>
            <a:r>
              <a:t>  may state       comp.positioning, comp.share</a:t>
            </a:r>
          </a:p>
          <a:p>
            <a:r>
              <a:t>  transform       T1-EXTRACT, T11-TRIANGULATE, T12-COMPANY-VS-MARKET, T5-CALCULATE, T7-CONFIDENCE, T8-FACT-VS-VIEW</a:t>
            </a:r>
          </a:p>
          <a:p>
            <a:r>
              <a:t>  calculations    C12-AVERAGE, C9-INDEX</a:t>
            </a:r>
          </a:p>
          <a:p>
            <a:r>
              <a:t>  source priority R3, R5</a:t>
            </a:r>
          </a:p>
          <a:p>
            <a:r>
              <a:t>  exceptions      E1-NOT-PROVIDED, E3-CONFLICT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S062_criteria_vs_archetypes   (blueprint slide 62 - Competitive Landscape)</a:t>
            </a:r>
          </a:p>
          <a:p>
            <a:r>
              <a:t>WORKING TITLE   Criteria Performance vs Key Archetypes</a:t>
            </a:r>
          </a:p>
          <a:p>
            <a:r>
              <a:t>PURPOSE         Score the Target against the two main alternatives on every purchase criterion.</a:t>
            </a:r>
          </a:p>
          <a:p/>
          <a:p>
            <a:r>
              <a:t>WHAT THIS SLIDE MUST CONTAIN</a:t>
            </a:r>
          </a:p>
          <a:p>
            <a:r>
              <a:t>  - Heat matrix: purchase criteria (rows) × incumbent archetype A / archetype B / the Target (columns).</a:t>
            </a:r>
          </a:p>
          <a:p>
            <a:r>
              <a:t>  - Side commentary per archetype: why customers choose it, with quotes.</a:t>
            </a:r>
          </a:p>
          <a:p>
            <a:r>
              <a:t>  - Where gaps open for the Target: flexibility and margin control without the incumbent's overhead,</a:t>
            </a:r>
          </a:p>
          <a:p>
            <a:r>
              <a:t>    with quote support.</a:t>
            </a:r>
          </a:p>
          <a:p/>
          <a:p>
            <a:r>
              <a:t>SOURCES         Interviews; web survey; company materials.</a:t>
            </a:r>
          </a:p>
          <a:p>
            <a:r>
              <a:t>ANALYSIS        Score performance per criterion from customer evidence; identify the winnable rows.</a:t>
            </a:r>
          </a:p>
          <a:p>
            <a:r>
              <a:t>EXHIBIT         Criteria × archetype heat matrix + commentary rail.  (form: scorecard)</a:t>
            </a:r>
          </a:p>
          <a:p>
            <a:r>
              <a:t>QUALITY BAR     The Target's column is customer-evidenced — never self-reported.</a:t>
            </a:r>
          </a:p>
          <a:p/>
          <a:p>
            <a:r>
              <a:t>DILIGENCEIQ MAPPING</a:t>
            </a:r>
          </a:p>
          <a:p>
            <a:r>
              <a:t>  gate            conditional</a:t>
            </a:r>
          </a:p>
          <a:p>
            <a:r>
              <a:t>  primary modules CDF, CID</a:t>
            </a:r>
          </a:p>
          <a:p>
            <a:r>
              <a:t>  secondary       BBH</a:t>
            </a:r>
          </a:p>
          <a:p>
            <a:r>
              <a:t>  may state       comp.differentiation, cust.purchase_criteria</a:t>
            </a:r>
          </a:p>
          <a:p>
            <a:r>
              <a:t>  transform       T1-EXTRACT, T10-NARRATIVE-TO-TABLE, T12-COMPANY-VS-MARKET, T2-COMBINE, T4-RECLASSIFY, T7-CONFIDENCE, T8-FACT-VS-VIEW, T9-DEDUP</a:t>
            </a:r>
          </a:p>
          <a:p>
            <a:r>
              <a:t>  source priority R3, R4, R5</a:t>
            </a:r>
          </a:p>
          <a:p>
            <a:r>
              <a:t>  exceptions      E1-NOT-PROVIDED, E3-CONFLICT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S063_feature_benchmarking   (blueprint slide 63 - Competitive Landscape)</a:t>
            </a:r>
          </a:p>
          <a:p>
            <a:r>
              <a:t>WORKING TITLE   Feature-Module Performance Benchmarking</a:t>
            </a:r>
          </a:p>
          <a:p>
            <a:r>
              <a:t>PURPOSE         Benchmark satisfaction with specific feature modules by provider type.</a:t>
            </a:r>
          </a:p>
          <a:p/>
          <a:p>
            <a:r>
              <a:t>WHAT THIS SLIDE MUST CONTAIN</a:t>
            </a:r>
          </a:p>
          <a:p>
            <a:r>
              <a:t>  - Score tables (1–7 scale) per respondent group: feature modules rated overall and split by provider</a:t>
            </a:r>
          </a:p>
          <a:p>
            <a:r>
              <a:t>    type, with n per table.</a:t>
            </a:r>
          </a:p>
          <a:p>
            <a:r>
              <a:t>  - A combined-respondents table beneath the segment tables.</a:t>
            </a:r>
          </a:p>
          <a:p>
            <a:r>
              <a:t>  - Commentary rail: which modules drive selection, which are vertical-critical, with quotes.</a:t>
            </a:r>
          </a:p>
          <a:p>
            <a:r>
              <a:t>  - Small-sample flags footnoted wherever n is thin.</a:t>
            </a:r>
          </a:p>
          <a:p/>
          <a:p>
            <a:r>
              <a:t>SOURCES         Web survey; interviews.</a:t>
            </a:r>
          </a:p>
          <a:p>
            <a:r>
              <a:t>ANALYSIS        Benchmark module-level performance; find the gaps worth attacking.</a:t>
            </a:r>
          </a:p>
          <a:p>
            <a:r>
              <a:t>EXHIBIT         Stacked score tables by respondent group + commentary rail.  (form: heat_grid)</a:t>
            </a:r>
          </a:p>
          <a:p>
            <a:r>
              <a:t>QUALITY BAR     Every small-n cell is footnoted — no silent thin samples.</a:t>
            </a:r>
          </a:p>
          <a:p/>
          <a:p>
            <a:r>
              <a:t>DILIGENCEIQ MAPPING</a:t>
            </a:r>
          </a:p>
          <a:p>
            <a:r>
              <a:t>  gate            conditional</a:t>
            </a:r>
          </a:p>
          <a:p>
            <a:r>
              <a:t>  primary modules CDF, IPT</a:t>
            </a:r>
          </a:p>
          <a:p>
            <a:r>
              <a:t>  secondary       CID</a:t>
            </a:r>
          </a:p>
          <a:p>
            <a:r>
              <a:t>  may state       ops.tech_stack</a:t>
            </a:r>
          </a:p>
          <a:p>
            <a:r>
              <a:t>  transform       T1-EXTRACT, T10-NARRATIVE-TO-TABLE, T12-COMPANY-VS-MARKET, T2-COMBINE, T4-RECLASSIFY, T8-FACT-VS-VIEW,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S064_price_benchmarking   (blueprint slide 64 - Competitive Landscape)</a:t>
            </a:r>
          </a:p>
          <a:p>
            <a:r>
              <a:t>WORKING TITLE   Price Benchmarking</a:t>
            </a:r>
          </a:p>
          <a:p>
            <a:r>
              <a:t>PURPOSE         Compare effective pricing across providers on a genuinely comparable basis.</a:t>
            </a:r>
          </a:p>
          <a:p/>
          <a:p>
            <a:r>
              <a:t>WHAT THIS SLIDE MUST CONTAIN</a:t>
            </a:r>
          </a:p>
          <a:p>
            <a:r>
              <a:t>  - Grouped bars: median effective pricing for the Target vs industry vs the key incumbent, across</a:t>
            </a:r>
          </a:p>
          <a:p>
            <a:r>
              <a:t>    customer size bands.</a:t>
            </a:r>
          </a:p>
          <a:p>
            <a:r>
              <a:t>  - Methodology note: the standard basis used to blend prices for comparability.</a:t>
            </a:r>
          </a:p>
          <a:p>
            <a:r>
              <a:t>  - Sub-line on the economics story the comparison supports (attractive to both sides of the market).</a:t>
            </a:r>
          </a:p>
          <a:p>
            <a:r>
              <a:t>  - Data-gap caveat: what management data would sharpen the benchmark.</a:t>
            </a:r>
          </a:p>
          <a:p/>
          <a:p>
            <a:r>
              <a:t>SOURCES         Benchmarks; interviews; management data where available.</a:t>
            </a:r>
          </a:p>
          <a:p>
            <a:r>
              <a:t>ANALYSIS        Normalise all prices to one stated basis before comparing; resist mixing bases.</a:t>
            </a:r>
          </a:p>
          <a:p>
            <a:r>
              <a:t>EXHIBIT         Grouped bar chart by size band with methodology footnote.  (form: grouped_bar)</a:t>
            </a:r>
          </a:p>
          <a:p>
            <a:r>
              <a:t>QUALITY BAR     The comparison basis is stated on-page; gross and net are never mixed.</a:t>
            </a:r>
          </a:p>
          <a:p/>
          <a:p>
            <a:r>
              <a:t>DILIGENCEIQ MAPPING</a:t>
            </a:r>
          </a:p>
          <a:p>
            <a:r>
              <a:t>  gate            conditional</a:t>
            </a:r>
          </a:p>
          <a:p>
            <a:r>
              <a:t>  primary modules MPR, CID</a:t>
            </a:r>
          </a:p>
          <a:p>
            <a:r>
              <a:t>  secondary       CDF</a:t>
            </a:r>
          </a:p>
          <a:p>
            <a:r>
              <a:t>  may state       mkt.price_benchmark</a:t>
            </a:r>
          </a:p>
          <a:p>
            <a:r>
              <a:t>  transform       T1-EXTRACT, T11-TRIANGULATE, T12-COMPANY-VS-MARKET, T5-CALCULATE, T7-CONFIDENCE, T8-FACT-VS-VIEW</a:t>
            </a:r>
          </a:p>
          <a:p>
            <a:r>
              <a:t>  calculations    C12-AVERAGE, C9-INDEX</a:t>
            </a:r>
          </a:p>
          <a:p>
            <a:r>
              <a:t>  source priority R2, R3, R5</a:t>
            </a:r>
          </a:p>
          <a:p>
            <a:r>
              <a:t>  exceptions      E1-NOT-PROVIDED,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S065_incumbent_nps   (blueprint slide 65 - Competitive Landscape)</a:t>
            </a:r>
          </a:p>
          <a:p>
            <a:r>
              <a:t>WORKING TITLE   Incumbent NPS by Provider Type</a:t>
            </a:r>
          </a:p>
          <a:p>
            <a:r>
              <a:t>PURPOSE         Measure advocacy for incumbents — and read the switching potential in the gaps.</a:t>
            </a:r>
          </a:p>
          <a:p/>
          <a:p>
            <a:r>
              <a:t>WHAT THIS SLIDE MUST CONTAIN</a:t>
            </a:r>
          </a:p>
          <a:p>
            <a:r>
              <a:t>  - Twin NPS stacked-bar panels (0–10 scale): incumbent model A and incumbent model B, split by customer</a:t>
            </a:r>
          </a:p>
          <a:p>
            <a:r>
              <a:t>    group.</a:t>
            </a:r>
          </a:p>
          <a:p>
            <a:r>
              <a:t>  - Detractor / passive / promoter shares with NPS value and n beneath every bar.</a:t>
            </a:r>
          </a:p>
          <a:p>
            <a:r>
              <a:t>  - Callout annotations on the striking results (e.g., heavy detractor concentrations).</a:t>
            </a:r>
          </a:p>
          <a:p>
            <a:r>
              <a:t>  - Small-sample flags where applicable.</a:t>
            </a:r>
          </a:p>
          <a:p/>
          <a:p>
            <a:r>
              <a:t>SOURCES         Web survey.</a:t>
            </a:r>
          </a:p>
          <a:p>
            <a:r>
              <a:t>ANALYSIS        Compute NPS by provider type and customer group; interpret as openness to alternatives.</a:t>
            </a:r>
          </a:p>
          <a:p>
            <a:r>
              <a:t>EXHIBIT         Twin NPS stacked panels with callouts.  (form: nps_bar)</a:t>
            </a:r>
          </a:p>
          <a:p>
            <a:r>
              <a:t>QUALITY BAR     NPS is not over-read where n is small — flags stay attached to the numbers.</a:t>
            </a:r>
          </a:p>
          <a:p/>
          <a:p>
            <a:r>
              <a:t>DILIGENCEIQ MAPPING</a:t>
            </a:r>
          </a:p>
          <a:p>
            <a:r>
              <a:t>  gate            research_gated</a:t>
            </a:r>
          </a:p>
          <a:p>
            <a:r>
              <a:t>  primary modules CSA</a:t>
            </a:r>
          </a:p>
          <a:p>
            <a:r>
              <a:t>  secondary       CID</a:t>
            </a:r>
          </a:p>
          <a:p>
            <a:r>
              <a:t>  may state       cust.nps</a:t>
            </a:r>
          </a:p>
          <a:p>
            <a:r>
              <a:t>  transform       T1-EXTRACT, T11-TRIANGULATE, T12-COMPANY-VS-MARKET, T5-CALCULATE, T8-FACT-VS-VIEW</a:t>
            </a:r>
          </a:p>
          <a:p>
            <a:r>
              <a:t>  calculations    C10-DELTA</a:t>
            </a:r>
          </a:p>
          <a:p>
            <a:r>
              <a:t>  source priority R3, R4,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S066_competitor_painpoints   (blueprint slide 66 - Competitive Landscape)</a:t>
            </a:r>
          </a:p>
          <a:p>
            <a:r>
              <a:t>WORKING TITLE   Competitor Pain-Point Synthesis</a:t>
            </a:r>
          </a:p>
          <a:p>
            <a:r>
              <a:t>PURPOSE         Cluster the market's complaints into the structural themes the Target attacks.</a:t>
            </a:r>
          </a:p>
          <a:p/>
          <a:p>
            <a:r>
              <a:t>WHAT THIS SLIDE MUST CONTAIN</a:t>
            </a:r>
          </a:p>
          <a:p>
            <a:r>
              <a:t>  - Pain-point rows: support quality, delivery / settlement speed, pricing rigidity, fragmented</a:t>
            </a:r>
          </a:p>
          <a:p>
            <a:r>
              <a:t>    technology, missing differentiated features.</a:t>
            </a:r>
          </a:p>
          <a:p>
            <a:r>
              <a:t>  - Named-competitor evidence flags per row (logo chips) showing who the complaint attaches to.</a:t>
            </a:r>
          </a:p>
          <a:p>
            <a:r>
              <a:t>  - One verbatim quote per row, attributed by role, carrying the specific grievance.</a:t>
            </a:r>
          </a:p>
          <a:p>
            <a:r>
              <a:t>  - Sub-line: recurring pain points open the door for challengers like the Target.</a:t>
            </a:r>
          </a:p>
          <a:p/>
          <a:p>
            <a:r>
              <a:t>SOURCES         Interviews.</a:t>
            </a:r>
          </a:p>
          <a:p>
            <a:r>
              <a:t>ANALYSIS        Cluster complaints into structural themes; attribute to specific competitors carefully.</a:t>
            </a:r>
          </a:p>
          <a:p>
            <a:r>
              <a:t>EXHIBIT         Pain-point table with competitor flags and quote cells.  (form: banded_table)</a:t>
            </a:r>
          </a:p>
          <a:p>
            <a:r>
              <a:t>QUALITY BAR     Quotes are role-attributed and first-hand — hearsay is excluded.</a:t>
            </a:r>
          </a:p>
          <a:p/>
          <a:p>
            <a:r>
              <a:t>DILIGENCEIQ MAPPING</a:t>
            </a:r>
          </a:p>
          <a:p>
            <a:r>
              <a:t>  gate            conditional</a:t>
            </a:r>
          </a:p>
          <a:p>
            <a:r>
              <a:t>  primary modules CID, CDF</a:t>
            </a:r>
          </a:p>
          <a:p>
            <a:r>
              <a:t>  secondary       CSA</a:t>
            </a:r>
          </a:p>
          <a:p>
            <a:r>
              <a:t>  may state       comp.set</a:t>
            </a:r>
          </a:p>
          <a:p>
            <a:r>
              <a:t>  transform       T1-EXTRACT, T10-NARRATIVE-TO-TABLE, T12-COMPANY-VS-MARKET, T2-COMBINE, T7-CONFIDENCE, T8-FACT-VS-VIEW,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S067_full_suite_wtp   (blueprint slide 67 - Competitive Landscape)</a:t>
            </a:r>
          </a:p>
          <a:p>
            <a:r>
              <a:t>WORKING TITLE   Full-Suite Demand &amp; Willingness to Pay</a:t>
            </a:r>
          </a:p>
          <a:p>
            <a:r>
              <a:t>PURPOSE         Pair switching intent with willingness to pay for the integrated model.</a:t>
            </a:r>
          </a:p>
          <a:p/>
          <a:p>
            <a:r>
              <a:t>WHAT THIS SLIDE MUST CONTAIN</a:t>
            </a:r>
          </a:p>
          <a:p>
            <a:r>
              <a:t>  - Likelihood-to-switch stacked bars (1–7) by customer type, with means, top-2 shares, and n.</a:t>
            </a:r>
          </a:p>
          <a:p>
            <a:r>
              <a:t>  - Willingness-to-pay panel: % who would increase / hold / decrease spend for a full-suite provider,</a:t>
            </a:r>
          </a:p>
          <a:p>
            <a:r>
              <a:t>    with average uplift.</a:t>
            </a:r>
          </a:p>
          <a:p>
            <a:r>
              <a:t>  - Commentary rail: what full-suite means to buyers, with supporting quotes.</a:t>
            </a:r>
          </a:p>
          <a:p>
            <a:r>
              <a:t>  - Framing line connecting demand to the Target's positioning.</a:t>
            </a:r>
          </a:p>
          <a:p/>
          <a:p>
            <a:r>
              <a:t>SOURCES         Web survey; interviews.</a:t>
            </a:r>
          </a:p>
          <a:p>
            <a:r>
              <a:t>ANALYSIS        Read intent and willingness to pay together; quantify the monetisation upside honestly.</a:t>
            </a:r>
          </a:p>
          <a:p>
            <a:r>
              <a:t>EXHIBIT         Intent stacked bars + WTP panel + commentary.  (form: grouped_bar)</a:t>
            </a:r>
          </a:p>
          <a:p>
            <a:r>
              <a:t>QUALITY BAR     Upside claims always carry the survey base they rest on.</a:t>
            </a:r>
          </a:p>
          <a:p/>
          <a:p>
            <a:r>
              <a:t>DILIGENCEIQ MAPPING</a:t>
            </a:r>
          </a:p>
          <a:p>
            <a:r>
              <a:t>  gate            research_gated</a:t>
            </a:r>
          </a:p>
          <a:p>
            <a:r>
              <a:t>  primary modules GRO, MPR</a:t>
            </a:r>
          </a:p>
          <a:p>
            <a:r>
              <a:t>  secondary       BBH, CDF</a:t>
            </a:r>
          </a:p>
          <a:p>
            <a:r>
              <a:t>  may state       cust.wtp</a:t>
            </a:r>
          </a:p>
          <a:p>
            <a:r>
              <a:t>  transform       T1-EXTRACT, T11-TRIANGULATE, T12-COMPANY-VS-MARKET, T5-CALCULATE, T8-FACT-VS-VIEW</a:t>
            </a:r>
          </a:p>
          <a:p>
            <a:r>
              <a:t>  calculations    C12-AVERAGE, C9-INDEX</a:t>
            </a:r>
          </a:p>
          <a:p>
            <a:r>
              <a:t>  source priority R3, R4,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S068_churn_triggers   (blueprint slide 68 - Competitive Landscape)</a:t>
            </a:r>
          </a:p>
          <a:p>
            <a:r>
              <a:t>WORKING TITLE   Churn Triggers</a:t>
            </a:r>
          </a:p>
          <a:p>
            <a:r>
              <a:t>PURPOSE         Rank what actually makes customers leave — beyond price.</a:t>
            </a:r>
          </a:p>
          <a:p/>
          <a:p>
            <a:r>
              <a:t>WHAT THIS SLIDE MUST CONTAIN</a:t>
            </a:r>
          </a:p>
          <a:p>
            <a:r>
              <a:t>  - Paired horizontal multi-select bars: churn triggers ranked for each customer type (% selecting, n).</a:t>
            </a:r>
          </a:p>
          <a:p>
            <a:r>
              <a:t>  - Triggers spanning cost, integration quality, support, reliability, outgrowing the solution, vendor</a:t>
            </a:r>
          </a:p>
          <a:p>
            <a:r>
              <a:t>    consolidation.</a:t>
            </a:r>
          </a:p>
          <a:p>
            <a:r>
              <a:t>  - Commentary rail mapping the top triggers to what a winning provider must deliver, with quotes.</a:t>
            </a:r>
          </a:p>
          <a:p>
            <a:r>
              <a:t>  - Note that operational friction rivals price as the leading trigger.</a:t>
            </a:r>
          </a:p>
          <a:p/>
          <a:p>
            <a:r>
              <a:t>SOURCES         Web survey; interviews.</a:t>
            </a:r>
          </a:p>
          <a:p>
            <a:r>
              <a:t>ANALYSIS        Rank triggers per segment; convert into the Target's retention and displacement</a:t>
            </a:r>
          </a:p>
          <a:p>
            <a:r>
              <a:t>                playbook.</a:t>
            </a:r>
          </a:p>
          <a:p>
            <a:r>
              <a:t>EXHIBIT         Paired ranked bars + commentary rail.  (form: banded_table)</a:t>
            </a:r>
          </a:p>
          <a:p>
            <a:r>
              <a:t>QUALITY BAR     Trigger ranking is consistent with the pain-point synthesis page.</a:t>
            </a:r>
          </a:p>
          <a:p/>
          <a:p>
            <a:r>
              <a:t>DILIGENCEIQ MAPPING</a:t>
            </a:r>
          </a:p>
          <a:p>
            <a:r>
              <a:t>  gate            conditional</a:t>
            </a:r>
          </a:p>
          <a:p>
            <a:r>
              <a:t>  primary modules CST, CSA</a:t>
            </a:r>
          </a:p>
          <a:p>
            <a:r>
              <a:t>  secondary       BBH</a:t>
            </a:r>
          </a:p>
          <a:p>
            <a:r>
              <a:t>  may state       cust.churn, cust.switching_trigger</a:t>
            </a:r>
          </a:p>
          <a:p>
            <a:r>
              <a:t>  transform       T1-EXTRACT, T10-NARRATIVE-TO-TABLE, T12-COMPANY-VS-MARKET, T2-COMBINE, T8-FACT-VS-VIEW, T9-DEDUP</a:t>
            </a:r>
          </a:p>
          <a:p>
            <a:r>
              <a:t>  source priority R3, R4, R5</a:t>
            </a:r>
          </a:p>
          <a:p>
            <a:r>
              <a:t>  exceptions      E1-NOT-PROVIDED, E3-CONFLICT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S069_target_strengths   (blueprint slide 69 - Competitive Landscape)</a:t>
            </a:r>
          </a:p>
          <a:p>
            <a:r>
              <a:t>WORKING TITLE   Target Strengths — Customer Evidence</a:t>
            </a:r>
          </a:p>
          <a:p>
            <a:r>
              <a:t>PURPOSE         Document the drivers of satisfaction and loyalty in customers' own words.</a:t>
            </a:r>
          </a:p>
          <a:p/>
          <a:p>
            <a:r>
              <a:t>WHAT THIS SLIDE MUST CONTAIN</a:t>
            </a:r>
          </a:p>
          <a:p>
            <a:r>
              <a:t>  - Driver rows: ease of use, customer service, speed of delivery, competitive rates.</a:t>
            </a:r>
          </a:p>
          <a:p>
            <a:r>
              <a:t>  - Commentary per driver summarising the interview evidence.</a:t>
            </a:r>
          </a:p>
          <a:p>
            <a:r>
              <a:t>  - One to two verbatim quotes per driver, attributed by role.</a:t>
            </a:r>
          </a:p>
          <a:p>
            <a:r>
              <a:t>  - Framed as key drivers of satisfaction and loyalty.</a:t>
            </a:r>
          </a:p>
          <a:p/>
          <a:p>
            <a:r>
              <a:t>SOURCES         Customer interviews.</a:t>
            </a:r>
          </a:p>
          <a:p>
            <a:r>
              <a:t>ANALYSIS        Identify repeatable satisfaction drivers echoed across multiple customers.</a:t>
            </a:r>
          </a:p>
          <a:p>
            <a:r>
              <a:t>EXHIBIT         Driver | commentary | quote table.  (form: quote_wall)</a:t>
            </a:r>
          </a:p>
          <a:p>
            <a:r>
              <a:t>QUALITY BAR     Each strength is echoed by more than one customer.</a:t>
            </a:r>
          </a:p>
          <a:p/>
          <a:p>
            <a:r>
              <a:t>DILIGENCEIQ MAPPING</a:t>
            </a:r>
          </a:p>
          <a:p>
            <a:r>
              <a:t>  gate            research_gated</a:t>
            </a:r>
          </a:p>
          <a:p>
            <a:r>
              <a:t>  primary modules CSA, CDF</a:t>
            </a:r>
          </a:p>
          <a:p>
            <a:r>
              <a:t>  secondary       SWO</a:t>
            </a:r>
          </a:p>
          <a:p>
            <a:r>
              <a:t>  may state       comp.differentiation</a:t>
            </a:r>
          </a:p>
          <a:p>
            <a:r>
              <a:t>  transform       T1-EXTRACT, T12-COMPANY-VS-MARKET, T3-SUMMARISE, T7-CONFIDENCE, T8-FACT-VS-VIEW</a:t>
            </a:r>
          </a:p>
          <a:p>
            <a:r>
              <a:t>  source priority R3,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S070_target_development_areas   (blueprint slide 70 - Competitive Landscape)</a:t>
            </a:r>
          </a:p>
          <a:p>
            <a:r>
              <a:t>WORKING TITLE   Target Development Areas — Customer Evidence</a:t>
            </a:r>
          </a:p>
          <a:p>
            <a:r>
              <a:t>PURPOSE         Report the improvement areas honestly — credibility depends on it.</a:t>
            </a:r>
          </a:p>
          <a:p/>
          <a:p>
            <a:r>
              <a:t>WHAT THIS SLIDE MUST CONTAIN</a:t>
            </a:r>
          </a:p>
          <a:p>
            <a:r>
              <a:t>  - Development-area rows (e.g., issue-resolution support, specific feature polish) with commentary.</a:t>
            </a:r>
          </a:p>
          <a:p>
            <a:r>
              <a:t>  - Verbatim quotes per area carrying the specific criticism, attributed by role.</a:t>
            </a:r>
          </a:p>
          <a:p>
            <a:r>
              <a:t>  - Context on severity and frequency: irritant vs churn risk.</a:t>
            </a:r>
          </a:p>
          <a:p>
            <a:r>
              <a:t>  - Product implication noted where the fix is clear.</a:t>
            </a:r>
          </a:p>
          <a:p/>
          <a:p>
            <a:r>
              <a:t>SOURCES         Customer interviews.</a:t>
            </a:r>
          </a:p>
          <a:p>
            <a:r>
              <a:t>ANALYSIS        Surface fixable gaps; distinguish irritants from genuine churn risks.</a:t>
            </a:r>
          </a:p>
          <a:p>
            <a:r>
              <a:t>EXHIBIT         Development-area table with quote cells.  (form: quote_wall)</a:t>
            </a:r>
          </a:p>
          <a:p>
            <a:r>
              <a:t>QUALITY BAR     Weaknesses are reported unvarnished — a sanitized page destroys report credibility.</a:t>
            </a:r>
          </a:p>
          <a:p/>
          <a:p>
            <a:r>
              <a:t>DILIGENCEIQ MAPPING</a:t>
            </a:r>
          </a:p>
          <a:p>
            <a:r>
              <a:t>  gate            research_gated</a:t>
            </a:r>
          </a:p>
          <a:p>
            <a:r>
              <a:t>  primary modules CSA, SWO</a:t>
            </a:r>
          </a:p>
          <a:p>
            <a:r>
              <a:t>  secondary       IRK, OPR</a:t>
            </a:r>
          </a:p>
          <a:p>
            <a:r>
              <a:t>  transform       T1-EXTRACT, T12-COMPANY-VS-MARKET, T3-SUMMARISE, T8-FACT-VS-VIEW</a:t>
            </a:r>
          </a:p>
          <a:p>
            <a:r>
              <a:t>  source priority R3,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S071_div_growth   (blueprint slide 71 - Growth Opportunities)</a:t>
            </a:r>
          </a:p>
          <a:p>
            <a:r>
              <a:t>WORKING TITLE   Section Divider — Growth Opportunities</a:t>
            </a:r>
          </a:p>
          <a:p>
            <a:r>
              <a:t>PURPOSE         Re-show the findings divider with this chapter highlighted.</a:t>
            </a:r>
          </a:p>
          <a:p/>
          <a:p>
            <a:r>
              <a:t>WHAT THIS SLIDE MUST CONTAIN</a:t>
            </a:r>
          </a:p>
          <a:p>
            <a:r>
              <a:t>  - Four-chapter list with Growth Opportunities highlighted as current.</a:t>
            </a:r>
          </a:p>
          <a:p>
            <a:r>
              <a:t>  - Standard divider branding.</a:t>
            </a:r>
          </a:p>
          <a:p/>
          <a:p>
            <a:r>
              <a:t>SOURCES         Deck template.</a:t>
            </a:r>
          </a:p>
          <a:p>
            <a:r>
              <a:t>ANALYSIS        None.</a:t>
            </a:r>
          </a:p>
          <a:p>
            <a:r>
              <a:t>EXHIBIT         Branded divider with chapter list, current chapter emphasised.  (form: divider)</a:t>
            </a:r>
          </a:p>
          <a:p>
            <a:r>
              <a:t>QUALITY BAR     Highlight state matches the reader's position in the deck.</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S072_growth_levers_overview   (blueprint slide 72 - Growth Opportunities)</a:t>
            </a:r>
          </a:p>
          <a:p>
            <a:r>
              <a:t>WORKING TITLE   Growth Levers — Overview</a:t>
            </a:r>
          </a:p>
          <a:p>
            <a:r>
              <a:t>PURPOSE         Restate the seven-lever agenda that the chapter now proves lever by lever.</a:t>
            </a:r>
          </a:p>
          <a:p/>
          <a:p>
            <a:r>
              <a:t>WHAT THIS SLIDE MUST CONTAIN</a:t>
            </a:r>
          </a:p>
          <a:p>
            <a:r>
              <a:t>  - Opportunity matrix plotting numbered levers by proximity to core vs horizon (core / near adjacency /</a:t>
            </a:r>
          </a:p>
          <a:p>
            <a:r>
              <a:t>    expansion).</a:t>
            </a:r>
          </a:p>
          <a:p>
            <a:r>
              <a:t>  - Lever table: growth area, horizon, and the advisor's perspectives / considerations per lever.</a:t>
            </a:r>
          </a:p>
          <a:p>
            <a:r>
              <a:t>  - Identical structure to the Investment Highlights lever page.</a:t>
            </a:r>
          </a:p>
          <a:p>
            <a:r>
              <a:t>  - Each lever numbered to match its deep-dive pages that follow.</a:t>
            </a:r>
          </a:p>
          <a:p/>
          <a:p>
            <a:r>
              <a:t>SOURCES         Findings sections; management strategy materials.</a:t>
            </a:r>
          </a:p>
          <a:p>
            <a:r>
              <a:t>ANALYSIS        Sequence levers by readiness and proximity; keep perspectives specific and actionable.</a:t>
            </a:r>
          </a:p>
          <a:p>
            <a:r>
              <a:t>EXHIBIT         Opportunity matrix + lever perspective table.  (form: banded_table)</a:t>
            </a:r>
          </a:p>
          <a:p>
            <a:r>
              <a:t>QUALITY BAR     Mirrors the Investment Highlights lever page exactly — no drift.</a:t>
            </a:r>
          </a:p>
          <a:p/>
          <a:p>
            <a:r>
              <a:t>DILIGENCEIQ MAPPING</a:t>
            </a:r>
          </a:p>
          <a:p>
            <a:r>
              <a:t>  gate            core</a:t>
            </a:r>
          </a:p>
          <a:p>
            <a:r>
              <a:t>  primary modules GRO</a:t>
            </a:r>
          </a:p>
          <a:p>
            <a:r>
              <a:t>  fallback        STR, REC, SYN  (E12-SUBSTITUTION if used)</a:t>
            </a:r>
          </a:p>
          <a:p>
            <a:r>
              <a:t>  secondary       STR, SYN</a:t>
            </a:r>
          </a:p>
          <a:p>
            <a:r>
              <a:t>  transform       T1-EXTRACT, T10-NARRATIVE-TO-TABLE, T12-COMPANY-VS-MARKET, T2-COMBINE, T3-SUMMARISE, T6-CONCLUDE, T8-FACT-VS-VIEW,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S073_l1_new_customers   (blueprint slide 73 - Growth Opportunities)</a:t>
            </a:r>
          </a:p>
          <a:p>
            <a:r>
              <a:t>WORKING TITLE   Lever 1 — New Customer Acquisition &amp; Market Liquidity</a:t>
            </a:r>
          </a:p>
          <a:p>
            <a:r>
              <a:t>PURPOSE         Quantify the annually contestable spend the Target can win.</a:t>
            </a:r>
          </a:p>
          <a:p/>
          <a:p>
            <a:r>
              <a:t>WHAT THIS SLIDE MUST CONTAIN</a:t>
            </a:r>
          </a:p>
          <a:p>
            <a:r>
              <a:t>  - Left panel: SAM walkdown recap ($ by size band, removals shown) to anchor the runway.</a:t>
            </a:r>
          </a:p>
          <a:p>
            <a:r>
              <a:t>  - Right panel: likelihood-to-continue distribution from the survey (mean, top-2, n).</a:t>
            </a:r>
          </a:p>
          <a:p>
            <a:r>
              <a:t>  - Callout: estimated % of the ICP market turning over annually and the resulting $ 'jump ball'</a:t>
            </a:r>
          </a:p>
          <a:p>
            <a:r>
              <a:t>    opportunity.</a:t>
            </a:r>
          </a:p>
          <a:p>
            <a:r>
              <a:t>  - Derivation of the jump-ball figure shown or referenced.</a:t>
            </a:r>
          </a:p>
          <a:p/>
          <a:p>
            <a:r>
              <a:t>SOURCES         Market model; web survey.</a:t>
            </a:r>
          </a:p>
          <a:p>
            <a:r>
              <a:t>ANALYSIS        Convert switching rates into annually contestable spend; keep the arithmetic visible.</a:t>
            </a:r>
          </a:p>
          <a:p>
            <a:r>
              <a:t>EXHIBIT         Walkdown bars + likelihood stacked bar + jump-ball callout stat.  (form: walkup)</a:t>
            </a:r>
          </a:p>
          <a:p>
            <a:r>
              <a:t>QUALITY BAR     The jump-ball arithmetic is shown on-page or referenced to the appendix.</a:t>
            </a:r>
          </a:p>
          <a:p/>
          <a:p>
            <a:r>
              <a:t>DILIGENCEIQ MAPPING</a:t>
            </a:r>
          </a:p>
          <a:p>
            <a:r>
              <a:t>  gate            conditional</a:t>
            </a:r>
          </a:p>
          <a:p>
            <a:r>
              <a:t>  primary modules GRO, MSS</a:t>
            </a:r>
          </a:p>
          <a:p>
            <a:r>
              <a:t>  secondary       MVG, CSG</a:t>
            </a:r>
          </a:p>
          <a:p>
            <a:r>
              <a:t>  may state       mkt.som, comp.share</a:t>
            </a:r>
          </a:p>
          <a:p>
            <a:r>
              <a:t>  transform       T1-EXTRACT, T11-TRIANGULATE, T12-COMPANY-VS-MARKET, T5-CALCULATE, T7-CONFIDENCE, T8-FACT-VS-VIEW</a:t>
            </a:r>
          </a:p>
          <a:p>
            <a:r>
              <a:t>  calculations    C7-CAGR, C8-UNIT-NORMALISE</a:t>
            </a:r>
          </a:p>
          <a:p>
            <a:r>
              <a:t>  source priority R2, R3, R5</a:t>
            </a:r>
          </a:p>
          <a:p>
            <a:r>
              <a:t>  exceptions      E1-NOT-PROVIDED, E3-CONFLICT,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S074_l1_right_to_win   (blueprint slide 74 - Growth Opportunities)</a:t>
            </a:r>
          </a:p>
          <a:p>
            <a:r>
              <a:t>WORKING TITLE   Lever 1 — Right to Win the Contestable Pool</a:t>
            </a:r>
          </a:p>
          <a:p>
            <a:r>
              <a:t>PURPOSE         Match the contestable spend to the criteria where the Target outperforms.</a:t>
            </a:r>
          </a:p>
          <a:p/>
          <a:p>
            <a:r>
              <a:t>WHAT THIS SLIDE MUST CONTAIN</a:t>
            </a:r>
          </a:p>
          <a:p>
            <a:r>
              <a:t>  - Left panel: SAM by channel and end-market with served-market shading and provider-mix note.</a:t>
            </a:r>
          </a:p>
          <a:p>
            <a:r>
              <a:t>  - Right panel: performance-by-competitor-type table across purchasing criteria, ordered by increasing</a:t>
            </a:r>
          </a:p>
          <a:p>
            <a:r>
              <a:t>    customer importance, heat-rated.</a:t>
            </a:r>
          </a:p>
          <a:p>
            <a:r>
              <a:t>  - Note on the share of the provider mix held by the most displaceable incumbent type.</a:t>
            </a:r>
          </a:p>
          <a:p>
            <a:r>
              <a:t>  - Sub-line connecting differentiated capabilities to capture of available liquidity.</a:t>
            </a:r>
          </a:p>
          <a:p/>
          <a:p>
            <a:r>
              <a:t>SOURCES         Market model; web survey; interviews.</a:t>
            </a:r>
          </a:p>
          <a:p>
            <a:r>
              <a:t>ANALYSIS        Overlay the Target's comparative strengths onto the contestable pools.</a:t>
            </a:r>
          </a:p>
          <a:p>
            <a:r>
              <a:t>EXHIBIT         Stacked SAM bars + criteria × competitor heat table.  (form: scorecard)</a:t>
            </a:r>
          </a:p>
          <a:p>
            <a:r>
              <a:t>QUALITY BAR     Win-rate logic is consistent with the competitive chapter's evidence.</a:t>
            </a:r>
          </a:p>
          <a:p/>
          <a:p>
            <a:r>
              <a:t>DILIGENCEIQ MAPPING</a:t>
            </a:r>
          </a:p>
          <a:p>
            <a:r>
              <a:t>  gate            conditional</a:t>
            </a:r>
          </a:p>
          <a:p>
            <a:r>
              <a:t>  primary modules MSS, CDF</a:t>
            </a:r>
          </a:p>
          <a:p>
            <a:r>
              <a:t>  secondary       GRO, BBH</a:t>
            </a:r>
          </a:p>
          <a:p>
            <a:r>
              <a:t>  may state       comp.differentiation</a:t>
            </a:r>
          </a:p>
          <a:p>
            <a:r>
              <a:t>  transform       T1-EXTRACT, T10-NARRATIVE-TO-TABLE, T12-COMPANY-VS-MARKET, T2-COMBINE, T4-RECLASSIFY, T7-CONFIDENCE, T8-FACT-VS-VIEW,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S075_l1_channel_expansion   (blueprint slide 75 - Growth Opportunities)</a:t>
            </a:r>
          </a:p>
          <a:p>
            <a:r>
              <a:t>WORKING TITLE   Lever 1 — Go-to-Market Channel Expansion</a:t>
            </a:r>
          </a:p>
          <a:p>
            <a:r>
              <a:t>PURPOSE         Grade each acquisition channel for headroom and economics.</a:t>
            </a:r>
          </a:p>
          <a:p/>
          <a:p>
            <a:r>
              <a:t>WHAT THIS SLIDE MUST CONTAIN</a:t>
            </a:r>
          </a:p>
          <a:p>
            <a:r>
              <a:t>  - Channel rows: direct salesforce, reseller / intermediary partners, institutional referral partners.</a:t>
            </a:r>
          </a:p>
          <a:p>
            <a:r>
              <a:t>  - Estimated share of economics per channel (management-sourced) with the margin trade-off noted.</a:t>
            </a:r>
          </a:p>
          <a:p>
            <a:r>
              <a:t>  - Growth-potential commentary per channel with supporting quotes from market participants.</a:t>
            </a:r>
          </a:p>
          <a:p>
            <a:r>
              <a:t>  - Implication column; the nascent high-headroom channel highlighted as the near-term opportunity.</a:t>
            </a:r>
          </a:p>
          <a:p/>
          <a:p>
            <a:r>
              <a:t>SOURCES         Interviews; management data.</a:t>
            </a:r>
          </a:p>
          <a:p>
            <a:r>
              <a:t>ANALYSIS        Evaluate channel headroom, margin profile, and scalability; prioritise accordingly.</a:t>
            </a:r>
          </a:p>
          <a:p>
            <a:r>
              <a:t>EXHIBIT         Channel table with economics chips, quote cells, and implication rail.  (form: banded_table)</a:t>
            </a:r>
          </a:p>
          <a:p>
            <a:r>
              <a:t>QUALITY BAR     Channel economics are management-sourced or triangulated — not guessed.</a:t>
            </a:r>
          </a:p>
          <a:p/>
          <a:p>
            <a:r>
              <a:t>DILIGENCEIQ MAPPING</a:t>
            </a:r>
          </a:p>
          <a:p>
            <a:r>
              <a:t>  gate            conditional</a:t>
            </a:r>
          </a:p>
          <a:p>
            <a:r>
              <a:t>  primary modules MSS, GRO</a:t>
            </a:r>
          </a:p>
          <a:p>
            <a:r>
              <a:t>  secondary       CSG</a:t>
            </a:r>
          </a:p>
          <a:p>
            <a:r>
              <a:t>  may state       comp.share</a:t>
            </a:r>
          </a:p>
          <a:p>
            <a:r>
              <a:t>  transform       T1-EXTRACT, T10-NARRATIVE-TO-TABLE, T12-COMPANY-VS-MARKET, T2-COMBINE, T7-CONFIDENCE, T8-FACT-VS-VIEW,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S076_l2_partner_whitespace   (blueprint slide 76 - Growth Opportunities)</a:t>
            </a:r>
          </a:p>
          <a:p>
            <a:r>
              <a:t>WORKING TITLE   Lever 2 — Partner Whitespace Mapping</a:t>
            </a:r>
          </a:p>
          <a:p>
            <a:r>
              <a:t>PURPOSE         Locate the unpenetrated partner cells worth the most.</a:t>
            </a:r>
          </a:p>
          <a:p/>
          <a:p>
            <a:r>
              <a:t>WHAT THIS SLIDE MUST CONTAIN</a:t>
            </a:r>
          </a:p>
          <a:p>
            <a:r>
              <a:t>  - Twin 100% stacked panels: whitespace by vertical (count of firms) and by size tier ($ value), each</a:t>
            </a:r>
          </a:p>
          <a:p>
            <a:r>
              <a:t>    split penetrated vs unpenetrated.</a:t>
            </a:r>
          </a:p>
          <a:p>
            <a:r>
              <a:t>  - Totals above every column (firm counts; $ values).</a:t>
            </a:r>
          </a:p>
          <a:p>
            <a:r>
              <a:t>  - Framing bullets: where penetration remains lowest and new-logo potential is highest.</a:t>
            </a:r>
          </a:p>
          <a:p>
            <a:r>
              <a:t>  - Note that most of the $ whitespace concentrates in the largest tier.</a:t>
            </a:r>
          </a:p>
          <a:p/>
          <a:p>
            <a:r>
              <a:t>SOURCES         Web survey; firmographic data.</a:t>
            </a:r>
          </a:p>
          <a:p>
            <a:r>
              <a:t>ANALYSIS        Cross low-penetration cells with high value to rank the whitespace.</a:t>
            </a:r>
          </a:p>
          <a:p>
            <a:r>
              <a:t>EXHIBIT         Twin stacked panels with totals and whitespace shading.  (form: heat_grid)</a:t>
            </a:r>
          </a:p>
          <a:p>
            <a:r>
              <a:t>QUALITY BAR     Whitespace is defined identically in both panels — count and value views reconcile.</a:t>
            </a:r>
          </a:p>
          <a:p/>
          <a:p>
            <a:r>
              <a:t>DILIGENCEIQ MAPPING</a:t>
            </a:r>
          </a:p>
          <a:p>
            <a:r>
              <a:t>  gate            research_gated</a:t>
            </a:r>
          </a:p>
          <a:p>
            <a:r>
              <a:t>  primary modules GRO, SUP</a:t>
            </a:r>
          </a:p>
          <a:p>
            <a:r>
              <a:t>  secondary       MSS</a:t>
            </a:r>
          </a:p>
          <a:p>
            <a:r>
              <a:t>  transform       T1-EXTRACT, T10-NARRATIVE-TO-TABLE, T12-COMPANY-VS-MARKET, T2-COMBINE, T4-RECLASSIFY, T8-FACT-VS-VIEW, T9-DEDUP</a:t>
            </a:r>
          </a:p>
          <a:p>
            <a:r>
              <a:t>  source priority R3,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S077_l2_partner_willingness   (blueprint slide 77 - Growth Opportunities)</a:t>
            </a:r>
          </a:p>
          <a:p>
            <a:r>
              <a:t>WORKING TITLE   Lever 2 — Partner Adoption Willingness</a:t>
            </a:r>
          </a:p>
          <a:p>
            <a:r>
              <a:t>PURPOSE         Show the whitespace is willing, not just present.</a:t>
            </a:r>
          </a:p>
          <a:p/>
          <a:p>
            <a:r>
              <a:t>WHAT THIS SLIDE MUST CONTAIN</a:t>
            </a:r>
          </a:p>
          <a:p>
            <a:r>
              <a:t>  - Panel 1: non-adopters' likelihood-to-adopt distribution (1–7 scale; mean, likely-share, n).</a:t>
            </a:r>
          </a:p>
          <a:p>
            <a:r>
              <a:t>  - Panel 2: adopters' willingness to extend to a full-suite solution (same scale; mean, likely-share,</a:t>
            </a:r>
          </a:p>
          <a:p>
            <a:r>
              <a:t>    n).</a:t>
            </a:r>
          </a:p>
          <a:p>
            <a:r>
              <a:t>  - Commentary rail: adoption barriers are largely perceptual, not technical — with quotes; where the</a:t>
            </a:r>
          </a:p>
          <a:p>
            <a:r>
              <a:t>    Target eases friction (security, compliance, onboarding).</a:t>
            </a:r>
          </a:p>
          <a:p>
            <a:r>
              <a:t>  - Conversion implication stated plainly.</a:t>
            </a:r>
          </a:p>
          <a:p/>
          <a:p>
            <a:r>
              <a:t>SOURCES         Web survey; interviews.</a:t>
            </a:r>
          </a:p>
          <a:p>
            <a:r>
              <a:t>ANALYSIS        Quantify the conversion runway; identify the friction the Target must remove.</a:t>
            </a:r>
          </a:p>
          <a:p>
            <a:r>
              <a:t>EXHIBIT         Paired distribution stacks + commentary rail.  (form: grouped_bar)</a:t>
            </a:r>
          </a:p>
          <a:p>
            <a:r>
              <a:t>QUALITY BAR     The 'likely to adopt' threshold is defined on-page.</a:t>
            </a:r>
          </a:p>
          <a:p/>
          <a:p>
            <a:r>
              <a:t>DILIGENCEIQ MAPPING</a:t>
            </a:r>
          </a:p>
          <a:p>
            <a:r>
              <a:t>  gate            research_gated</a:t>
            </a:r>
          </a:p>
          <a:p>
            <a:r>
              <a:t>  primary modules GRO, SUP</a:t>
            </a:r>
          </a:p>
          <a:p>
            <a:r>
              <a:t>  secondary       BBH</a:t>
            </a:r>
          </a:p>
          <a:p>
            <a:r>
              <a:t>  transform       T1-EXTRACT, T11-TRIANGULATE, T12-COMPANY-VS-MARKET, T5-CALCULATE, T8-FACT-VS-VIEW</a:t>
            </a:r>
          </a:p>
          <a:p>
            <a:r>
              <a:t>  calculations    C12-AVERAGE, C9-INDEX</a:t>
            </a:r>
          </a:p>
          <a:p>
            <a:r>
              <a:t>  source priority R3,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S078_l2_partner_scaling   (blueprint slide 78 - Growth Opportunities)</a:t>
            </a:r>
          </a:p>
          <a:p>
            <a:r>
              <a:t>WORKING TITLE   Lever 2 — Scaling Within Partner Ecosystems</a:t>
            </a:r>
          </a:p>
          <a:p>
            <a:r>
              <a:t>PURPOSE         Show adoption deepening inside existing partners — volume growth without new logos.</a:t>
            </a:r>
          </a:p>
          <a:p/>
          <a:p>
            <a:r>
              <a:t>WHAT THIS SLIDE MUST CONTAIN</a:t>
            </a:r>
          </a:p>
          <a:p>
            <a:r>
              <a:t>  - Trend bars: share of partner-customer volume flowing through the embedded solution — past, present,</a:t>
            </a:r>
          </a:p>
          <a:p>
            <a:r>
              <a:t>    and expected future — with deltas.</a:t>
            </a:r>
          </a:p>
          <a:p>
            <a:r>
              <a:t>  - Commentary: what accelerates end-customer uptake inside a partner base, with quotes (integration</a:t>
            </a:r>
          </a:p>
          <a:p>
            <a:r>
              <a:t>    value, faster delivery, packaged incentives).</a:t>
            </a:r>
          </a:p>
          <a:p>
            <a:r>
              <a:t>  - The Target's role in accelerating adoption stated explicitly.</a:t>
            </a:r>
          </a:p>
          <a:p/>
          <a:p>
            <a:r>
              <a:t>SOURCES         Web survey; interviews.</a:t>
            </a:r>
          </a:p>
          <a:p>
            <a:r>
              <a:t>ANALYSIS        Project embedded adoption within existing partner bases from respondent expectations.</a:t>
            </a:r>
          </a:p>
          <a:p>
            <a:r>
              <a:t>EXHIBIT         Three-bar adoption trend with delta chips + quote commentary.  (form: banded_table)</a:t>
            </a:r>
          </a:p>
          <a:p>
            <a:r>
              <a:t>QUALITY BAR     The forecast bar is labelled as respondent expectation — not an advisor projection.</a:t>
            </a:r>
          </a:p>
          <a:p/>
          <a:p>
            <a:r>
              <a:t>DILIGENCEIQ MAPPING</a:t>
            </a:r>
          </a:p>
          <a:p>
            <a:r>
              <a:t>  gate            research_gated</a:t>
            </a:r>
          </a:p>
          <a:p>
            <a:r>
              <a:t>  primary modules GRO, SUP</a:t>
            </a:r>
          </a:p>
          <a:p>
            <a:r>
              <a:t>  secondary       SCR</a:t>
            </a:r>
          </a:p>
          <a:p>
            <a:r>
              <a:t>  transform       T1-EXTRACT, T10-NARRATIVE-TO-TABLE, T12-COMPANY-VS-MARKET, T2-COMBINE, T8-FACT-VS-VIEW, T9-DEDUP</a:t>
            </a:r>
          </a:p>
          <a:p>
            <a:r>
              <a:t>  source priority R3,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S079_l3_expand_accounts   (blueprint slide 79 - Growth Opportunities)</a:t>
            </a:r>
          </a:p>
          <a:p>
            <a:r>
              <a:t>WORKING TITLE   Lever 3 — Expanding Existing Accounts</a:t>
            </a:r>
          </a:p>
          <a:p>
            <a:r>
              <a:t>PURPOSE         Prove the base itself grows: volume expansion plus service attach.</a:t>
            </a:r>
          </a:p>
          <a:p/>
          <a:p>
            <a:r>
              <a:t>WHAT THIS SLIDE MUST CONTAIN</a:t>
            </a:r>
          </a:p>
          <a:p>
            <a:r>
              <a:t>  - Left panel: average account value trend over the last 3 periods (rising bars).</a:t>
            </a:r>
          </a:p>
          <a:p>
            <a:r>
              <a:t>  - Middle panel: customers' spend trajectory — past 3 years vs next 3 years (increased / unchanged /</a:t>
            </a:r>
          </a:p>
          <a:p>
            <a:r>
              <a:t>    decreased, n).</a:t>
            </a:r>
          </a:p>
          <a:p>
            <a:r>
              <a:t>  - Right rail: the two expansion mechanisms labelled — growing transaction volume and value-added</a:t>
            </a:r>
          </a:p>
          <a:p>
            <a:r>
              <a:t>    service attach — each with a supporting quote.</a:t>
            </a:r>
          </a:p>
          <a:p>
            <a:r>
              <a:t>  - Stickiness evidence quoted to underpin the expansion runway.</a:t>
            </a:r>
          </a:p>
          <a:p/>
          <a:p>
            <a:r>
              <a:t>SOURCES         Management KPIs; web survey; interviews.</a:t>
            </a:r>
          </a:p>
          <a:p>
            <a:r>
              <a:t>ANALYSIS        Decompose account growth into volume vs attach; evidence both.</a:t>
            </a:r>
          </a:p>
          <a:p>
            <a:r>
              <a:t>EXHIBIT         Account-value bars + spend-trajectory panel + mechanism rail.  (form: walkup)</a:t>
            </a:r>
          </a:p>
          <a:p>
            <a:r>
              <a:t>QUALITY BAR     The expansion claim rests on data and quotes together.</a:t>
            </a:r>
          </a:p>
          <a:p/>
          <a:p>
            <a:r>
              <a:t>DILIGENCEIQ MAPPING</a:t>
            </a:r>
          </a:p>
          <a:p>
            <a:r>
              <a:t>  gate            conditional</a:t>
            </a:r>
          </a:p>
          <a:p>
            <a:r>
              <a:t>  primary modules CST, RVQ</a:t>
            </a:r>
          </a:p>
          <a:p>
            <a:r>
              <a:t>  secondary       GRO, MPR, CFL</a:t>
            </a:r>
          </a:p>
          <a:p>
            <a:r>
              <a:t>  may state       fin.recurring_share, cust.retention</a:t>
            </a:r>
          </a:p>
          <a:p>
            <a:r>
              <a:t>  transform       T1-EXTRACT, T11-TRIANGULATE, T12-COMPANY-VS-MARKET, T5-CALCULATE, T8-FACT-VS-VIEW</a:t>
            </a:r>
          </a:p>
          <a:p>
            <a:r>
              <a:t>  calculations    C11-MARGIN, C4-MIX, C7-CAGR, C8-UNIT-NORMALISE</a:t>
            </a:r>
          </a:p>
          <a:p>
            <a:r>
              <a:t>  source priority R1, R3, R4, R5</a:t>
            </a:r>
          </a:p>
          <a:p>
            <a:r>
              <a:t>  exceptions      E1-NOT-PROVIDED, E3-CONFLICT, E6-SUITABILITY</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S080_l4_pricing   (blueprint slide 80 - Growth Opportunities)</a:t>
            </a:r>
          </a:p>
          <a:p>
            <a:r>
              <a:t>WORKING TITLE   Lever 4 — Pricing Optimization</a:t>
            </a:r>
          </a:p>
          <a:p>
            <a:r>
              <a:t>PURPOSE         Show the market will absorb price moves — then name the structures to use.</a:t>
            </a:r>
          </a:p>
          <a:p/>
          <a:p>
            <a:r>
              <a:t>WHAT THIS SLIDE MUST CONTAIN</a:t>
            </a:r>
          </a:p>
          <a:p>
            <a:r>
              <a:t>  - Expected price-change distribution stack (increase / no change / decrease bands with %, mean</a:t>
            </a:r>
          </a:p>
          <a:p>
            <a:r>
              <a:t>    expected change, n).</a:t>
            </a:r>
          </a:p>
          <a:p>
            <a:r>
              <a:t>  - Commentary: share anticipating increases; the pricing structures available (differentiated models,</a:t>
            </a:r>
          </a:p>
          <a:p>
            <a:r>
              <a:t>    value-based, service-backed).</a:t>
            </a:r>
          </a:p>
          <a:p>
            <a:r>
              <a:t>  - Headroom evidence: quotes indicating the Target is competitively priced with room to move.</a:t>
            </a:r>
          </a:p>
          <a:p>
            <a:r>
              <a:t>  - Positioning: optimization framed as opportunity, sequenced after value delivery.</a:t>
            </a:r>
          </a:p>
          <a:p/>
          <a:p>
            <a:r>
              <a:t>SOURCES         Web survey; interviews.</a:t>
            </a:r>
          </a:p>
          <a:p>
            <a:r>
              <a:t>ANALYSIS        Read elasticity signals; match pricing structures to segments and value delivered.</a:t>
            </a:r>
          </a:p>
          <a:p>
            <a:r>
              <a:t>EXHIBIT         Price-expectation stack + commentary rail with quotes.  (form: banded_table)</a:t>
            </a:r>
          </a:p>
          <a:p>
            <a:r>
              <a:t>QUALITY BAR     Pricing recommendations are flagged as opportunities — not committed plans.</a:t>
            </a:r>
          </a:p>
          <a:p/>
          <a:p>
            <a:r>
              <a:t>DILIGENCEIQ MAPPING</a:t>
            </a:r>
          </a:p>
          <a:p>
            <a:r>
              <a:t>  gate            conditional</a:t>
            </a:r>
          </a:p>
          <a:p>
            <a:r>
              <a:t>  primary modules MPR, RVQ</a:t>
            </a:r>
          </a:p>
          <a:p>
            <a:r>
              <a:t>  secondary       CSC, BBH</a:t>
            </a:r>
          </a:p>
          <a:p>
            <a:r>
              <a:t>  may state       mkt.price_benchmark, fin.gross_margin</a:t>
            </a:r>
          </a:p>
          <a:p>
            <a:r>
              <a:t>  transform       T1-EXTRACT, T10-NARRATIVE-TO-TABLE, T12-COMPANY-VS-MARKET, T2-COMBINE, T7-CONFIDENCE, T8-FACT-VS-VIEW, T9-DEDUP</a:t>
            </a:r>
          </a:p>
          <a:p>
            <a:r>
              <a:t>  calculations    C11-MARGIN, C4-MIX</a:t>
            </a:r>
          </a:p>
          <a:p>
            <a:r>
              <a:t>  source priority R1, R2, R3, R5</a:t>
            </a:r>
          </a:p>
          <a:p>
            <a:r>
              <a:t>  exceptions      E1-NOT-PROVIDED, E3-CONFLICT, E4-UNIT-MISMATCH, E6-SUITABILITY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S081_l5_adjacent_segments   (blueprint slide 81 - Growth Opportunities)</a:t>
            </a:r>
          </a:p>
          <a:p>
            <a:r>
              <a:t>WORKING TITLE   Lever 5 — Adjacent Segment Expansion</a:t>
            </a:r>
          </a:p>
          <a:p>
            <a:r>
              <a:t>PURPOSE         Size the adjacencies and show the capabilities that carry over.</a:t>
            </a:r>
          </a:p>
          <a:p/>
          <a:p>
            <a:r>
              <a:t>WHAT THIS SLIDE MUST CONTAIN</a:t>
            </a:r>
          </a:p>
          <a:p>
            <a:r>
              <a:t>  - Walkup waterfall: current SAM + named adjacent verticals ($ increment each) = expanded SAM.</a:t>
            </a:r>
          </a:p>
          <a:p>
            <a:r>
              <a:t>  - Resonance annotations on the waterfall: which existing capabilities transfer to each adjacency.</a:t>
            </a:r>
          </a:p>
          <a:p>
            <a:r>
              <a:t>  - Key-levers rail: numbered actions to unlock the expansion (tailored onboarding, distribution</a:t>
            </a:r>
          </a:p>
          <a:p>
            <a:r>
              <a:t>    partnerships, workflow alignment, bundled services).</a:t>
            </a:r>
          </a:p>
          <a:p>
            <a:r>
              <a:t>  - Vertical composition stacked inside each bar.</a:t>
            </a:r>
          </a:p>
          <a:p/>
          <a:p>
            <a:r>
              <a:t>SOURCES         Market model; interviews.</a:t>
            </a:r>
          </a:p>
          <a:p>
            <a:r>
              <a:t>ANALYSIS        Size adjacencies with the same rigor as the core; test capability transfer honestly.</a:t>
            </a:r>
          </a:p>
          <a:p>
            <a:r>
              <a:t>EXHIBIT         Walkup waterfall with resonance callouts + numbered lever rail.  (form: scorecard)</a:t>
            </a:r>
          </a:p>
          <a:p>
            <a:r>
              <a:t>QUALITY BAR     Adjacency sizing uses the identical methodology as core sizing.</a:t>
            </a:r>
          </a:p>
          <a:p/>
          <a:p>
            <a:r>
              <a:t>DILIGENCEIQ MAPPING</a:t>
            </a:r>
          </a:p>
          <a:p>
            <a:r>
              <a:t>  gate            conditional</a:t>
            </a:r>
          </a:p>
          <a:p>
            <a:r>
              <a:t>  primary modules GRO, MDF</a:t>
            </a:r>
          </a:p>
          <a:p>
            <a:r>
              <a:t>  secondary       CSG, MVG</a:t>
            </a:r>
          </a:p>
          <a:p>
            <a:r>
              <a:t>  may state       mkt.sam</a:t>
            </a:r>
          </a:p>
          <a:p>
            <a:r>
              <a:t>  transform       T1-EXTRACT, T10-NARRATIVE-TO-TABLE, T12-COMPANY-VS-MARKET, T2-COMBINE, T4-RECLASSIFY, T7-CONFIDENCE, T8-FACT-VS-VIEW, T9-DEDUP</a:t>
            </a:r>
          </a:p>
          <a:p>
            <a:r>
              <a:t>  source priority R2, R3, R5</a:t>
            </a:r>
          </a:p>
          <a:p>
            <a:r>
              <a:t>  exceptions      E1-NOT-PROVIDED,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S082_l6_product_expansion   (blueprint slide 82 - Growth Opportunities)</a:t>
            </a:r>
          </a:p>
          <a:p>
            <a:r>
              <a:t>WORKING TITLE   Lever 6 — Product Expansion Requirements</a:t>
            </a:r>
          </a:p>
          <a:p>
            <a:r>
              <a:t>PURPOSE         Specify what must be built to win each expansion vertical.</a:t>
            </a:r>
          </a:p>
          <a:p/>
          <a:p>
            <a:r>
              <a:t>WHAT THIS SLIDE MUST CONTAIN</a:t>
            </a:r>
          </a:p>
          <a:p>
            <a:r>
              <a:t>  - Rows per target vertical (the named adjacencies).</a:t>
            </a:r>
          </a:p>
          <a:p>
            <a:r>
              <a:t>  - Column 1: vertical-specific integration / API requirements, 2–3 per vertical with use cases.</a:t>
            </a:r>
          </a:p>
          <a:p>
            <a:r>
              <a:t>  - Column 2: vertical-specific value-added service chips (6–9 per vertical).</a:t>
            </a:r>
          </a:p>
          <a:p>
            <a:r>
              <a:t>  - Requirements sourced from operators in each vertical; build-vs-buy noted where relevant.</a:t>
            </a:r>
          </a:p>
          <a:p/>
          <a:p>
            <a:r>
              <a:t>SOURCES         Interviews with vertical operators; product benchmarking.</a:t>
            </a:r>
          </a:p>
          <a:p>
            <a:r>
              <a:t>ANALYSIS        Map required capabilities per vertical against the current stack; gap-list the build.</a:t>
            </a:r>
          </a:p>
          <a:p>
            <a:r>
              <a:t>EXHIBIT         Vertical × capability requirement grid with service chips.  (form: banded_table)</a:t>
            </a:r>
          </a:p>
          <a:p>
            <a:r>
              <a:t>QUALITY BAR     Requirements come from vertical operators — not internal assumption.</a:t>
            </a:r>
          </a:p>
          <a:p/>
          <a:p>
            <a:r>
              <a:t>DILIGENCEIQ MAPPING</a:t>
            </a:r>
          </a:p>
          <a:p>
            <a:r>
              <a:t>  gate            conditional</a:t>
            </a:r>
          </a:p>
          <a:p>
            <a:r>
              <a:t>  primary modules IPT, GRO</a:t>
            </a:r>
          </a:p>
          <a:p>
            <a:r>
              <a:t>  secondary       STR, CDF</a:t>
            </a:r>
          </a:p>
          <a:p>
            <a:r>
              <a:t>  may state       ops.tech_stack</a:t>
            </a:r>
          </a:p>
          <a:p>
            <a:r>
              <a:t>  transform       T1-EXTRACT, T10-NARRATIVE-TO-TABLE, T12-COMPANY-VS-MARKET, T2-COMBINE, T8-FACT-VS-VIEW,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S083_l7_ma   (blueprint slide 83 - Growth Opportunities)</a:t>
            </a:r>
          </a:p>
          <a:p>
            <a:r>
              <a:t>WORKING TITLE   Lever 7 — Strategic M&amp;A</a:t>
            </a:r>
          </a:p>
          <a:p>
            <a:r>
              <a:t>PURPOSE         Use the acquisition track record to underwrite the forward M&amp;A thesis.</a:t>
            </a:r>
          </a:p>
          <a:p/>
          <a:p>
            <a:r>
              <a:t>WHAT THIS SLIDE MUST CONTAIN</a:t>
            </a:r>
          </a:p>
          <a:p>
            <a:r>
              <a:t>  - Track-record table: numbered past acquisitions with dates and one-line rationale each.</a:t>
            </a:r>
          </a:p>
          <a:p>
            <a:r>
              <a:t>  - Forward thesis panels grouped by objective: distribution expansion · technology / product</a:t>
            </a:r>
          </a:p>
          <a:p>
            <a:r>
              <a:t>    enhancement · vertical market entry.</a:t>
            </a:r>
          </a:p>
          <a:p>
            <a:r>
              <a:t>  - Sample acquisition criteria per objective (target profiles, characteristics).</a:t>
            </a:r>
          </a:p>
          <a:p>
            <a:r>
              <a:t>  - Integration-capability note: playbook and tools that de-risk execution.</a:t>
            </a:r>
          </a:p>
          <a:p/>
          <a:p>
            <a:r>
              <a:t>SOURCES         Management information; interviews.</a:t>
            </a:r>
          </a:p>
          <a:p>
            <a:r>
              <a:t>ANALYSIS        Derive repeatable acquisition criteria from what past integrations actually delivered.</a:t>
            </a:r>
          </a:p>
          <a:p>
            <a:r>
              <a:t>EXHIBIT         Track-record table + three objective panels with criteria.  (form: banded_table)</a:t>
            </a:r>
          </a:p>
          <a:p>
            <a:r>
              <a:t>QUALITY BAR     Forward criteria are consistent with demonstrated integration capacity.</a:t>
            </a:r>
          </a:p>
          <a:p/>
          <a:p>
            <a:r>
              <a:t>DILIGENCEIQ MAPPING</a:t>
            </a:r>
          </a:p>
          <a:p>
            <a:r>
              <a:t>  gate            conditional</a:t>
            </a:r>
          </a:p>
          <a:p>
            <a:r>
              <a:t>  primary modules SYN, STR</a:t>
            </a:r>
          </a:p>
          <a:p>
            <a:r>
              <a:t>  secondary       GRO, FVR, VAL</a:t>
            </a:r>
          </a:p>
          <a:p>
            <a:r>
              <a:t>  may state       val.synergy, val.multiple</a:t>
            </a:r>
          </a:p>
          <a:p>
            <a:r>
              <a:t>  transform       T1-EXTRACT, T10-NARRATIVE-TO-TABLE, T12-COMPANY-VS-MARKET, T2-COMBINE, T8-FACT-VS-VIEW, T9-DEDUP</a:t>
            </a:r>
          </a:p>
          <a:p>
            <a:r>
              <a:t>  calculations    C14-SUM, C15-NET</a:t>
            </a:r>
          </a:p>
          <a:p>
            <a:r>
              <a:t>  source priority R1, R3, R5</a:t>
            </a:r>
          </a:p>
          <a:p>
            <a:r>
              <a:t>  exceptions      E1-NOT-PROVIDED, E3-CONFLICT, E6-SUITABILITY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S084_div_appx_partners   (blueprint slide 84 - Appendix A - Partner &amp; Vendor Landscape)</a:t>
            </a:r>
          </a:p>
          <a:p>
            <a:r>
              <a:t>WORKING TITLE   Section Divider — Appendices</a:t>
            </a:r>
          </a:p>
          <a:p>
            <a:r>
              <a:t>PURPOSE         Open the appendix and list its lettered parts.</a:t>
            </a:r>
          </a:p>
          <a:p/>
          <a:p>
            <a:r>
              <a:t>WHAT THIS SLIDE MUST CONTAIN</a:t>
            </a:r>
          </a:p>
          <a:p>
            <a:r>
              <a:t>  - Appendix list: A — Landscape · B — Market Sizing Methodology · C — Case Studies · D — Supplementary</a:t>
            </a:r>
          </a:p>
          <a:p>
            <a:r>
              <a:t>    Data.</a:t>
            </a:r>
          </a:p>
          <a:p>
            <a:r>
              <a:t>  - Standard divider branding; re-shown before each part with the current part highlighted.</a:t>
            </a:r>
          </a:p>
          <a:p/>
          <a:p>
            <a:r>
              <a:t>SOURCES         Deck template.</a:t>
            </a:r>
          </a:p>
          <a:p>
            <a:r>
              <a:t>ANALYSIS        None.</a:t>
            </a:r>
          </a:p>
          <a:p>
            <a:r>
              <a:t>EXHIBIT         Branded divider with lettered appendix list.  (form: divider)</a:t>
            </a:r>
          </a:p>
          <a:p>
            <a:r>
              <a:t>QUALITY BAR     Appendix letters and titles match the contents page.</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S085_landscape_by_category   (blueprint slide 85 - Appendix A - Partner &amp; Vendor Landscape)</a:t>
            </a:r>
          </a:p>
          <a:p>
            <a:r>
              <a:t>WORKING TITLE   Landscape Map (1 of 2) — By Category</a:t>
            </a:r>
          </a:p>
          <a:p>
            <a:r>
              <a:t>PURPOSE         Reference map of the partner / vendor universe, grouped by category.</a:t>
            </a:r>
          </a:p>
          <a:p/>
          <a:p>
            <a:r>
              <a:t>WHAT THIS SLIDE MUST CONTAIN</a:t>
            </a:r>
          </a:p>
          <a:p>
            <a:r>
              <a:t>  - Logo wall grouped into major categories (generalist tools, vertical specialists by industry,</a:t>
            </a:r>
          </a:p>
          <a:p>
            <a:r>
              <a:t>    marketplaces).</a:t>
            </a:r>
          </a:p>
          <a:p>
            <a:r>
              <a:t>  - Sub-category labels inside each group (by function or industry).</a:t>
            </a:r>
          </a:p>
          <a:p>
            <a:r>
              <a:t>  - Non-exhaustive marker.</a:t>
            </a:r>
          </a:p>
          <a:p>
            <a:r>
              <a:t>  - Categorization consistent with the segmentation used in the body.</a:t>
            </a:r>
          </a:p>
          <a:p/>
          <a:p>
            <a:r>
              <a:t>SOURCES         Secondary research.</a:t>
            </a:r>
          </a:p>
          <a:p>
            <a:r>
              <a:t>ANALYSIS        None — reference material supporting the market and growth chapters.</a:t>
            </a:r>
          </a:p>
          <a:p>
            <a:r>
              <a:t>EXHIBIT         Category-grouped logo wall with sub-labels.  (form: banded_table)</a:t>
            </a:r>
          </a:p>
          <a:p>
            <a:r>
              <a:t>QUALITY BAR     The categorization scheme matches the market chapters exactly.</a:t>
            </a:r>
          </a:p>
          <a:p/>
          <a:p>
            <a:r>
              <a:t>DILIGENCEIQ MAPPING</a:t>
            </a:r>
          </a:p>
          <a:p>
            <a:r>
              <a:t>  gate            conditional</a:t>
            </a:r>
          </a:p>
          <a:p>
            <a:r>
              <a:t>  primary modules CID</a:t>
            </a:r>
          </a:p>
          <a:p>
            <a:r>
              <a:t>  secondary       MDF</a:t>
            </a:r>
          </a:p>
          <a:p>
            <a:r>
              <a:t>  may state       comp.set</a:t>
            </a:r>
          </a:p>
          <a:p>
            <a:r>
              <a:t>  transform       T1-EXTRACT, T10-NARRATIVE-TO-TABLE, T12-COMPANY-VS-MARKET, T2-COMBINE, T7-CONFIDENCE, T8-FACT-VS-VIEW,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S086_landscape_by_size   (blueprint slide 86 - Appendix A - Partner &amp; Vendor Landscape)</a:t>
            </a:r>
          </a:p>
          <a:p>
            <a:r>
              <a:t>WORKING TITLE   Landscape Map (2 of 2) — By Category &amp; Size</a:t>
            </a:r>
          </a:p>
          <a:p>
            <a:r>
              <a:t>PURPOSE         The same universe cut by customer-size tier.</a:t>
            </a:r>
          </a:p>
          <a:p/>
          <a:p>
            <a:r>
              <a:t>WHAT THIS SLIDE MUST CONTAIN</a:t>
            </a:r>
          </a:p>
          <a:p>
            <a:r>
              <a:t>  - Table: category rows (one per vertical / function) × two logo columns (smaller-tier examples vs</a:t>
            </a:r>
          </a:p>
          <a:p>
            <a:r>
              <a:t>    enterprise examples).</a:t>
            </a:r>
          </a:p>
          <a:p>
            <a:r>
              <a:t>  - Row grouping mirrors page 1 of the landscape.</a:t>
            </a:r>
          </a:p>
          <a:p>
            <a:r>
              <a:t>  - Logos current and correctly classified.</a:t>
            </a:r>
          </a:p>
          <a:p/>
          <a:p>
            <a:r>
              <a:t>SOURCES         Secondary research.</a:t>
            </a:r>
          </a:p>
          <a:p>
            <a:r>
              <a:t>ANALYSIS        None — reference material.</a:t>
            </a:r>
          </a:p>
          <a:p>
            <a:r>
              <a:t>EXHIBIT         Category × size-tier logo table.  (form: banded_table)</a:t>
            </a:r>
          </a:p>
          <a:p>
            <a:r>
              <a:t>QUALITY BAR     Examples are current, correctly tiered, and correctly categorized.</a:t>
            </a:r>
          </a:p>
          <a:p/>
          <a:p>
            <a:r>
              <a:t>DILIGENCEIQ MAPPING</a:t>
            </a:r>
          </a:p>
          <a:p>
            <a:r>
              <a:t>  gate            conditional</a:t>
            </a:r>
          </a:p>
          <a:p>
            <a:r>
              <a:t>  primary modules CID</a:t>
            </a:r>
          </a:p>
          <a:p>
            <a:r>
              <a:t>  secondary       MSS</a:t>
            </a:r>
          </a:p>
          <a:p>
            <a:r>
              <a:t>  may state       comp.set, comp.share</a:t>
            </a:r>
          </a:p>
          <a:p>
            <a:r>
              <a:t>  transform       T1-EXTRACT, T10-NARRATIVE-TO-TABLE, T12-COMPANY-VS-MARKET, T2-COMBINE, T7-CONFIDENCE, T8-FACT-VS-VIEW, T9-DEDUP</a:t>
            </a:r>
          </a:p>
          <a:p>
            <a:r>
              <a:t>  source priority R3, R5</a:t>
            </a:r>
          </a:p>
          <a:p>
            <a:r>
              <a:t>  exceptions      E1-NOT-PROVIDED, E3-CONFLICT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S087_partner_counts   (blueprint slide 87 - Appendix A - Partner &amp; Vendor Landscape)</a:t>
            </a:r>
          </a:p>
          <a:p>
            <a:r>
              <a:t>WORKING TITLE   Partner Counts &amp; Retention Data</a:t>
            </a:r>
          </a:p>
          <a:p>
            <a:r>
              <a:t>PURPOSE         The reference table behind the whitespace and retention claims.</a:t>
            </a:r>
          </a:p>
          <a:p/>
          <a:p>
            <a:r>
              <a:t>WHAT THIS SLIDE MUST CONTAIN</a:t>
            </a:r>
          </a:p>
          <a:p>
            <a:r>
              <a:t>  - Table rows by partner size tier: revenue opportunity per partner, firm count, total opportunity,</a:t>
            </a:r>
          </a:p>
          <a:p>
            <a:r>
              <a:t>    retention benchmarks by relationship type.</a:t>
            </a:r>
          </a:p>
          <a:p>
            <a:r>
              <a:t>  - Retention shown for both relationship archetypes (embedded customer-level and partner-level).</a:t>
            </a:r>
          </a:p>
          <a:p>
            <a:r>
              <a:t>  - Sourcing note for counts and retention estimates.</a:t>
            </a:r>
          </a:p>
          <a:p/>
          <a:p>
            <a:r>
              <a:t>SOURCES         Firmographic data; web survey; interviews.</a:t>
            </a:r>
          </a:p>
          <a:p>
            <a:r>
              <a:t>ANALYSIS        Reconcile counts × per-firm value against the whitespace sizing in the growth chapter.</a:t>
            </a:r>
          </a:p>
          <a:p>
            <a:r>
              <a:t>EXHIBIT         Single reference table with tier rows.  (form: banded_table)</a:t>
            </a:r>
          </a:p>
          <a:p>
            <a:r>
              <a:t>QUALITY BAR     Totals tie to the whitespace page — one source of truth.</a:t>
            </a:r>
          </a:p>
          <a:p/>
          <a:p>
            <a:r>
              <a:t>DILIGENCEIQ MAPPING</a:t>
            </a:r>
          </a:p>
          <a:p>
            <a:r>
              <a:t>  gate            research_gated</a:t>
            </a:r>
          </a:p>
          <a:p>
            <a:r>
              <a:t>  primary modules SUP, CST</a:t>
            </a:r>
          </a:p>
          <a:p>
            <a:r>
              <a:t>  secondary       GRO</a:t>
            </a:r>
          </a:p>
          <a:p>
            <a:r>
              <a:t>  may state       ops.supplier_concentration</a:t>
            </a:r>
          </a:p>
          <a:p>
            <a:r>
              <a:t>  transform       T1-EXTRACT, T10-NARRATIVE-TO-TABLE, T12-COMPANY-VS-MARKET, T2-COMBINE, T8-FACT-VS-VIEW, T9-DEDUP</a:t>
            </a:r>
          </a:p>
          <a:p>
            <a:r>
              <a:t>  source priority R3,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S088_div_appx_sizing   (blueprint slide 88 - Appendix B - Market Sizing Methodology)</a:t>
            </a:r>
          </a:p>
          <a:p>
            <a:r>
              <a:t>WORKING TITLE   Section Divider — Appendix B</a:t>
            </a:r>
          </a:p>
          <a:p>
            <a:r>
              <a:t>PURPOSE         Re-show the appendix divider with Market Sizing Methodology highlighted.</a:t>
            </a:r>
          </a:p>
          <a:p/>
          <a:p>
            <a:r>
              <a:t>WHAT THIS SLIDE MUST CONTAIN</a:t>
            </a:r>
          </a:p>
          <a:p>
            <a:r>
              <a:t>  - Lettered appendix list with part B highlighted as current.</a:t>
            </a:r>
          </a:p>
          <a:p>
            <a:r>
              <a:t>  - Standard divider branding.</a:t>
            </a:r>
          </a:p>
          <a:p/>
          <a:p>
            <a:r>
              <a:t>SOURCES         Deck template.</a:t>
            </a:r>
          </a:p>
          <a:p>
            <a:r>
              <a:t>ANALYSIS        None.</a:t>
            </a:r>
          </a:p>
          <a:p>
            <a:r>
              <a:t>EXHIBIT         Branded divider with appendix list, current part emphasised.  (form: divider)</a:t>
            </a:r>
          </a:p>
          <a:p>
            <a:r>
              <a:t>QUALITY BAR     Highlight state matches the reader's position.</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S089_sizing_method_core   (blueprint slide 89 - Appendix B - Market Sizing Methodology)</a:t>
            </a:r>
          </a:p>
          <a:p>
            <a:r>
              <a:t>WORKING TITLE   Market Sizing Methodology — Core Opportunity</a:t>
            </a:r>
          </a:p>
          <a:p>
            <a:r>
              <a:t>PURPOSE         Document the core-market model step by step so it can be rebuilt.</a:t>
            </a:r>
          </a:p>
          <a:p/>
          <a:p>
            <a:r>
              <a:t>WHAT THIS SLIDE MUST CONTAIN</a:t>
            </a:r>
          </a:p>
          <a:p>
            <a:r>
              <a:t>  - Top flow: total volume (by size / vertical) → channel share → maximum economics → TAM, with source</a:t>
            </a:r>
          </a:p>
          <a:p>
            <a:r>
              <a:t>    and approach labels per step.</a:t>
            </a:r>
          </a:p>
          <a:p>
            <a:r>
              <a:t>  - Bottom flow: addressable volume → observed economics by mode → adoption % → penetration % → vended</a:t>
            </a:r>
          </a:p>
          <a:p>
            <a:r>
              <a:t>    market.</a:t>
            </a:r>
          </a:p>
          <a:p>
            <a:r>
              <a:t>  - Source tags on every box (statistical data, primary research, survey, benchmarks).</a:t>
            </a:r>
          </a:p>
          <a:p>
            <a:r>
              <a:t>  - Key assumptions stated inline (e.g., mode mix, excluded volumes, tier boundaries).</a:t>
            </a:r>
          </a:p>
          <a:p/>
          <a:p>
            <a:r>
              <a:t>SOURCES         Statistical series; web survey; primary research; benchmarks.</a:t>
            </a:r>
          </a:p>
          <a:p>
            <a:r>
              <a:t>ANALYSIS        Document every step and assumption so the model is fully reproducible.</a:t>
            </a:r>
          </a:p>
          <a:p>
            <a:r>
              <a:t>EXHIBIT         Left-to-right methodology flow diagrams with source tags.  (form: method_flow)</a:t>
            </a:r>
          </a:p>
          <a:p>
            <a:r>
              <a:t>QUALITY BAR     A reviewer can rebuild the model from this page alone.</a:t>
            </a:r>
          </a:p>
          <a:p/>
          <a:p>
            <a:r>
              <a:t>DILIGENCEIQ MAPPING</a:t>
            </a:r>
          </a:p>
          <a:p>
            <a:r>
              <a:t>  gate            core</a:t>
            </a:r>
          </a:p>
          <a:p>
            <a:r>
              <a:t>  primary modules MVG, MDF</a:t>
            </a:r>
          </a:p>
          <a:p>
            <a:r>
              <a:t>  fallback        MDF, SCM  (E12-SUBSTITUTION if used)</a:t>
            </a:r>
          </a:p>
          <a:p>
            <a:r>
              <a:t>  secondary       SCM</a:t>
            </a:r>
          </a:p>
          <a:p>
            <a:r>
              <a:t>  may state       mkt.tam, mkt.sam</a:t>
            </a:r>
          </a:p>
          <a:p>
            <a:r>
              <a:t>  transform       T1-EXTRACT, T10-NARRATIVE-TO-TABLE, T11-TRIANGULATE, T12-COMPANY-VS-MARKET, T2-COMBINE, T5-CALCULATE, T7-CONFIDENCE, T8-FACT-VS-VIEW, T9-DEDUP</a:t>
            </a:r>
          </a:p>
          <a:p>
            <a:r>
              <a:t>  calculations    C2-COVERAGE, C8-UNIT-NORMALISE</a:t>
            </a:r>
          </a:p>
          <a:p>
            <a:r>
              <a:t>  source priority R2, R3, R5</a:t>
            </a:r>
          </a:p>
          <a:p>
            <a:r>
              <a:t>  exceptions      E1-NOT-PROVIDED, E3-CONFLICT,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S090_sizing_method_adjacent   (blueprint slide 90 - Appendix B - Market Sizing Methodology)</a:t>
            </a:r>
          </a:p>
          <a:p>
            <a:r>
              <a:t>WORKING TITLE   Market Sizing Methodology — Adjacent Opportunity</a:t>
            </a:r>
          </a:p>
          <a:p>
            <a:r>
              <a:t>PURPOSE         Document the value-added opportunity model to the same standard.</a:t>
            </a:r>
          </a:p>
          <a:p/>
          <a:p>
            <a:r>
              <a:t>WHAT THIS SLIDE MUST CONTAIN</a:t>
            </a:r>
          </a:p>
          <a:p>
            <a:r>
              <a:t>  - Top flow: eligible customer counts × average spend per period × annualization → TAM, with sources</a:t>
            </a:r>
          </a:p>
          <a:p>
            <a:r>
              <a:t>    per input.</a:t>
            </a:r>
          </a:p>
          <a:p>
            <a:r>
              <a:t>  - Bottom flow: TAM → adoption % → penetration % → vended market, survey-sourced.</a:t>
            </a:r>
          </a:p>
          <a:p>
            <a:r>
              <a:t>  - Eligibility filter stated (only adopters of the core service count).</a:t>
            </a:r>
          </a:p>
          <a:p>
            <a:r>
              <a:t>  - Segmentation note: primary cuts by vertical and size.</a:t>
            </a:r>
          </a:p>
          <a:p/>
          <a:p>
            <a:r>
              <a:t>SOURCES         Firmographic counts; price benchmarks / management price sheets; web survey.</a:t>
            </a:r>
          </a:p>
          <a:p>
            <a:r>
              <a:t>ANALYSIS        Apply the same reproducibility standard as the core model; keep segmentation consistent.</a:t>
            </a:r>
          </a:p>
          <a:p>
            <a:r>
              <a:t>EXHIBIT         Two methodology flow rows with source tags.  (form: method_flow)</a:t>
            </a:r>
          </a:p>
          <a:p>
            <a:r>
              <a:t>QUALITY BAR     Segmentation is consistent with the core model — the two reconcile.</a:t>
            </a:r>
          </a:p>
          <a:p/>
          <a:p>
            <a:r>
              <a:t>DILIGENCEIQ MAPPING</a:t>
            </a:r>
          </a:p>
          <a:p>
            <a:r>
              <a:t>  gate            conditional</a:t>
            </a:r>
          </a:p>
          <a:p>
            <a:r>
              <a:t>  primary modules MVG, GRO</a:t>
            </a:r>
          </a:p>
          <a:p>
            <a:r>
              <a:t>  secondary       MPR</a:t>
            </a:r>
          </a:p>
          <a:p>
            <a:r>
              <a:t>  may state       mkt.sam</a:t>
            </a:r>
          </a:p>
          <a:p>
            <a:r>
              <a:t>  transform       T1-EXTRACT, T10-NARRATIVE-TO-TABLE, T11-TRIANGULATE, T12-COMPANY-VS-MARKET, T2-COMBINE, T5-CALCULATE, T7-CONFIDENCE, T8-FACT-VS-VIEW, T9-DEDUP</a:t>
            </a:r>
          </a:p>
          <a:p>
            <a:r>
              <a:t>  calculations    C2-COVERAGE, C8-UNIT-NORMALISE</a:t>
            </a:r>
          </a:p>
          <a:p>
            <a:r>
              <a:t>  source priority R2, R3, R5</a:t>
            </a:r>
          </a:p>
          <a:p>
            <a:r>
              <a:t>  exceptions      E1-NOT-PROVIDED, E4-UNIT-MISMATCH</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S091_div_appx_cases   (blueprint slide 91 - Appendix C - Case Studies)</a:t>
            </a:r>
          </a:p>
          <a:p>
            <a:r>
              <a:t>WORKING TITLE   Section Divider — Appendix C</a:t>
            </a:r>
          </a:p>
          <a:p>
            <a:r>
              <a:t>PURPOSE         Re-show the appendix divider with Case Studies highlighted.</a:t>
            </a:r>
          </a:p>
          <a:p/>
          <a:p>
            <a:r>
              <a:t>WHAT THIS SLIDE MUST CONTAIN</a:t>
            </a:r>
          </a:p>
          <a:p>
            <a:r>
              <a:t>  - Lettered appendix list with part C highlighted as current.</a:t>
            </a:r>
          </a:p>
          <a:p>
            <a:r>
              <a:t>  - Standard divider branding.</a:t>
            </a:r>
          </a:p>
          <a:p/>
          <a:p>
            <a:r>
              <a:t>SOURCES         Deck template.</a:t>
            </a:r>
          </a:p>
          <a:p>
            <a:r>
              <a:t>ANALYSIS        None.</a:t>
            </a:r>
          </a:p>
          <a:p>
            <a:r>
              <a:t>EXHIBIT         Branded divider with appendix list, current part emphasised.  (form: divider)</a:t>
            </a:r>
          </a:p>
          <a:p>
            <a:r>
              <a:t>QUALITY BAR     Highlight state matches the reader's position.</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S092_case_lost_prospect   (blueprint slide 92 - Appendix C - Case Studies)</a:t>
            </a:r>
          </a:p>
          <a:p>
            <a:r>
              <a:t>WORKING TITLE   Case Study — Lost Prospect</a:t>
            </a:r>
          </a:p>
          <a:p>
            <a:r>
              <a:t>PURPOSE         Tell the story of a deal the Target lost — and what would reopen it.</a:t>
            </a:r>
          </a:p>
          <a:p/>
          <a:p>
            <a:r>
              <a:t>WHAT THIS SLIDE MUST CONTAIN</a:t>
            </a:r>
          </a:p>
          <a:p>
            <a:r>
              <a:t>  - Profile rail: organisation logo, name, and descriptor.</a:t>
            </a:r>
          </a:p>
          <a:p>
            <a:r>
              <a:t>  - Adoption history: how and why the organisation built its current approach, with quotes.</a:t>
            </a:r>
          </a:p>
          <a:p>
            <a:r>
              <a:t>  - Evaluation &amp; decision: why the winning competitor was chosen; how the Target was perceived,</a:t>
            </a:r>
          </a:p>
          <a:p>
            <a:r>
              <a:t>    including the specific concern that lost the deal — quoted verbatim.</a:t>
            </a:r>
          </a:p>
          <a:p>
            <a:r>
              <a:t>  - Future outlook: openness to adding providers, and the conditions that would favour the Target.</a:t>
            </a:r>
          </a:p>
          <a:p/>
          <a:p>
            <a:r>
              <a:t>SOURCES         Prospect interview.</a:t>
            </a:r>
          </a:p>
          <a:p>
            <a:r>
              <a:t>ANALYSIS        Extract the loss reasons and re-entry conditions without varnish.</a:t>
            </a:r>
          </a:p>
          <a:p>
            <a:r>
              <a:t>EXHIBIT         Profile rail + three-block narrative (adoption / decision / outlook) with quotes.  (form: case_study)</a:t>
            </a:r>
          </a:p>
          <a:p>
            <a:r>
              <a:t>QUALITY BAR     Loss reasons are reported unvarnished — this page is credibility currency.</a:t>
            </a:r>
          </a:p>
          <a:p/>
          <a:p>
            <a:r>
              <a:t>DILIGENCEIQ MAPPING</a:t>
            </a:r>
          </a:p>
          <a:p>
            <a:r>
              <a:t>  gate            research_gated</a:t>
            </a:r>
          </a:p>
          <a:p>
            <a:r>
              <a:t>  primary modules BBH, CSA</a:t>
            </a:r>
          </a:p>
          <a:p>
            <a:r>
              <a:t>  secondary       CDF</a:t>
            </a:r>
          </a:p>
          <a:p>
            <a:r>
              <a:t>  transform       T1-EXTRACT, T10-NARRATIVE-TO-TABLE, T12-COMPANY-VS-MARKET, T2-COMBINE, T3-SUMMARISE, T8-FACT-VS-VIEW, T9-DEDUP</a:t>
            </a:r>
          </a:p>
          <a:p>
            <a:r>
              <a:t>  source priority R3,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S093_case_competitor_customer   (blueprint slide 93 - Appendix C - Case Studies)</a:t>
            </a:r>
          </a:p>
          <a:p>
            <a:r>
              <a:t>WORKING TITLE   Case Study — Competitor's Customer</a:t>
            </a:r>
          </a:p>
          <a:p>
            <a:r>
              <a:t>PURPOSE         Profile a customer of a competitor whose dissatisfaction creates an opening.</a:t>
            </a:r>
          </a:p>
          <a:p/>
          <a:p>
            <a:r>
              <a:t>WHAT THIS SLIDE MUST CONTAIN</a:t>
            </a:r>
          </a:p>
          <a:p>
            <a:r>
              <a:t>  - Profile rail: organisation logo, name, descriptor.</a:t>
            </a:r>
          </a:p>
          <a:p>
            <a:r>
              <a:t>  - Adoption history: initial provider choices and the rationale, quoted.</a:t>
            </a:r>
          </a:p>
          <a:p>
            <a:r>
              <a:t>  - Evaluation &amp; decision: the criteria that drove the current selection (liability, coverage,</a:t>
            </a:r>
          </a:p>
          <a:p>
            <a:r>
              <a:t>    economics), quoted.</a:t>
            </a:r>
          </a:p>
          <a:p>
            <a:r>
              <a:t>  - Future outlook: the pain points (e.g., vertical-support limits, onboarding friction) that open the</a:t>
            </a:r>
          </a:p>
          <a:p>
            <a:r>
              <a:t>    door for the Target — mapped to Target capabilities.</a:t>
            </a:r>
          </a:p>
          <a:p/>
          <a:p>
            <a:r>
              <a:t>SOURCES         Competitor-customer interview.</a:t>
            </a:r>
          </a:p>
          <a:p>
            <a:r>
              <a:t>ANALYSIS        Identify whether the opening is displacement or supplement; map pains to Target</a:t>
            </a:r>
          </a:p>
          <a:p>
            <a:r>
              <a:t>                strengths.</a:t>
            </a:r>
          </a:p>
          <a:p>
            <a:r>
              <a:t>EXHIBIT         Profile rail + three-block narrative with quotes.  (form: case_study)</a:t>
            </a:r>
          </a:p>
          <a:p>
            <a:r>
              <a:t>QUALITY BAR     Opening claims tie directly to the customer's stated pain points.</a:t>
            </a:r>
          </a:p>
          <a:p/>
          <a:p>
            <a:r>
              <a:t>DILIGENCEIQ MAPPING</a:t>
            </a:r>
          </a:p>
          <a:p>
            <a:r>
              <a:t>  gate            research_gated</a:t>
            </a:r>
          </a:p>
          <a:p>
            <a:r>
              <a:t>  primary modules CID, CSA</a:t>
            </a:r>
          </a:p>
          <a:p>
            <a:r>
              <a:t>  secondary       BBH</a:t>
            </a:r>
          </a:p>
          <a:p>
            <a:r>
              <a:t>  transform       T1-EXTRACT, T10-NARRATIVE-TO-TABLE, T12-COMPANY-VS-MARKET, T2-COMBINE, T3-SUMMARISE, T8-FACT-VS-VIEW, T9-DEDUP</a:t>
            </a:r>
          </a:p>
          <a:p>
            <a:r>
              <a:t>  source priority R3,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S094_case_existing_customer   (blueprint slide 94 - Appendix C - Case Studies)</a:t>
            </a:r>
          </a:p>
          <a:p>
            <a:r>
              <a:t>WORKING TITLE   Case Study — Existing Customer</a:t>
            </a:r>
          </a:p>
          <a:p>
            <a:r>
              <a:t>PURPOSE         Evidence entrenchment and expansion potential inside the Target's own base.</a:t>
            </a:r>
          </a:p>
          <a:p/>
          <a:p>
            <a:r>
              <a:t>WHAT THIS SLIDE MUST CONTAIN</a:t>
            </a:r>
          </a:p>
          <a:p>
            <a:r>
              <a:t>  - Profile rail: customer logo, name, respondent title, plus scored metrics (advocacy score,</a:t>
            </a:r>
          </a:p>
          <a:p>
            <a:r>
              <a:t>    likelihood-to-continue) with scales.</a:t>
            </a:r>
          </a:p>
          <a:p>
            <a:r>
              <a:t>  - Usage journey: how the customer adopted and how the solution is embedded in daily operations,</a:t>
            </a:r>
          </a:p>
          <a:p>
            <a:r>
              <a:t>    quoted.</a:t>
            </a:r>
          </a:p>
          <a:p>
            <a:r>
              <a:t>  - Satisfaction and future expectations: what they value, what they would improve, and expansion asks —</a:t>
            </a:r>
          </a:p>
          <a:p>
            <a:r>
              <a:t>    quoted.</a:t>
            </a:r>
          </a:p>
          <a:p>
            <a:r>
              <a:t>  - Key-takeaways rail: 3 synthesis bullets (mission-critical integration; retention with upside;</a:t>
            </a:r>
          </a:p>
          <a:p>
            <a:r>
              <a:t>    scalability).</a:t>
            </a:r>
          </a:p>
          <a:p/>
          <a:p>
            <a:r>
              <a:t>SOURCES         Customer interview.</a:t>
            </a:r>
          </a:p>
          <a:p>
            <a:r>
              <a:t>ANALYSIS        Evidence entrenchment mechanisms and the concrete product asks that unlock expansion.</a:t>
            </a:r>
          </a:p>
          <a:p>
            <a:r>
              <a:t>EXHIBIT         Profile rail with score chips + narrative blocks + takeaways column.  (form: case_study)</a:t>
            </a:r>
          </a:p>
          <a:p>
            <a:r>
              <a:t>QUALITY BAR     Scores are displayed with their scales; improvement asks are included, not filtered.</a:t>
            </a:r>
          </a:p>
          <a:p/>
          <a:p>
            <a:r>
              <a:t>DILIGENCEIQ MAPPING</a:t>
            </a:r>
          </a:p>
          <a:p>
            <a:r>
              <a:t>  gate            research_gated</a:t>
            </a:r>
          </a:p>
          <a:p>
            <a:r>
              <a:t>  primary modules CSA, CST</a:t>
            </a:r>
          </a:p>
          <a:p>
            <a:r>
              <a:t>  secondary       CDF</a:t>
            </a:r>
          </a:p>
          <a:p>
            <a:r>
              <a:t>  transform       T1-EXTRACT, T10-NARRATIVE-TO-TABLE, T12-COMPANY-VS-MARKET, T2-COMBINE, T3-SUMMARISE, T8-FACT-VS-VIEW, T9-DEDUP</a:t>
            </a:r>
          </a:p>
          <a:p>
            <a:r>
              <a:t>  source priority R3, R5</a:t>
            </a:r>
          </a:p>
          <a:p>
            <a:r>
              <a:t>  exceptions      E1-NOT-PROVIDED, E11-NO-PRIMARY</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S095_div_appx_supp   (blueprint slide 95 - Appendix D - Supplementary Data)</a:t>
            </a:r>
          </a:p>
          <a:p>
            <a:r>
              <a:t>WORKING TITLE   Section Divider — Appendix D</a:t>
            </a:r>
          </a:p>
          <a:p>
            <a:r>
              <a:t>PURPOSE         Re-show the appendix divider with Supplementary Data highlighted.</a:t>
            </a:r>
          </a:p>
          <a:p/>
          <a:p>
            <a:r>
              <a:t>WHAT THIS SLIDE MUST CONTAIN</a:t>
            </a:r>
          </a:p>
          <a:p>
            <a:r>
              <a:t>  - Lettered appendix list with part D highlighted as current.</a:t>
            </a:r>
          </a:p>
          <a:p>
            <a:r>
              <a:t>  - Standard divider branding.</a:t>
            </a:r>
          </a:p>
          <a:p/>
          <a:p>
            <a:r>
              <a:t>SOURCES         Deck template.</a:t>
            </a:r>
          </a:p>
          <a:p>
            <a:r>
              <a:t>ANALYSIS        None.</a:t>
            </a:r>
          </a:p>
          <a:p>
            <a:r>
              <a:t>EXHIBIT         Branded divider with appendix list, current part emphasised.  (form: divider)</a:t>
            </a:r>
          </a:p>
          <a:p>
            <a:r>
              <a:t>QUALITY BAR     Highlight state matches the reader's position.</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S096_supp_entrenchment   (blueprint slide 96 - Appendix D - Supplementary Data)</a:t>
            </a:r>
          </a:p>
          <a:p>
            <a:r>
              <a:t>WORKING TITLE   Supplementary Data — Entrenchment Evidence</a:t>
            </a:r>
          </a:p>
          <a:p>
            <a:r>
              <a:t>PURPOSE         Backing detail for the stickiness claims made in the body.</a:t>
            </a:r>
          </a:p>
          <a:p/>
          <a:p>
            <a:r>
              <a:t>WHAT THIS SLIDE MUST CONTAIN</a:t>
            </a:r>
          </a:p>
          <a:p>
            <a:r>
              <a:t>  - Twin distribution panels (1–7 scale): likelihood to continue using the current solution, one per</a:t>
            </a:r>
          </a:p>
          <a:p>
            <a:r>
              <a:t>    customer group.</a:t>
            </a:r>
          </a:p>
          <a:p>
            <a:r>
              <a:t>  - Means, top-2 shares, and n beneath each panel.</a:t>
            </a:r>
          </a:p>
          <a:p>
            <a:r>
              <a:t>  - Framing line: both relationship archetypes exhibit similar stickiness.</a:t>
            </a:r>
          </a:p>
          <a:p>
            <a:r>
              <a:t>  - Cross-reference to the body pages this data supports.</a:t>
            </a:r>
          </a:p>
          <a:p/>
          <a:p>
            <a:r>
              <a:t>SOURCES         Web survey.</a:t>
            </a:r>
          </a:p>
          <a:p>
            <a:r>
              <a:t>ANALYSIS        Hold the full distributions here so body pages stay clean; keep scales identical.</a:t>
            </a:r>
          </a:p>
          <a:p>
            <a:r>
              <a:t>EXHIBIT         Paired distribution stacks with stat labels.  (form: heat_grid)</a:t>
            </a:r>
          </a:p>
          <a:p>
            <a:r>
              <a:t>QUALITY BAR     Cross-referenced from the body — supplementary data is never orphaned.</a:t>
            </a:r>
          </a:p>
          <a:p/>
          <a:p>
            <a:r>
              <a:t>DILIGENCEIQ MAPPING</a:t>
            </a:r>
          </a:p>
          <a:p>
            <a:r>
              <a:t>  gate            research_gated</a:t>
            </a:r>
          </a:p>
          <a:p>
            <a:r>
              <a:t>  primary modules CST</a:t>
            </a:r>
          </a:p>
          <a:p>
            <a:r>
              <a:t>  secondary       CSA, RVQ, APX</a:t>
            </a:r>
          </a:p>
          <a:p>
            <a:r>
              <a:t>  may state       cust.retention, cust.tenure</a:t>
            </a:r>
          </a:p>
          <a:p>
            <a:r>
              <a:t>  transform       T1-EXTRACT, T10-NARRATIVE-TO-TABLE, T12-COMPANY-VS-MARKET, T2-COMBINE, T4-RECLASSIFY, T8-FACT-VS-VIEW, T9-DEDUP</a:t>
            </a:r>
          </a:p>
          <a:p>
            <a:r>
              <a:t>  source priority R3, R4, R5</a:t>
            </a:r>
          </a:p>
          <a:p>
            <a:r>
              <a:t>  exceptions      E1-NOT-PROVIDED, E11-NO-PRIMARY, E3-CONFLICT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S097_back_cover   (blueprint slide 97 - Appendix D - Supplementary Data)</a:t>
            </a:r>
          </a:p>
          <a:p>
            <a:r>
              <a:t>WORKING TITLE   Back Cover</a:t>
            </a:r>
          </a:p>
          <a:p>
            <a:r>
              <a:t>PURPOSE         Close the report with the standard brand page.</a:t>
            </a:r>
          </a:p>
          <a:p/>
          <a:p>
            <a:r>
              <a:t>WHAT THIS SLIDE MUST CONTAIN</a:t>
            </a:r>
          </a:p>
          <a:p>
            <a:r>
              <a:t>  - Firm logo, tagline, and copyright / web line only.</a:t>
            </a:r>
          </a:p>
          <a:p>
            <a:r>
              <a:t>  - No content, findings, or contact-specific data beyond the standard block.</a:t>
            </a:r>
          </a:p>
          <a:p>
            <a:r>
              <a:t>  - Design identical to the front-cover brand treatment.</a:t>
            </a:r>
          </a:p>
          <a:p/>
          <a:p>
            <a:r>
              <a:t>SOURCES         Brand assets.</a:t>
            </a:r>
          </a:p>
          <a:p>
            <a:r>
              <a:t>ANALYSIS        None.</a:t>
            </a:r>
          </a:p>
          <a:p>
            <a:r>
              <a:t>EXHIBIT         Full-bleed branded closing page.  (form: cover)</a:t>
            </a:r>
          </a:p>
          <a:p>
            <a:r>
              <a:t>QUALITY BAR     Branding matches the front cover exactly.</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S098_div_appx_audit   (blueprint slide 98 - Appendix E - Evidence &amp; Audit Trail)</a:t>
            </a:r>
          </a:p>
          <a:p>
            <a:r>
              <a:t>WORKING TITLE   Section Divider — Evidence &amp; Audit Trail</a:t>
            </a:r>
          </a:p>
          <a:p>
            <a:r>
              <a:t>PURPOSE         Open the audit trail that makes every preceding page checkable.</a:t>
            </a:r>
          </a:p>
          <a:p/>
          <a:p>
            <a:r>
              <a:t>WHAT THIS SLIDE MUST CONTAIN</a:t>
            </a:r>
          </a:p>
          <a:p>
            <a:r>
              <a:t>  - Section number and name.</a:t>
            </a:r>
          </a:p>
          <a:p>
            <a:r>
              <a:t>  - One line naming what the appendix contains.</a:t>
            </a:r>
          </a:p>
          <a:p/>
          <a:p>
            <a:r>
              <a:t>SOURCES         Deck template.</a:t>
            </a:r>
          </a:p>
          <a:p>
            <a:r>
              <a:t>ANALYSIS        None.</a:t>
            </a:r>
          </a:p>
          <a:p>
            <a:r>
              <a:t>EXHIBIT         Section divider.  (form: divider)</a:t>
            </a:r>
          </a:p>
          <a:p>
            <a:r>
              <a:t>QUALITY BAR     A reviewer knows, before turning the page, that every figure in the report can be</a:t>
            </a:r>
          </a:p>
          <a:p>
            <a:r>
              <a:t>                traced.</a:t>
            </a:r>
          </a:p>
          <a:p/>
          <a:p>
            <a:r>
              <a:t>DILIGENCEIQ MAPPING</a:t>
            </a:r>
          </a:p>
          <a:p>
            <a:r>
              <a:t>  gate            always</a:t>
            </a:r>
          </a:p>
          <a:p>
            <a:r>
              <a:t>  transform       T0-AUTO</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S099_module_verdicts   (blueprint slide 99 - Appendix E - Evidence &amp; Audit Trail)</a:t>
            </a:r>
          </a:p>
          <a:p>
            <a:r>
              <a:t>WORKING TITLE   Module Verdicts &amp; Confidence</a:t>
            </a:r>
          </a:p>
          <a:p>
            <a:r>
              <a:t>PURPOSE         Show what each diligence module concluded and how much weight its conclusion carries.</a:t>
            </a:r>
          </a:p>
          <a:p/>
          <a:p>
            <a:r>
              <a:t>WHAT THIS SLIDE MUST CONTAIN</a:t>
            </a:r>
          </a:p>
          <a:p>
            <a:r>
              <a:t>  - One row per agent module: verdict, stated confidence, evidence-adjusted confidence (T7), coverage %.</a:t>
            </a:r>
          </a:p>
          <a:p>
            <a:r>
              <a:t>  - Modules that returned insufficient or inconclusive findings visually marked.</a:t>
            </a:r>
          </a:p>
          <a:p>
            <a:r>
              <a:t>  - Core modules distinguished from supporting modules.</a:t>
            </a:r>
          </a:p>
          <a:p>
            <a:r>
              <a:t>  - Slides that depend on a weak module cross-referenced.</a:t>
            </a:r>
          </a:p>
          <a:p/>
          <a:p>
            <a:r>
              <a:t>SOURCES         Run data: module registry, evidence index, coverage computation.</a:t>
            </a:r>
          </a:p>
          <a:p>
            <a:r>
              <a:t>ANALYSIS        Apply T7-CONFIDENCE. Do not restate the module's own confidence without the coverage</a:t>
            </a:r>
          </a:p>
          <a:p>
            <a:r>
              <a:t>                adjustment.</a:t>
            </a:r>
          </a:p>
          <a:p>
            <a:r>
              <a:t>EXHIBIT         Banded table, one band per module role, RAG pills on confidence.  (form: banded_table)</a:t>
            </a:r>
          </a:p>
          <a:p>
            <a:r>
              <a:t>QUALITY BAR     A reader can see at a glance which conclusions in the report are thinly evidenced.</a:t>
            </a:r>
          </a:p>
          <a:p/>
          <a:p>
            <a:r>
              <a:t>DILIGENCEIQ MAPPING</a:t>
            </a:r>
          </a:p>
          <a:p>
            <a:r>
              <a:t>  gate            always</a:t>
            </a:r>
          </a:p>
          <a:p>
            <a:r>
              <a:t>  transform       T1-EXTRACT, T10-NARRATIVE-TO-TABLE, T12-COMPANY-VS-MARKET, T2-COMBINE, T8-FACT-VS-VIEW, T9-DEDUP</a:t>
            </a:r>
          </a:p>
          <a:p>
            <a:r>
              <a:t>  calculations    C2-COVERAGE, C3-VERDICT-COUNT</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S100_source_register   (blueprint slide 100 - Appendix E - Evidence &amp; Audit Trail)</a:t>
            </a:r>
          </a:p>
          <a:p>
            <a:r>
              <a:t>WORKING TITLE   Source Register</a:t>
            </a:r>
          </a:p>
          <a:p>
            <a:r>
              <a:t>PURPOSE         List every source the report rests on, with what it evidenced.</a:t>
            </a:r>
          </a:p>
          <a:p/>
          <a:p>
            <a:r>
              <a:t>WHAT THIS SLIDE MUST CONTAIN</a:t>
            </a:r>
          </a:p>
          <a:p>
            <a:r>
              <a:t>  - One row per distinct source artefact: name, data-room node, doc type, provenance class, citation</a:t>
            </a:r>
          </a:p>
          <a:p>
            <a:r>
              <a:t>    count.</a:t>
            </a:r>
          </a:p>
          <a:p>
            <a:r>
              <a:t>  - Web and analyst sources listed separately from data-room documents.</a:t>
            </a:r>
          </a:p>
          <a:p>
            <a:r>
              <a:t>  - Sources cited by the agents but absent from the data room flagged (E10).</a:t>
            </a:r>
          </a:p>
          <a:p>
            <a:r>
              <a:t>  - Synthetic or illustrative sources marked.</a:t>
            </a:r>
          </a:p>
          <a:p/>
          <a:p>
            <a:r>
              <a:t>SOURCES         Run data: evidence index citation graph.</a:t>
            </a:r>
          </a:p>
          <a:p>
            <a:r>
              <a:t>ANALYSIS        Mechanical. No interpretation.</a:t>
            </a:r>
          </a:p>
          <a:p>
            <a:r>
              <a:t>EXHIBIT         Banded table grouped by provenance class.  (form: banded_table)</a:t>
            </a:r>
          </a:p>
          <a:p>
            <a:r>
              <a:t>QUALITY BAR     Every source line on every slide resolves to exactly one row here.</a:t>
            </a:r>
          </a:p>
          <a:p/>
          <a:p>
            <a:r>
              <a:t>DILIGENCEIQ MAPPING</a:t>
            </a:r>
          </a:p>
          <a:p>
            <a:r>
              <a:t>  gate            always</a:t>
            </a:r>
          </a:p>
          <a:p>
            <a:r>
              <a:t>  secondary       APX</a:t>
            </a:r>
          </a:p>
          <a:p>
            <a:r>
              <a:t>  transform       T1-EXTRACT, T10-NARRATIVE-TO-TABLE, T12-COMPANY-VS-MARKET, T2-COMBINE, T8-FACT-VS-VIEW, T9-DEDUP</a:t>
            </a:r>
          </a:p>
          <a:p>
            <a:r>
              <a:t>  calculations    C1-COUNT</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S101_exceptions   (blueprint slide 101 - Appendix E - Evidence &amp; Audit Trail)</a:t>
            </a:r>
          </a:p>
          <a:p>
            <a:r>
              <a:t>WORKING TITLE   Exceptions &amp; Diligence Gaps</a:t>
            </a:r>
          </a:p>
          <a:p>
            <a:r>
              <a:t>PURPOSE         State plainly what the report could not establish and what follow-up is required.</a:t>
            </a:r>
          </a:p>
          <a:p/>
          <a:p>
            <a:r>
              <a:t>WHAT THIS SLIDE MUST CONTAIN</a:t>
            </a:r>
          </a:p>
          <a:p>
            <a:r>
              <a:t>  - One row per exception: severity, rule id, issue, slides affected, source, treatment applied.</a:t>
            </a:r>
          </a:p>
          <a:p>
            <a:r>
              <a:t>  - Slides dropped by a coverage gate listed with the reason and what would unlock them.</a:t>
            </a:r>
          </a:p>
          <a:p>
            <a:r>
              <a:t>  - Critical exceptions repeated at the top, not buried in severity order alone.</a:t>
            </a:r>
          </a:p>
          <a:p>
            <a:r>
              <a:t>  - A named follow-up request for each HIGH and CRITICAL item.</a:t>
            </a:r>
          </a:p>
          <a:p/>
          <a:p>
            <a:r>
              <a:t>SOURCES         Run data: exception log from ingest, evidence index, content check and QA.</a:t>
            </a:r>
          </a:p>
          <a:p>
            <a:r>
              <a:t>ANALYSIS        Mechanical assembly; severity per the E-rules.</a:t>
            </a:r>
          </a:p>
          <a:p>
            <a:r>
              <a:t>EXHIBIT         Banded table grouped by severity, critical band first.  (form: banded_table)</a:t>
            </a:r>
          </a:p>
          <a:p>
            <a:r>
              <a:t>QUALITY BAR     Nothing the deck could not evidence is invisible: every gap appears here with a named</a:t>
            </a:r>
          </a:p>
          <a:p>
            <a:r>
              <a:t>                next step.</a:t>
            </a:r>
          </a:p>
          <a:p/>
          <a:p>
            <a:r>
              <a:t>DILIGENCEIQ MAPPING</a:t>
            </a:r>
          </a:p>
          <a:p>
            <a:r>
              <a:t>  gate            always</a:t>
            </a:r>
          </a:p>
          <a:p>
            <a:r>
              <a:t>  transform       T1-EXTRACT, T10-NARRATIVE-TO-TABLE, T12-COMPANY-VS-MARKET, T2-COMBINE, T8-FACT-VS-VIEW, T9-DEDUP</a:t>
            </a:r>
          </a:p>
          <a:p>
            <a:r>
              <a:t>  source priority R3, R5</a:t>
            </a:r>
          </a:p>
          <a:p>
            <a:r>
              <a:t>  exceptions      E1-NOT-PROVIDED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Q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14213D"/>
          </a:solidFill>
          <a:ln/>
        </p:spPr>
      </p:sp>
      <p:sp>
        <p:nvSpPr>
          <p:cNvPr id="3" name="Text 1"/>
          <p:cNvSpPr/>
          <p:nvPr/>
        </p:nvSpPr>
        <p:spPr>
          <a:xfrm>
            <a:off x="9966960" y="91440"/>
            <a:ext cx="1828800" cy="310896"/>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DiligenceIQ</a:t>
            </a:r>
            <a:endParaRPr lang="en-US" sz="1300" dirty="0"/>
          </a:p>
        </p:txBody>
      </p:sp>
      <p:sp>
        <p:nvSpPr>
          <p:cNvPr id="4" name="Shape 2"/>
          <p:cNvSpPr/>
          <p:nvPr/>
        </p:nvSpPr>
        <p:spPr>
          <a:xfrm>
            <a:off x="0" y="6473952"/>
            <a:ext cx="12191695" cy="384048"/>
          </a:xfrm>
          <a:prstGeom prst="rect">
            <a:avLst/>
          </a:prstGeom>
          <a:solidFill>
            <a:srgbClr val="EEF1F5"/>
          </a:solidFill>
          <a:ln/>
        </p:spPr>
      </p:sp>
      <p:sp>
        <p:nvSpPr>
          <p:cNvPr id="5" name="Text 3"/>
          <p:cNvSpPr/>
          <p:nvPr/>
        </p:nvSpPr>
        <p:spPr>
          <a:xfrm>
            <a:off x="411480" y="6510528"/>
            <a:ext cx="4114800" cy="292608"/>
          </a:xfrm>
          <a:prstGeom prst="rect">
            <a:avLst/>
          </a:prstGeom>
          <a:noFill/>
          <a:ln/>
        </p:spPr>
        <p:txBody>
          <a:bodyPr wrap="square" lIns="0" tIns="0" rIns="0" bIns="0" rtlCol="0" anchor="ctr"/>
          <a:lstStyle/>
          <a:p>
            <a:pPr indent="0" marL="0">
              <a:buNone/>
            </a:pPr>
            <a:r>
              <a:rPr lang="en-US" sz="800" dirty="0">
                <a:solidFill>
                  <a:srgbClr val="5B6B7F"/>
                </a:solidFill>
                <a:latin typeface="Calibri" pitchFamily="34" charset="0"/>
                <a:ea typeface="Calibri" pitchFamily="34" charset="-122"/>
                <a:cs typeface="Calibri" pitchFamily="34" charset="-120"/>
              </a:rPr>
              <a:t>[Project name]</a:t>
            </a:r>
            <a:endParaRPr lang="en-US" sz="800" dirty="0"/>
          </a:p>
        </p:txBody>
      </p:sp>
      <p:sp>
        <p:nvSpPr>
          <p:cNvPr id="6" name="Text 4"/>
          <p:cNvSpPr/>
          <p:nvPr/>
        </p:nvSpPr>
        <p:spPr>
          <a:xfrm>
            <a:off x="4023360" y="6510528"/>
            <a:ext cx="4114800" cy="292608"/>
          </a:xfrm>
          <a:prstGeom prst="rect">
            <a:avLst/>
          </a:prstGeom>
          <a:noFill/>
          <a:ln/>
        </p:spPr>
        <p:txBody>
          <a:bodyPr wrap="square" lIns="0" tIns="0" rIns="0" bIns="0" rtlCol="0" anchor="ctr"/>
          <a:lstStyle/>
          <a:p>
            <a:pPr algn="ctr" indent="0" marL="0">
              <a:buNone/>
            </a:pPr>
            <a:r>
              <a:rPr lang="en-US" sz="800" dirty="0">
                <a:solidFill>
                  <a:srgbClr val="5B6B7F"/>
                </a:solidFill>
                <a:latin typeface="Calibri" pitchFamily="34" charset="0"/>
                <a:ea typeface="Calibri" pitchFamily="34" charset="-122"/>
                <a:cs typeface="Calibri" pitchFamily="34" charset="-120"/>
              </a:rPr>
              <a:t>DiligenceIQ  |  Strictly private &amp; confidential</a:t>
            </a:r>
            <a:endParaRPr lang="en-US" sz="800" dirty="0"/>
          </a:p>
        </p:txBody>
      </p:sp>
      <p:sp>
        <p:nvSpPr>
          <p:cNvPr id="25" name="Slide Number Placeholder 0"/>
          <p:cNvSpPr>
            <a:spLocks noGrp="1"/>
          </p:cNvSpPr>
          <p:nvPr>
            <p:ph type="sldNum" sz="quarter" idx="4294967295"/>
          </p:nvPr>
        </p:nvSpPr>
        <p:spPr>
          <a:xfrm>
            <a:off x="11247120" y="6528816"/>
            <a:ext cx="54864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5B6B7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Q_DIVIDER">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126480"/>
            <a:ext cx="2743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DiligenceIQ</a:t>
            </a:r>
            <a:endParaRPr lang="en-US" sz="1400" dirty="0"/>
          </a:p>
        </p:txBody>
      </p:sp>
      <p:sp>
        <p:nvSpPr>
          <p:cNvPr id="3" name="Text 1"/>
          <p:cNvSpPr/>
          <p:nvPr/>
        </p:nvSpPr>
        <p:spPr>
          <a:xfrm>
            <a:off x="7589520" y="6172200"/>
            <a:ext cx="4206240" cy="292608"/>
          </a:xfrm>
          <a:prstGeom prst="rect">
            <a:avLst/>
          </a:prstGeom>
          <a:noFill/>
          <a:ln/>
        </p:spPr>
        <p:txBody>
          <a:bodyPr wrap="square" lIns="0" tIns="0" rIns="0" bIns="0" rtlCol="0" anchor="ctr"/>
          <a:lstStyle/>
          <a:p>
            <a:pPr algn="r" indent="0" marL="0">
              <a:buNone/>
            </a:pPr>
            <a:r>
              <a:rPr lang="en-US" sz="900" dirty="0">
                <a:solidFill>
                  <a:srgbClr val="B9C3D1"/>
                </a:solidFill>
                <a:latin typeface="Calibri" pitchFamily="34" charset="0"/>
                <a:ea typeface="Calibri" pitchFamily="34" charset="-122"/>
                <a:cs typeface="Calibri" pitchFamily="34" charset="-120"/>
              </a:rPr>
              <a:t>[Project name]</a:t>
            </a:r>
            <a:endParaRPr lang="en-US" sz="900" dirty="0"/>
          </a:p>
        </p:txBody>
      </p:sp>
      <p:sp>
        <p:nvSpPr>
          <p:cNvPr id="25" name="Slide Number Placeholder 0"/>
          <p:cNvSpPr>
            <a:spLocks noGrp="1"/>
          </p:cNvSpPr>
          <p:nvPr>
            <p:ph type="sldNum" sz="quarter" idx="4294967295"/>
          </p:nvPr>
        </p:nvSpPr>
        <p:spPr>
          <a:xfrm>
            <a:off x="11247120" y="6492240"/>
            <a:ext cx="54864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B9C3D1"/>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Q_COV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14213D"/>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528816"/>
            <a:ext cx="54864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5B6B7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slide1.xml><?xml version="1.0" encoding="utf-8"?>
<p:sld xmlns:a="http://schemas.openxmlformats.org/drawingml/2006/main" xmlns:p="http://schemas.openxmlformats.org/presentationml/2006/main" xmlns:r="http://schemas.openxmlformats.org/officeDocument/2006/relationships">
  <p:cSld name="S001_cover">
    <p:spTree>
      <p:nvGrpSpPr>
        <p:cNvPr id="1" name=""/>
        <p:cNvGrpSpPr/>
        <p:nvPr/>
      </p:nvGrpSpPr>
      <p:grpSpPr/>
      <p:sp>
        <p:nvSpPr>
          <p:cNvPr id="2" name="cover_brand"/>
          <p:cNvSpPr txBox="1"/>
          <p:nvPr/>
        </p:nvSpPr>
        <p:spPr>
          <a:xfrm>
            <a:off x="502920" y="457200"/>
            <a:ext cx="3657600" cy="411480"/>
          </a:xfrm>
          <a:prstGeom prst="rect">
            <a:avLst/>
          </a:prstGeom>
          <a:noFill/>
        </p:spPr>
        <p:txBody>
          <a:bodyPr wrap="square" anchor="t" lIns="0" rIns="0" tIns="0" bIns="0">
            <a:spAutoFit/>
          </a:bodyPr>
          <a:lstStyle/>
          <a:p>
            <a:pPr algn="l"/>
            <a:r>
              <a:rPr sz="1800" b="1" i="0">
                <a:solidFill>
                  <a:srgbClr val="FFFFFF"/>
                </a:solidFill>
                <a:latin typeface="Calibri"/>
              </a:rPr>
              <a:t>DiligenceIQ</a:t>
            </a:r>
          </a:p>
        </p:txBody>
      </p:sp>
      <p:sp>
        <p:nvSpPr>
          <p:cNvPr id="3" name="cover_tag"/>
          <p:cNvSpPr txBox="1"/>
          <p:nvPr/>
        </p:nvSpPr>
        <p:spPr>
          <a:xfrm>
            <a:off x="502920" y="868680"/>
            <a:ext cx="3840480" cy="274320"/>
          </a:xfrm>
          <a:prstGeom prst="rect">
            <a:avLst/>
          </a:prstGeom>
          <a:noFill/>
        </p:spPr>
        <p:txBody>
          <a:bodyPr wrap="square" anchor="t" lIns="0" rIns="0" tIns="0" bIns="0">
            <a:spAutoFit/>
          </a:bodyPr>
          <a:lstStyle/>
          <a:p>
            <a:pPr algn="l"/>
            <a:r>
              <a:rPr sz="1100" b="0" i="0">
                <a:solidFill>
                  <a:srgbClr val="B9C3D1"/>
                </a:solidFill>
                <a:latin typeface="Calibri"/>
              </a:rPr>
              <a:t>Commercial due diligence</a:t>
            </a:r>
          </a:p>
        </p:txBody>
      </p:sp>
      <p:sp>
        <p:nvSpPr>
          <p:cNvPr id="4" name="report_title"/>
          <p:cNvSpPr txBox="1"/>
          <p:nvPr/>
        </p:nvSpPr>
        <p:spPr>
          <a:xfrm>
            <a:off x="502920" y="2377440"/>
            <a:ext cx="3886200" cy="1371600"/>
          </a:xfrm>
          <a:prstGeom prst="rect">
            <a:avLst/>
          </a:prstGeom>
          <a:noFill/>
        </p:spPr>
        <p:txBody>
          <a:bodyPr wrap="square" anchor="b" lIns="0" rIns="0" tIns="0" bIns="0">
            <a:spAutoFit/>
          </a:bodyPr>
          <a:lstStyle/>
          <a:p>
            <a:pPr algn="l"/>
            <a:r>
              <a:rPr sz="2600" b="1" i="0">
                <a:solidFill>
                  <a:srgbClr val="FFFFFF"/>
                </a:solidFill>
                <a:latin typeface="Calibri"/>
              </a:rPr>
              <a:t>[Commercial Due Diligence: &lt;target name&gt;]</a:t>
            </a:r>
          </a:p>
        </p:txBody>
      </p:sp>
      <p:sp>
        <p:nvSpPr>
          <p:cNvPr id="5" name="report_subtitle"/>
          <p:cNvSpPr txBox="1"/>
          <p:nvPr/>
        </p:nvSpPr>
        <p:spPr>
          <a:xfrm>
            <a:off x="502920" y="3822191"/>
            <a:ext cx="3886200" cy="457200"/>
          </a:xfrm>
          <a:prstGeom prst="rect">
            <a:avLst/>
          </a:prstGeom>
          <a:noFill/>
        </p:spPr>
        <p:txBody>
          <a:bodyPr wrap="square" anchor="t" lIns="0" rIns="0" tIns="0" bIns="0">
            <a:spAutoFit/>
          </a:bodyPr>
          <a:lstStyle/>
          <a:p>
            <a:pPr algn="l"/>
            <a:r>
              <a:rPr sz="1500" b="0" i="1">
                <a:solidFill>
                  <a:srgbClr val="F2C879"/>
                </a:solidFill>
                <a:latin typeface="Calibri"/>
              </a:rPr>
              <a:t>[Report type - status]</a:t>
            </a:r>
          </a:p>
        </p:txBody>
      </p:sp>
      <p:sp>
        <p:nvSpPr>
          <p:cNvPr id="6" name="prepared_for"/>
          <p:cNvSpPr txBox="1"/>
          <p:nvPr/>
        </p:nvSpPr>
        <p:spPr>
          <a:xfrm>
            <a:off x="502920" y="5257800"/>
            <a:ext cx="3886200" cy="457200"/>
          </a:xfrm>
          <a:prstGeom prst="rect">
            <a:avLst/>
          </a:prstGeom>
          <a:noFill/>
        </p:spPr>
        <p:txBody>
          <a:bodyPr wrap="square" anchor="t" lIns="0" rIns="0" tIns="0" bIns="0">
            <a:spAutoFit/>
          </a:bodyPr>
          <a:lstStyle/>
          <a:p>
            <a:pPr algn="l"/>
            <a:r>
              <a:rPr sz="1100" b="0" i="0">
                <a:solidFill>
                  <a:srgbClr val="FFFFFF"/>
                </a:solidFill>
                <a:latin typeface="Calibri"/>
              </a:rPr>
              <a:t>[Prepared for &lt;client&gt;]</a:t>
            </a:r>
          </a:p>
        </p:txBody>
      </p:sp>
      <p:sp>
        <p:nvSpPr>
          <p:cNvPr id="7" name="report_date"/>
          <p:cNvSpPr txBox="1"/>
          <p:nvPr/>
        </p:nvSpPr>
        <p:spPr>
          <a:xfrm>
            <a:off x="502920" y="5715000"/>
            <a:ext cx="3886200" cy="320040"/>
          </a:xfrm>
          <a:prstGeom prst="rect">
            <a:avLst/>
          </a:prstGeom>
          <a:noFill/>
        </p:spPr>
        <p:txBody>
          <a:bodyPr wrap="square" anchor="t" lIns="0" rIns="0" tIns="0" bIns="0">
            <a:spAutoFit/>
          </a:bodyPr>
          <a:lstStyle/>
          <a:p>
            <a:pPr algn="l"/>
            <a:r>
              <a:rPr sz="1100" b="0" i="0">
                <a:solidFill>
                  <a:srgbClr val="B9C3D1"/>
                </a:solidFill>
                <a:latin typeface="Calibri"/>
              </a:rPr>
              <a:t>[Month YYYY]</a:t>
            </a:r>
          </a:p>
        </p:txBody>
      </p:sp>
      <p:sp>
        <p:nvSpPr>
          <p:cNvPr id="8" name="confidential"/>
          <p:cNvSpPr txBox="1"/>
          <p:nvPr/>
        </p:nvSpPr>
        <p:spPr>
          <a:xfrm>
            <a:off x="502920" y="6144768"/>
            <a:ext cx="3886200" cy="274320"/>
          </a:xfrm>
          <a:prstGeom prst="rect">
            <a:avLst/>
          </a:prstGeom>
          <a:noFill/>
        </p:spPr>
        <p:txBody>
          <a:bodyPr wrap="square" anchor="t" lIns="0" rIns="0" tIns="0" bIns="0">
            <a:spAutoFit/>
          </a:bodyPr>
          <a:lstStyle/>
          <a:p>
            <a:pPr algn="l"/>
            <a:r>
              <a:rPr sz="900" b="1" i="0">
                <a:solidFill>
                  <a:srgbClr val="B7791F"/>
                </a:solidFill>
                <a:latin typeface="Calibri"/>
              </a:rPr>
              <a:t>CONFIDENTIAL</a:t>
            </a:r>
          </a:p>
        </p:txBody>
      </p:sp>
      <p:sp>
        <p:nvSpPr>
          <p:cNvPr id="9" name="motif_0"/>
          <p:cNvSpPr/>
          <p:nvPr/>
        </p:nvSpPr>
        <p:spPr>
          <a:xfrm>
            <a:off x="5486400" y="5029200"/>
            <a:ext cx="566928" cy="100584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otif_1"/>
          <p:cNvSpPr/>
          <p:nvPr/>
        </p:nvSpPr>
        <p:spPr>
          <a:xfrm>
            <a:off x="6355080" y="4572000"/>
            <a:ext cx="566928" cy="1463040"/>
          </a:xfrm>
          <a:prstGeom prst="rect">
            <a:avLst/>
          </a:prstGeom>
          <a:solidFill>
            <a:srgbClr val="A9C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otif_2"/>
          <p:cNvSpPr/>
          <p:nvPr/>
        </p:nvSpPr>
        <p:spPr>
          <a:xfrm>
            <a:off x="7223760" y="4754879"/>
            <a:ext cx="566928" cy="128016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tif_3"/>
          <p:cNvSpPr/>
          <p:nvPr/>
        </p:nvSpPr>
        <p:spPr>
          <a:xfrm>
            <a:off x="8092440" y="4023359"/>
            <a:ext cx="566928" cy="2011680"/>
          </a:xfrm>
          <a:prstGeom prst="rect">
            <a:avLst/>
          </a:prstGeom>
          <a:solidFill>
            <a:srgbClr val="A9C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motif_4"/>
          <p:cNvSpPr/>
          <p:nvPr/>
        </p:nvSpPr>
        <p:spPr>
          <a:xfrm>
            <a:off x="8961120" y="3566159"/>
            <a:ext cx="566928" cy="2468880"/>
          </a:xfrm>
          <a:prstGeom prst="rect">
            <a:avLst/>
          </a:prstGeom>
          <a:solidFill>
            <a:srgbClr val="5E8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otif_5"/>
          <p:cNvSpPr/>
          <p:nvPr/>
        </p:nvSpPr>
        <p:spPr>
          <a:xfrm>
            <a:off x="9829800" y="2926079"/>
            <a:ext cx="566928" cy="3108960"/>
          </a:xfrm>
          <a:prstGeom prst="rect">
            <a:avLst/>
          </a:prstGeom>
          <a:solidFill>
            <a:srgbClr val="2E4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otif_6"/>
          <p:cNvSpPr/>
          <p:nvPr/>
        </p:nvSpPr>
        <p:spPr>
          <a:xfrm>
            <a:off x="10698480" y="2103120"/>
            <a:ext cx="566928" cy="393192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motif_axis"/>
          <p:cNvCxnSpPr/>
          <p:nvPr/>
        </p:nvCxnSpPr>
        <p:spPr>
          <a:xfrm>
            <a:off x="5303520" y="6053328"/>
            <a:ext cx="6492240" cy="0"/>
          </a:xfrm>
          <a:prstGeom prst="line">
            <a:avLst/>
          </a:prstGeom>
          <a:ln w="12700">
            <a:solidFill>
              <a:srgbClr val="5B6B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S002_disclaimer">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ENGAGEMENT OVERVIEW</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02</a:t>
            </a:r>
          </a:p>
        </p:txBody>
      </p:sp>
      <p:sp>
        <p:nvSpPr>
          <p:cNvPr id="4" name="title"/>
          <p:cNvSpPr txBox="1"/>
          <p:nvPr/>
        </p:nvSpPr>
        <p:spPr>
          <a:xfrm>
            <a:off x="411480" y="384048"/>
            <a:ext cx="11338560" cy="603504"/>
          </a:xfrm>
          <a:prstGeom prst="rect">
            <a:avLst/>
          </a:prstGeom>
          <a:noFill/>
        </p:spPr>
        <p:txBody>
          <a:bodyPr wrap="square" anchor="t" lIns="0" rIns="0" tIns="0" bIns="0">
            <a:spAutoFit/>
          </a:bodyPr>
          <a:lstStyle/>
          <a:p>
            <a:pPr algn="l"/>
            <a:r>
              <a:rPr sz="2000" b="1" i="0">
                <a:solidFill>
                  <a:srgbClr val="FFFFFF"/>
                </a:solidFill>
                <a:latin typeface="Calibri"/>
              </a:rPr>
              <a:t>Disclaimer &amp; reliance limitations</a:t>
            </a:r>
          </a:p>
        </p:txBody>
      </p:sp>
      <p:sp>
        <p:nvSpPr>
          <p:cNvPr id="5" name="disclaimer_body"/>
          <p:cNvSpPr txBox="1"/>
          <p:nvPr/>
        </p:nvSpPr>
        <p:spPr>
          <a:xfrm>
            <a:off x="411480" y="1691640"/>
            <a:ext cx="11365992" cy="3291840"/>
          </a:xfrm>
          <a:prstGeom prst="rect">
            <a:avLst/>
          </a:prstGeom>
          <a:noFill/>
        </p:spPr>
        <p:txBody>
          <a:bodyPr wrap="square" anchor="t" lIns="0" rIns="0" tIns="0" bIns="0">
            <a:spAutoFit/>
          </a:bodyPr>
          <a:lstStyle/>
          <a:p>
            <a:pPr algn="l"/>
            <a:r>
              <a:rPr sz="1150" b="0" i="0">
                <a:solidFill>
                  <a:srgbClr val="1F2937"/>
                </a:solidFill>
                <a:latin typeface="Calibri"/>
              </a:rPr>
              <a:t>This report has been generated from the diligence agent outputs listed in the appendix and is limited to the information those outputs contain. It is intended solely for the addressee and for the purpose of evaluating the transaction described.</a:t>
            </a:r>
          </a:p>
          <a:p>
            <a:pPr>
              <a:spcBef>
                <a:spcPts val="900"/>
              </a:spcBef>
            </a:pPr>
            <a:r>
              <a:rPr sz="1150">
                <a:solidFill>
                  <a:srgbClr val="1F2937"/>
                </a:solidFill>
                <a:latin typeface="Calibri"/>
              </a:rPr>
              <a:t>The report does not constitute an audit, legal opinion or investment advice and provides no form of assurance. Figures are reproduced or calculated from the stated sources; where evidence was missing or inconsistent this is disclosed on the relevant slide and in the exception log.</a:t>
            </a:r>
          </a:p>
          <a:p>
            <a:pPr>
              <a:spcBef>
                <a:spcPts val="900"/>
              </a:spcBef>
            </a:pPr>
            <a:r>
              <a:rPr sz="1150">
                <a:solidFill>
                  <a:srgbClr val="1F2937"/>
                </a:solidFill>
                <a:latin typeface="Calibri"/>
              </a:rPr>
              <a:t>Slides that the evidence base could not support have been withheld rather than filled with placeholder content; every withheld page is listed with its reason in the exceptions appendix.</a:t>
            </a:r>
          </a:p>
          <a:p>
            <a:pPr>
              <a:spcBef>
                <a:spcPts val="900"/>
              </a:spcBef>
            </a:pPr>
            <a:r>
              <a:rPr sz="1150">
                <a:solidFill>
                  <a:srgbClr val="1F2937"/>
                </a:solidFill>
                <a:latin typeface="Calibri"/>
              </a:rPr>
              <a:t>Recipients should perform their own diligence before making any decision. No duty of care is accepted towards any third party, and the report may not be distributed further without prior written consent.</a:t>
            </a:r>
          </a:p>
        </p:txBody>
      </p:sp>
      <p:sp>
        <p:nvSpPr>
          <p:cNvPr id="6" name="data_notice"/>
          <p:cNvSpPr/>
          <p:nvPr/>
        </p:nvSpPr>
        <p:spPr>
          <a:xfrm>
            <a:off x="411480" y="5212080"/>
            <a:ext cx="11365992" cy="86868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420 chars]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S003_engagement">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ENGAGEMENT OVERVIEW</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03</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ad"/>
          <p:cNvSpPr/>
          <p:nvPr/>
        </p:nvSpPr>
        <p:spPr>
          <a:xfrm>
            <a:off x="411480" y="1691640"/>
            <a:ext cx="11365992" cy="65836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
        <p:nvSpPr>
          <p:cNvPr id="8" name="col1_head"/>
          <p:cNvSpPr/>
          <p:nvPr/>
        </p:nvSpPr>
        <p:spPr>
          <a:xfrm>
            <a:off x="411480" y="2487168"/>
            <a:ext cx="2141524" cy="45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050" b="1">
                <a:solidFill>
                  <a:srgbClr val="FFFFFF"/>
                </a:solidFill>
                <a:latin typeface="Calibri"/>
              </a:rPr>
              <a:t>Business &amp; Market Primer</a:t>
            </a:r>
          </a:p>
        </p:txBody>
      </p:sp>
      <p:sp>
        <p:nvSpPr>
          <p:cNvPr id="9" name="col1_body"/>
          <p:cNvSpPr/>
          <p:nvPr/>
        </p:nvSpPr>
        <p:spPr>
          <a:xfrm>
            <a:off x="411480" y="3017520"/>
            <a:ext cx="2141524" cy="310896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4 items, 95 chars each; finding first, evidence second; each item carries refs]</a:t>
            </a:r>
          </a:p>
        </p:txBody>
      </p:sp>
      <p:sp>
        <p:nvSpPr>
          <p:cNvPr id="10" name="col2_head"/>
          <p:cNvSpPr/>
          <p:nvPr/>
        </p:nvSpPr>
        <p:spPr>
          <a:xfrm>
            <a:off x="2717596" y="2487168"/>
            <a:ext cx="2141524" cy="45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050" b="1">
                <a:solidFill>
                  <a:srgbClr val="FFFFFF"/>
                </a:solidFill>
                <a:latin typeface="Calibri"/>
              </a:rPr>
              <a:t>Market Dynamics &amp; Opportunity</a:t>
            </a:r>
          </a:p>
        </p:txBody>
      </p:sp>
      <p:sp>
        <p:nvSpPr>
          <p:cNvPr id="11" name="col2_body"/>
          <p:cNvSpPr/>
          <p:nvPr/>
        </p:nvSpPr>
        <p:spPr>
          <a:xfrm>
            <a:off x="2717596" y="3017520"/>
            <a:ext cx="2141524" cy="310896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4 items, 95 chars each; finding first, evidence second; each item carries refs]</a:t>
            </a:r>
          </a:p>
        </p:txBody>
      </p:sp>
      <p:sp>
        <p:nvSpPr>
          <p:cNvPr id="12" name="col3_head"/>
          <p:cNvSpPr/>
          <p:nvPr/>
        </p:nvSpPr>
        <p:spPr>
          <a:xfrm>
            <a:off x="5023713" y="2487168"/>
            <a:ext cx="2141524" cy="45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050" b="1">
                <a:solidFill>
                  <a:srgbClr val="FFFFFF"/>
                </a:solidFill>
                <a:latin typeface="Calibri"/>
              </a:rPr>
              <a:t>Decision-Making Dynamics</a:t>
            </a:r>
          </a:p>
        </p:txBody>
      </p:sp>
      <p:sp>
        <p:nvSpPr>
          <p:cNvPr id="13" name="col3_body"/>
          <p:cNvSpPr/>
          <p:nvPr/>
        </p:nvSpPr>
        <p:spPr>
          <a:xfrm>
            <a:off x="5023713" y="3017520"/>
            <a:ext cx="2141524" cy="310896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4 items, 95 chars each; finding first, evidence second; each item carries refs]</a:t>
            </a:r>
          </a:p>
        </p:txBody>
      </p:sp>
      <p:sp>
        <p:nvSpPr>
          <p:cNvPr id="14" name="col4_head"/>
          <p:cNvSpPr/>
          <p:nvPr/>
        </p:nvSpPr>
        <p:spPr>
          <a:xfrm>
            <a:off x="7329830" y="2487168"/>
            <a:ext cx="2141524" cy="45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050" b="1">
                <a:solidFill>
                  <a:srgbClr val="FFFFFF"/>
                </a:solidFill>
                <a:latin typeface="Calibri"/>
              </a:rPr>
              <a:t>Competitive Landscape</a:t>
            </a:r>
          </a:p>
        </p:txBody>
      </p:sp>
      <p:sp>
        <p:nvSpPr>
          <p:cNvPr id="15" name="col4_body"/>
          <p:cNvSpPr/>
          <p:nvPr/>
        </p:nvSpPr>
        <p:spPr>
          <a:xfrm>
            <a:off x="7329830" y="3017520"/>
            <a:ext cx="2141524" cy="310896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4 items, 95 chars each; finding first, evidence second; each item carries refs]</a:t>
            </a:r>
          </a:p>
        </p:txBody>
      </p:sp>
      <p:sp>
        <p:nvSpPr>
          <p:cNvPr id="16" name="col5_head"/>
          <p:cNvSpPr/>
          <p:nvPr/>
        </p:nvSpPr>
        <p:spPr>
          <a:xfrm>
            <a:off x="9635947" y="2487168"/>
            <a:ext cx="2141524" cy="45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050" b="1">
                <a:solidFill>
                  <a:srgbClr val="FFFFFF"/>
                </a:solidFill>
                <a:latin typeface="Calibri"/>
              </a:rPr>
              <a:t>Growth Opportunities</a:t>
            </a:r>
          </a:p>
        </p:txBody>
      </p:sp>
      <p:sp>
        <p:nvSpPr>
          <p:cNvPr id="17" name="col5_body"/>
          <p:cNvSpPr/>
          <p:nvPr/>
        </p:nvSpPr>
        <p:spPr>
          <a:xfrm>
            <a:off x="9635947" y="3017520"/>
            <a:ext cx="2141524" cy="310896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4 items, 95 chars each; finding first, evidence second; each item carries refs]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S004_content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ENGAGEMENT OVERVIEW</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04</a:t>
            </a:r>
          </a:p>
        </p:txBody>
      </p:sp>
      <p:sp>
        <p:nvSpPr>
          <p:cNvPr id="4" name="title"/>
          <p:cNvSpPr txBox="1"/>
          <p:nvPr/>
        </p:nvSpPr>
        <p:spPr>
          <a:xfrm>
            <a:off x="411480" y="384048"/>
            <a:ext cx="11338560" cy="603504"/>
          </a:xfrm>
          <a:prstGeom prst="rect">
            <a:avLst/>
          </a:prstGeom>
          <a:noFill/>
        </p:spPr>
        <p:txBody>
          <a:bodyPr wrap="square" anchor="t" lIns="0" rIns="0" tIns="0" bIns="0">
            <a:spAutoFit/>
          </a:bodyPr>
          <a:lstStyle/>
          <a:p>
            <a:pPr algn="l"/>
            <a:r>
              <a:rPr sz="2000" b="1" i="0">
                <a:solidFill>
                  <a:srgbClr val="FFFFFF"/>
                </a:solidFill>
                <a:latin typeface="Calibri"/>
              </a:rPr>
              <a:t>Contents</a:t>
            </a:r>
          </a:p>
        </p:txBody>
      </p:sp>
      <p:sp>
        <p:nvSpPr>
          <p:cNvPr id="5" name="contents_body"/>
          <p:cNvSpPr/>
          <p:nvPr/>
        </p:nvSpPr>
        <p:spPr>
          <a:xfrm>
            <a:off x="1097280" y="1463040"/>
            <a:ext cx="10058400" cy="466344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[AUTO - section list with the first page of each section; sections whose pages were all withheld are shown struck through with a reference to the exceptions appendix]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S005_research_approach">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ENGAGEMENT OVERVIEW</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05</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Evidence base by source type</a:t>
            </a:r>
          </a:p>
        </p:txBody>
      </p:sp>
      <p:sp>
        <p:nvSpPr>
          <p:cNvPr id="8" name="lef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Coverage, limitations and what was not available</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006_survey_sample">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ENGAGEMENT OVERVIEW</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06</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Survey sample by segment (n)</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Sampling approach and representativeness</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S007_glossary">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ENGAGEMENT OVERVIEW</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07</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10 rows x 2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S008_div_business">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01</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Business Introduction &amp; Market Primer</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Who the target is, how the industry works and where the target sits in it</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1" i="0">
                <a:solidFill>
                  <a:srgbClr val="F2C879"/>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0" i="0">
                <a:solidFill>
                  <a:srgbClr val="B9C3D1"/>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0" i="0">
                <a:solidFill>
                  <a:srgbClr val="B9C3D1"/>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0" i="0">
                <a:solidFill>
                  <a:srgbClr val="B9C3D1"/>
                </a:solidFill>
                <a:latin typeface="Calibri"/>
              </a:rPr>
              <a:t>04  Decision-Making Dynamics</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0" i="0">
                <a:solidFill>
                  <a:srgbClr val="B9C3D1"/>
                </a:solidFill>
                <a:latin typeface="Calibri"/>
              </a:rPr>
              <a:t>05  Competitive Landscape</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0" i="0">
                <a:solidFill>
                  <a:srgbClr val="B9C3D1"/>
                </a:solidFill>
                <a:latin typeface="Calibri"/>
              </a:rPr>
              <a:t>06  Growth Opportunities</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0" i="0">
                <a:solidFill>
                  <a:srgbClr val="B9C3D1"/>
                </a:solidFill>
                <a:latin typeface="Calibri"/>
              </a:rPr>
              <a:t>07  Appendix A - Partner &amp; Vendor Landscape</a:t>
            </a:r>
          </a:p>
        </p:txBody>
      </p:sp>
      <p:sp>
        <p:nvSpPr>
          <p:cNvPr id="12" name="div_list_8"/>
          <p:cNvSpPr txBox="1"/>
          <p:nvPr/>
        </p:nvSpPr>
        <p:spPr>
          <a:xfrm>
            <a:off x="8503920" y="3794760"/>
            <a:ext cx="3383280" cy="310896"/>
          </a:xfrm>
          <a:prstGeom prst="rect">
            <a:avLst/>
          </a:prstGeom>
          <a:noFill/>
        </p:spPr>
        <p:txBody>
          <a:bodyPr wrap="square" anchor="t" lIns="0" rIns="0" tIns="0" bIns="0">
            <a:spAutoFit/>
          </a:bodyPr>
          <a:lstStyle/>
          <a:p>
            <a:pPr algn="l"/>
            <a:r>
              <a:rPr sz="950" b="0" i="0">
                <a:solidFill>
                  <a:srgbClr val="B9C3D1"/>
                </a:solidFill>
                <a:latin typeface="Calibri"/>
              </a:rPr>
              <a:t>08  Appendix B - Market Sizing Methodology</a:t>
            </a:r>
          </a:p>
        </p:txBody>
      </p:sp>
      <p:sp>
        <p:nvSpPr>
          <p:cNvPr id="13" name="div_list_9"/>
          <p:cNvSpPr txBox="1"/>
          <p:nvPr/>
        </p:nvSpPr>
        <p:spPr>
          <a:xfrm>
            <a:off x="8503920" y="4160520"/>
            <a:ext cx="3383280" cy="310896"/>
          </a:xfrm>
          <a:prstGeom prst="rect">
            <a:avLst/>
          </a:prstGeom>
          <a:noFill/>
        </p:spPr>
        <p:txBody>
          <a:bodyPr wrap="square" anchor="t" lIns="0" rIns="0" tIns="0" bIns="0">
            <a:spAutoFit/>
          </a:bodyPr>
          <a:lstStyle/>
          <a:p>
            <a:pPr algn="l"/>
            <a:r>
              <a:rPr sz="950" b="0" i="0">
                <a:solidFill>
                  <a:srgbClr val="B9C3D1"/>
                </a:solidFill>
                <a:latin typeface="Calibri"/>
              </a:rPr>
              <a:t>09  Appendix C - Case Studies</a:t>
            </a:r>
          </a:p>
        </p:txBody>
      </p:sp>
      <p:sp>
        <p:nvSpPr>
          <p:cNvPr id="14" name="div_list_10"/>
          <p:cNvSpPr txBox="1"/>
          <p:nvPr/>
        </p:nvSpPr>
        <p:spPr>
          <a:xfrm>
            <a:off x="8503920" y="4526280"/>
            <a:ext cx="3383280" cy="310896"/>
          </a:xfrm>
          <a:prstGeom prst="rect">
            <a:avLst/>
          </a:prstGeom>
          <a:noFill/>
        </p:spPr>
        <p:txBody>
          <a:bodyPr wrap="square" anchor="t" lIns="0" rIns="0" tIns="0" bIns="0">
            <a:spAutoFit/>
          </a:bodyPr>
          <a:lstStyle/>
          <a:p>
            <a:pPr algn="l"/>
            <a:r>
              <a:rPr sz="950" b="0" i="0">
                <a:solidFill>
                  <a:srgbClr val="B9C3D1"/>
                </a:solidFill>
                <a:latin typeface="Calibri"/>
              </a:rPr>
              <a:t>10  Appendix D - Supplementary Data</a:t>
            </a:r>
          </a:p>
        </p:txBody>
      </p:sp>
      <p:sp>
        <p:nvSpPr>
          <p:cNvPr id="15" name="div_list_11"/>
          <p:cNvSpPr txBox="1"/>
          <p:nvPr/>
        </p:nvSpPr>
        <p:spPr>
          <a:xfrm>
            <a:off x="8503920" y="4892040"/>
            <a:ext cx="3383280" cy="310896"/>
          </a:xfrm>
          <a:prstGeom prst="rect">
            <a:avLst/>
          </a:prstGeom>
          <a:noFill/>
        </p:spPr>
        <p:txBody>
          <a:bodyPr wrap="square" anchor="t" lIns="0" rIns="0" tIns="0" bIns="0">
            <a:spAutoFit/>
          </a:bodyPr>
          <a:lstStyle/>
          <a:p>
            <a:pPr algn="l"/>
            <a:r>
              <a:rPr sz="950" b="0" i="0">
                <a:solidFill>
                  <a:srgbClr val="B9C3D1"/>
                </a:solidFill>
                <a:latin typeface="Calibri"/>
              </a:rPr>
              <a:t>11  Appendix E - Evidence &amp; Audit Trail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S009_company_snapshot">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BUSINESS INTRODUCTION &amp; MARKET PRIMER</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09</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kpi1"/>
          <p:cNvSpPr/>
          <p:nvPr/>
        </p:nvSpPr>
        <p:spPr>
          <a:xfrm>
            <a:off x="411480" y="1691640"/>
            <a:ext cx="2157984" cy="102412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[KPI 1 - value + label + period]</a:t>
            </a:r>
          </a:p>
        </p:txBody>
      </p:sp>
      <p:sp>
        <p:nvSpPr>
          <p:cNvPr id="8" name="kpi2"/>
          <p:cNvSpPr/>
          <p:nvPr/>
        </p:nvSpPr>
        <p:spPr>
          <a:xfrm>
            <a:off x="2724912" y="1691640"/>
            <a:ext cx="2157984" cy="102412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[KPI 2 - value + label + period]</a:t>
            </a:r>
          </a:p>
        </p:txBody>
      </p:sp>
      <p:sp>
        <p:nvSpPr>
          <p:cNvPr id="9" name="kpi3"/>
          <p:cNvSpPr/>
          <p:nvPr/>
        </p:nvSpPr>
        <p:spPr>
          <a:xfrm>
            <a:off x="5038344" y="1691640"/>
            <a:ext cx="2157984" cy="102412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[KPI 3 - value + label + period]</a:t>
            </a:r>
          </a:p>
        </p:txBody>
      </p:sp>
      <p:sp>
        <p:nvSpPr>
          <p:cNvPr id="10" name="kpi4"/>
          <p:cNvSpPr/>
          <p:nvPr/>
        </p:nvSpPr>
        <p:spPr>
          <a:xfrm>
            <a:off x="7351775" y="1691640"/>
            <a:ext cx="2157984" cy="102412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[KPI 4 - value + label + period]</a:t>
            </a:r>
          </a:p>
        </p:txBody>
      </p:sp>
      <p:sp>
        <p:nvSpPr>
          <p:cNvPr id="11" name="kpi5"/>
          <p:cNvSpPr/>
          <p:nvPr/>
        </p:nvSpPr>
        <p:spPr>
          <a:xfrm>
            <a:off x="9665207" y="1691640"/>
            <a:ext cx="2157984" cy="102412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[KPI 5 - value + label + period]</a:t>
            </a:r>
          </a:p>
        </p:txBody>
      </p:sp>
      <p:sp>
        <p:nvSpPr>
          <p:cNvPr id="12" name="left_head"/>
          <p:cNvSpPr/>
          <p:nvPr/>
        </p:nvSpPr>
        <p:spPr>
          <a:xfrm>
            <a:off x="411480" y="2898648"/>
            <a:ext cx="557784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Key facts</a:t>
            </a:r>
          </a:p>
        </p:txBody>
      </p:sp>
      <p:sp>
        <p:nvSpPr>
          <p:cNvPr id="13" name="left"/>
          <p:cNvSpPr/>
          <p:nvPr/>
        </p:nvSpPr>
        <p:spPr>
          <a:xfrm>
            <a:off x="411480" y="3319272"/>
            <a:ext cx="5577840" cy="280720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
        <p:nvSpPr>
          <p:cNvPr id="14" name="right_head"/>
          <p:cNvSpPr/>
          <p:nvPr/>
        </p:nvSpPr>
        <p:spPr>
          <a:xfrm>
            <a:off x="6199632" y="2898648"/>
            <a:ext cx="557784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Revenue mix and financial trajectory</a:t>
            </a:r>
          </a:p>
        </p:txBody>
      </p:sp>
      <p:sp>
        <p:nvSpPr>
          <p:cNvPr id="15" name="right"/>
          <p:cNvSpPr/>
          <p:nvPr/>
        </p:nvSpPr>
        <p:spPr>
          <a:xfrm>
            <a:off x="6199632" y="3319272"/>
            <a:ext cx="5577840" cy="280720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3 series x 8 points; ONE unit and basis; mixed units are not plotted, they are triangulated in the commentary]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S010_platform_evolutio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BUSINESS INTRODUCTION &amp; MARKET PRIMER</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10</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flow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How the platform was built</a:t>
            </a:r>
          </a:p>
        </p:txBody>
      </p:sp>
      <p:sp>
        <p:nvSpPr>
          <p:cNvPr id="8" name="flow"/>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Integration record and what it implies</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S011_value_chai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BUSINESS INTRODUCTION &amp; MARKET PRIMER</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11</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S012_business_model_flow">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BUSINESS INTRODUCTION &amp; MARKET PRIMER</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12</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flow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Route to market, end to end</a:t>
            </a:r>
          </a:p>
        </p:txBody>
      </p:sp>
      <p:sp>
        <p:nvSpPr>
          <p:cNvPr id="8" name="flow"/>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Where value is captured</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S013_business_model_compariso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BUSINESS INTRODUCTION &amp; MARKET PRIMER</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13</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S014_model_scorecard">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BUSINESS INTRODUCTION &amp; MARKET PRIMER</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14</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S015_barrier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BUSINESS INTRODUCTION &amp; MARKET PRIMER</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15</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557784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Structural barriers</a:t>
            </a:r>
          </a:p>
        </p:txBody>
      </p:sp>
      <p:sp>
        <p:nvSpPr>
          <p:cNvPr id="8" name="left"/>
          <p:cNvSpPr/>
          <p:nvPr/>
        </p:nvSpPr>
        <p:spPr>
          <a:xfrm>
            <a:off x="411480" y="2112264"/>
            <a:ext cx="557784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
        <p:nvSpPr>
          <p:cNvPr id="9" name="right_head"/>
          <p:cNvSpPr/>
          <p:nvPr/>
        </p:nvSpPr>
        <p:spPr>
          <a:xfrm>
            <a:off x="6199632" y="1691640"/>
            <a:ext cx="557784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Durability and what would erode them</a:t>
            </a:r>
          </a:p>
        </p:txBody>
      </p:sp>
      <p:sp>
        <p:nvSpPr>
          <p:cNvPr id="10" name="right"/>
          <p:cNvSpPr/>
          <p:nvPr/>
        </p:nvSpPr>
        <p:spPr>
          <a:xfrm>
            <a:off x="6199632" y="2112264"/>
            <a:ext cx="557784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S016_pain_point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BUSINESS INTRODUCTION &amp; MARKET PRIMER</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16</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Incumbent pain point vs target response</a:t>
            </a:r>
          </a:p>
        </p:txBody>
      </p:sp>
      <p:sp>
        <p:nvSpPr>
          <p:cNvPr id="8" name="lef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Strength of the evidence</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S017_roadmap">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BUSINESS INTRODUCTION &amp; MARKET PRIMER</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17</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flow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Roadmap beyond the core</a:t>
            </a:r>
          </a:p>
        </p:txBody>
      </p:sp>
      <p:sp>
        <p:nvSpPr>
          <p:cNvPr id="8" name="flow"/>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Feasibility and dependencies</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S018_industry_trend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BUSINESS INTRODUCTION &amp; MARKET PRIMER</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18</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Trend and its implication</a:t>
            </a:r>
          </a:p>
        </p:txBody>
      </p:sp>
      <p:sp>
        <p:nvSpPr>
          <p:cNvPr id="8" name="lef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Net read for the target</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S019_div_highlights">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02</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Investment Highlights</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The main findings, each stated at the strength of its evidence</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0" i="0">
                <a:solidFill>
                  <a:srgbClr val="B9C3D1"/>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1" i="0">
                <a:solidFill>
                  <a:srgbClr val="F2C879"/>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0" i="0">
                <a:solidFill>
                  <a:srgbClr val="B9C3D1"/>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0" i="0">
                <a:solidFill>
                  <a:srgbClr val="B9C3D1"/>
                </a:solidFill>
                <a:latin typeface="Calibri"/>
              </a:rPr>
              <a:t>04  Decision-Making Dynamics</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0" i="0">
                <a:solidFill>
                  <a:srgbClr val="B9C3D1"/>
                </a:solidFill>
                <a:latin typeface="Calibri"/>
              </a:rPr>
              <a:t>05  Competitive Landscape</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0" i="0">
                <a:solidFill>
                  <a:srgbClr val="B9C3D1"/>
                </a:solidFill>
                <a:latin typeface="Calibri"/>
              </a:rPr>
              <a:t>06  Growth Opportunities</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0" i="0">
                <a:solidFill>
                  <a:srgbClr val="B9C3D1"/>
                </a:solidFill>
                <a:latin typeface="Calibri"/>
              </a:rPr>
              <a:t>07  Appendix A - Partner &amp; Vendor Landscape</a:t>
            </a:r>
          </a:p>
        </p:txBody>
      </p:sp>
      <p:sp>
        <p:nvSpPr>
          <p:cNvPr id="12" name="div_list_8"/>
          <p:cNvSpPr txBox="1"/>
          <p:nvPr/>
        </p:nvSpPr>
        <p:spPr>
          <a:xfrm>
            <a:off x="8503920" y="3794760"/>
            <a:ext cx="3383280" cy="310896"/>
          </a:xfrm>
          <a:prstGeom prst="rect">
            <a:avLst/>
          </a:prstGeom>
          <a:noFill/>
        </p:spPr>
        <p:txBody>
          <a:bodyPr wrap="square" anchor="t" lIns="0" rIns="0" tIns="0" bIns="0">
            <a:spAutoFit/>
          </a:bodyPr>
          <a:lstStyle/>
          <a:p>
            <a:pPr algn="l"/>
            <a:r>
              <a:rPr sz="950" b="0" i="0">
                <a:solidFill>
                  <a:srgbClr val="B9C3D1"/>
                </a:solidFill>
                <a:latin typeface="Calibri"/>
              </a:rPr>
              <a:t>08  Appendix B - Market Sizing Methodology</a:t>
            </a:r>
          </a:p>
        </p:txBody>
      </p:sp>
      <p:sp>
        <p:nvSpPr>
          <p:cNvPr id="13" name="div_list_9"/>
          <p:cNvSpPr txBox="1"/>
          <p:nvPr/>
        </p:nvSpPr>
        <p:spPr>
          <a:xfrm>
            <a:off x="8503920" y="4160520"/>
            <a:ext cx="3383280" cy="310896"/>
          </a:xfrm>
          <a:prstGeom prst="rect">
            <a:avLst/>
          </a:prstGeom>
          <a:noFill/>
        </p:spPr>
        <p:txBody>
          <a:bodyPr wrap="square" anchor="t" lIns="0" rIns="0" tIns="0" bIns="0">
            <a:spAutoFit/>
          </a:bodyPr>
          <a:lstStyle/>
          <a:p>
            <a:pPr algn="l"/>
            <a:r>
              <a:rPr sz="950" b="0" i="0">
                <a:solidFill>
                  <a:srgbClr val="B9C3D1"/>
                </a:solidFill>
                <a:latin typeface="Calibri"/>
              </a:rPr>
              <a:t>09  Appendix C - Case Studies</a:t>
            </a:r>
          </a:p>
        </p:txBody>
      </p:sp>
      <p:sp>
        <p:nvSpPr>
          <p:cNvPr id="14" name="div_list_10"/>
          <p:cNvSpPr txBox="1"/>
          <p:nvPr/>
        </p:nvSpPr>
        <p:spPr>
          <a:xfrm>
            <a:off x="8503920" y="4526280"/>
            <a:ext cx="3383280" cy="310896"/>
          </a:xfrm>
          <a:prstGeom prst="rect">
            <a:avLst/>
          </a:prstGeom>
          <a:noFill/>
        </p:spPr>
        <p:txBody>
          <a:bodyPr wrap="square" anchor="t" lIns="0" rIns="0" tIns="0" bIns="0">
            <a:spAutoFit/>
          </a:bodyPr>
          <a:lstStyle/>
          <a:p>
            <a:pPr algn="l"/>
            <a:r>
              <a:rPr sz="950" b="0" i="0">
                <a:solidFill>
                  <a:srgbClr val="B9C3D1"/>
                </a:solidFill>
                <a:latin typeface="Calibri"/>
              </a:rPr>
              <a:t>10  Appendix D - Supplementary Data</a:t>
            </a:r>
          </a:p>
        </p:txBody>
      </p:sp>
      <p:sp>
        <p:nvSpPr>
          <p:cNvPr id="15" name="div_list_11"/>
          <p:cNvSpPr txBox="1"/>
          <p:nvPr/>
        </p:nvSpPr>
        <p:spPr>
          <a:xfrm>
            <a:off x="8503920" y="4892040"/>
            <a:ext cx="3383280" cy="310896"/>
          </a:xfrm>
          <a:prstGeom prst="rect">
            <a:avLst/>
          </a:prstGeom>
          <a:noFill/>
        </p:spPr>
        <p:txBody>
          <a:bodyPr wrap="square" anchor="t" lIns="0" rIns="0" tIns="0" bIns="0">
            <a:spAutoFit/>
          </a:bodyPr>
          <a:lstStyle/>
          <a:p>
            <a:pPr algn="l"/>
            <a:r>
              <a:rPr sz="950" b="0" i="0">
                <a:solidFill>
                  <a:srgbClr val="B9C3D1"/>
                </a:solidFill>
                <a:latin typeface="Calibri"/>
              </a:rPr>
              <a:t>11  Appendix E - Evidence &amp; Audit Trail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S020_highlights_summary">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INVESTMENT HIGHLIGHTS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20</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rows"/>
          <p:cNvSpPr/>
          <p:nvPr/>
        </p:nvSpPr>
        <p:spPr>
          <a:xfrm>
            <a:off x="411480" y="1691640"/>
            <a:ext cx="11365992" cy="443484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S021_h1_market_size">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INVESTMENT HIGHLIGHTS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21</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TAM / SAM / served market</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Basis, sources and confidence</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S022_h1_sam_walkup">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INVESTMENT HIGHLIGHTS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22</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SAM expansion build</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What each step assumes</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S023_h1_growth_driver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INVESTMENT HIGHLIGHTS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23</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Driver, magnitude and evidence</a:t>
            </a:r>
          </a:p>
        </p:txBody>
      </p:sp>
      <p:sp>
        <p:nvSpPr>
          <p:cNvPr id="8" name="lef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Net growth read</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S024_h1_recessio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INVESTMENT HIGHLIGHTS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24</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Behaviour through the last downturn</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Why demand held or did not</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S025_h2_demand_alignment">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INVESTMENT HIGHLIGHTS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25</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What buyers need vs what the target offers</a:t>
            </a:r>
          </a:p>
        </p:txBody>
      </p:sp>
      <p:sp>
        <p:nvSpPr>
          <p:cNvPr id="8" name="lef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Where alignment is weakest</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S026_h2_lifecycle_fit">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INVESTMENT HIGHLIGHTS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26</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flow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Customer lifecycle and where the target fits</a:t>
            </a:r>
          </a:p>
        </p:txBody>
      </p:sp>
      <p:sp>
        <p:nvSpPr>
          <p:cNvPr id="8" name="flow"/>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Evidence and gaps</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name="S027_h3_satisfactio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INVESTMENT HIGHLIGHTS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27</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Satisfaction and advocacy</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What drives the score</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S028_h4_incumbent_dissatisfactio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INVESTMENT HIGHLIGHTS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28</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Dissatisfaction with incumbents</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The opening this creates</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name="S029_h4_differentiatio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INVESTMENT HIGHLIGHTS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29</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name="S030_h4_full_suite">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INVESTMENT HIGHLIGHTS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30</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Receptivity to a full-suite offer</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Willingness to pay and caveats</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name="S031_h5_growth_lever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INVESTMENT HIGHLIGHTS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31</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rows"/>
          <p:cNvSpPr/>
          <p:nvPr/>
        </p:nvSpPr>
        <p:spPr>
          <a:xfrm>
            <a:off x="411480" y="1691640"/>
            <a:ext cx="11365992" cy="443484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name="S032_div_market">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03</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Market Dynamics &amp; Opportunity</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How large, how fast-growing and how resilient the addressable market is</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0" i="0">
                <a:solidFill>
                  <a:srgbClr val="B9C3D1"/>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0" i="0">
                <a:solidFill>
                  <a:srgbClr val="B9C3D1"/>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1" i="0">
                <a:solidFill>
                  <a:srgbClr val="F2C879"/>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0" i="0">
                <a:solidFill>
                  <a:srgbClr val="B9C3D1"/>
                </a:solidFill>
                <a:latin typeface="Calibri"/>
              </a:rPr>
              <a:t>04  Decision-Making Dynamics</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0" i="0">
                <a:solidFill>
                  <a:srgbClr val="B9C3D1"/>
                </a:solidFill>
                <a:latin typeface="Calibri"/>
              </a:rPr>
              <a:t>05  Competitive Landscape</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0" i="0">
                <a:solidFill>
                  <a:srgbClr val="B9C3D1"/>
                </a:solidFill>
                <a:latin typeface="Calibri"/>
              </a:rPr>
              <a:t>06  Growth Opportunities</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0" i="0">
                <a:solidFill>
                  <a:srgbClr val="B9C3D1"/>
                </a:solidFill>
                <a:latin typeface="Calibri"/>
              </a:rPr>
              <a:t>07  Appendix A - Partner &amp; Vendor Landscape</a:t>
            </a:r>
          </a:p>
        </p:txBody>
      </p:sp>
      <p:sp>
        <p:nvSpPr>
          <p:cNvPr id="12" name="div_list_8"/>
          <p:cNvSpPr txBox="1"/>
          <p:nvPr/>
        </p:nvSpPr>
        <p:spPr>
          <a:xfrm>
            <a:off x="8503920" y="3794760"/>
            <a:ext cx="3383280" cy="310896"/>
          </a:xfrm>
          <a:prstGeom prst="rect">
            <a:avLst/>
          </a:prstGeom>
          <a:noFill/>
        </p:spPr>
        <p:txBody>
          <a:bodyPr wrap="square" anchor="t" lIns="0" rIns="0" tIns="0" bIns="0">
            <a:spAutoFit/>
          </a:bodyPr>
          <a:lstStyle/>
          <a:p>
            <a:pPr algn="l"/>
            <a:r>
              <a:rPr sz="950" b="0" i="0">
                <a:solidFill>
                  <a:srgbClr val="B9C3D1"/>
                </a:solidFill>
                <a:latin typeface="Calibri"/>
              </a:rPr>
              <a:t>08  Appendix B - Market Sizing Methodology</a:t>
            </a:r>
          </a:p>
        </p:txBody>
      </p:sp>
      <p:sp>
        <p:nvSpPr>
          <p:cNvPr id="13" name="div_list_9"/>
          <p:cNvSpPr txBox="1"/>
          <p:nvPr/>
        </p:nvSpPr>
        <p:spPr>
          <a:xfrm>
            <a:off x="8503920" y="4160520"/>
            <a:ext cx="3383280" cy="310896"/>
          </a:xfrm>
          <a:prstGeom prst="rect">
            <a:avLst/>
          </a:prstGeom>
          <a:noFill/>
        </p:spPr>
        <p:txBody>
          <a:bodyPr wrap="square" anchor="t" lIns="0" rIns="0" tIns="0" bIns="0">
            <a:spAutoFit/>
          </a:bodyPr>
          <a:lstStyle/>
          <a:p>
            <a:pPr algn="l"/>
            <a:r>
              <a:rPr sz="950" b="0" i="0">
                <a:solidFill>
                  <a:srgbClr val="B9C3D1"/>
                </a:solidFill>
                <a:latin typeface="Calibri"/>
              </a:rPr>
              <a:t>09  Appendix C - Case Studies</a:t>
            </a:r>
          </a:p>
        </p:txBody>
      </p:sp>
      <p:sp>
        <p:nvSpPr>
          <p:cNvPr id="14" name="div_list_10"/>
          <p:cNvSpPr txBox="1"/>
          <p:nvPr/>
        </p:nvSpPr>
        <p:spPr>
          <a:xfrm>
            <a:off x="8503920" y="4526280"/>
            <a:ext cx="3383280" cy="310896"/>
          </a:xfrm>
          <a:prstGeom prst="rect">
            <a:avLst/>
          </a:prstGeom>
          <a:noFill/>
        </p:spPr>
        <p:txBody>
          <a:bodyPr wrap="square" anchor="t" lIns="0" rIns="0" tIns="0" bIns="0">
            <a:spAutoFit/>
          </a:bodyPr>
          <a:lstStyle/>
          <a:p>
            <a:pPr algn="l"/>
            <a:r>
              <a:rPr sz="950" b="0" i="0">
                <a:solidFill>
                  <a:srgbClr val="B9C3D1"/>
                </a:solidFill>
                <a:latin typeface="Calibri"/>
              </a:rPr>
              <a:t>10  Appendix D - Supplementary Data</a:t>
            </a:r>
          </a:p>
        </p:txBody>
      </p:sp>
      <p:sp>
        <p:nvSpPr>
          <p:cNvPr id="15" name="div_list_11"/>
          <p:cNvSpPr txBox="1"/>
          <p:nvPr/>
        </p:nvSpPr>
        <p:spPr>
          <a:xfrm>
            <a:off x="8503920" y="4892040"/>
            <a:ext cx="3383280" cy="310896"/>
          </a:xfrm>
          <a:prstGeom prst="rect">
            <a:avLst/>
          </a:prstGeom>
          <a:noFill/>
        </p:spPr>
        <p:txBody>
          <a:bodyPr wrap="square" anchor="t" lIns="0" rIns="0" tIns="0" bIns="0">
            <a:spAutoFit/>
          </a:bodyPr>
          <a:lstStyle/>
          <a:p>
            <a:pPr algn="l"/>
            <a:r>
              <a:rPr sz="950" b="0" i="0">
                <a:solidFill>
                  <a:srgbClr val="B9C3D1"/>
                </a:solidFill>
                <a:latin typeface="Calibri"/>
              </a:rPr>
              <a:t>11  Appendix E - Evidence &amp; Audit Trail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name="S033_icp_mapping">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33</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name="S034_market_definition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34</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name="S035_volume_narrowing">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35</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From universe to addressable volume</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Each narrowing step and its source</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name="S036_volume_by_channel">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36</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Addressable volume by channel</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Channel economics and reach</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name="S037_tam_walkdow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37</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TAM by segment, walked down to SAM</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Exclusions and why</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name="S038_sam_by_endmarket">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38</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SAM by end-market and channel</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Served share and headroom</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S039_value_added_service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39</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Service, attach rate and price point</a:t>
            </a:r>
          </a:p>
        </p:txBody>
      </p:sp>
      <p:sp>
        <p:nvSpPr>
          <p:cNvPr id="8" name="lef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Revenue potential and evidence</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S040_growth_factors_overview">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40</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rows"/>
          <p:cNvSpPr/>
          <p:nvPr/>
        </p:nvSpPr>
        <p:spPr>
          <a:xfrm>
            <a:off x="411480" y="1691640"/>
            <a:ext cx="11365992" cy="443484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name="S041_gf1_demand">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41</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Underlying demand series</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Driver mechanics and durability</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name="S042_gf2_mix_shift">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42</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Mix shift to monetizable modes</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Why the shift is happening</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name="S043_gf3_channel_adoptio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43</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Adoption of the emerging channel</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Adoption drivers and blockers</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name="S044_gf3_channel_stickines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44</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Stickiness once adopted</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What keeps buyers in the channel</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name="S045_gf4_pricing_stability">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45</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Price and margin through the cycle</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Pricing power and pass-through</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name="S046_sam_growth_build">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46</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557784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Growth build by factor</a:t>
            </a:r>
          </a:p>
        </p:txBody>
      </p:sp>
      <p:sp>
        <p:nvSpPr>
          <p:cNvPr id="8" name="left"/>
          <p:cNvSpPr/>
          <p:nvPr/>
        </p:nvSpPr>
        <p:spPr>
          <a:xfrm>
            <a:off x="411480" y="2112264"/>
            <a:ext cx="5577840" cy="340156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6199632" y="1691640"/>
            <a:ext cx="557784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SAM trajectory</a:t>
            </a:r>
          </a:p>
        </p:txBody>
      </p:sp>
      <p:sp>
        <p:nvSpPr>
          <p:cNvPr id="10" name="right"/>
          <p:cNvSpPr/>
          <p:nvPr/>
        </p:nvSpPr>
        <p:spPr>
          <a:xfrm>
            <a:off x="6199632" y="2112264"/>
            <a:ext cx="5577840" cy="340156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11"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name="S047_scenario_analysi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47</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name="S048_downturn_resilience">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48</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Downturn behaviour, modelled</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Resilience mechanisms and their limits</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name="S049_risk_assessment">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MARKET DYNAMICS &amp; OPPORTUNITY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49</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Risk register - impact x likelihood</a:t>
            </a:r>
          </a:p>
        </p:txBody>
      </p:sp>
      <p:sp>
        <p:nvSpPr>
          <p:cNvPr id="8" name="lef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Mitigations and residual exposure</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name="S050_div_decisions">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04</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Decision-Making Dynamics</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How buyers choose, what makes them switch and how hard switching is</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0" i="0">
                <a:solidFill>
                  <a:srgbClr val="B9C3D1"/>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0" i="0">
                <a:solidFill>
                  <a:srgbClr val="B9C3D1"/>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0" i="0">
                <a:solidFill>
                  <a:srgbClr val="B9C3D1"/>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1" i="0">
                <a:solidFill>
                  <a:srgbClr val="F2C879"/>
                </a:solidFill>
                <a:latin typeface="Calibri"/>
              </a:rPr>
              <a:t>04  Decision-Making Dynamics</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0" i="0">
                <a:solidFill>
                  <a:srgbClr val="B9C3D1"/>
                </a:solidFill>
                <a:latin typeface="Calibri"/>
              </a:rPr>
              <a:t>05  Competitive Landscape</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0" i="0">
                <a:solidFill>
                  <a:srgbClr val="B9C3D1"/>
                </a:solidFill>
                <a:latin typeface="Calibri"/>
              </a:rPr>
              <a:t>06  Growth Opportunities</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0" i="0">
                <a:solidFill>
                  <a:srgbClr val="B9C3D1"/>
                </a:solidFill>
                <a:latin typeface="Calibri"/>
              </a:rPr>
              <a:t>07  Appendix A - Partner &amp; Vendor Landscape</a:t>
            </a:r>
          </a:p>
        </p:txBody>
      </p:sp>
      <p:sp>
        <p:nvSpPr>
          <p:cNvPr id="12" name="div_list_8"/>
          <p:cNvSpPr txBox="1"/>
          <p:nvPr/>
        </p:nvSpPr>
        <p:spPr>
          <a:xfrm>
            <a:off x="8503920" y="3794760"/>
            <a:ext cx="3383280" cy="310896"/>
          </a:xfrm>
          <a:prstGeom prst="rect">
            <a:avLst/>
          </a:prstGeom>
          <a:noFill/>
        </p:spPr>
        <p:txBody>
          <a:bodyPr wrap="square" anchor="t" lIns="0" rIns="0" tIns="0" bIns="0">
            <a:spAutoFit/>
          </a:bodyPr>
          <a:lstStyle/>
          <a:p>
            <a:pPr algn="l"/>
            <a:r>
              <a:rPr sz="950" b="0" i="0">
                <a:solidFill>
                  <a:srgbClr val="B9C3D1"/>
                </a:solidFill>
                <a:latin typeface="Calibri"/>
              </a:rPr>
              <a:t>08  Appendix B - Market Sizing Methodology</a:t>
            </a:r>
          </a:p>
        </p:txBody>
      </p:sp>
      <p:sp>
        <p:nvSpPr>
          <p:cNvPr id="13" name="div_list_9"/>
          <p:cNvSpPr txBox="1"/>
          <p:nvPr/>
        </p:nvSpPr>
        <p:spPr>
          <a:xfrm>
            <a:off x="8503920" y="4160520"/>
            <a:ext cx="3383280" cy="310896"/>
          </a:xfrm>
          <a:prstGeom prst="rect">
            <a:avLst/>
          </a:prstGeom>
          <a:noFill/>
        </p:spPr>
        <p:txBody>
          <a:bodyPr wrap="square" anchor="t" lIns="0" rIns="0" tIns="0" bIns="0">
            <a:spAutoFit/>
          </a:bodyPr>
          <a:lstStyle/>
          <a:p>
            <a:pPr algn="l"/>
            <a:r>
              <a:rPr sz="950" b="0" i="0">
                <a:solidFill>
                  <a:srgbClr val="B9C3D1"/>
                </a:solidFill>
                <a:latin typeface="Calibri"/>
              </a:rPr>
              <a:t>09  Appendix C - Case Studies</a:t>
            </a:r>
          </a:p>
        </p:txBody>
      </p:sp>
      <p:sp>
        <p:nvSpPr>
          <p:cNvPr id="14" name="div_list_10"/>
          <p:cNvSpPr txBox="1"/>
          <p:nvPr/>
        </p:nvSpPr>
        <p:spPr>
          <a:xfrm>
            <a:off x="8503920" y="4526280"/>
            <a:ext cx="3383280" cy="310896"/>
          </a:xfrm>
          <a:prstGeom prst="rect">
            <a:avLst/>
          </a:prstGeom>
          <a:noFill/>
        </p:spPr>
        <p:txBody>
          <a:bodyPr wrap="square" anchor="t" lIns="0" rIns="0" tIns="0" bIns="0">
            <a:spAutoFit/>
          </a:bodyPr>
          <a:lstStyle/>
          <a:p>
            <a:pPr algn="l"/>
            <a:r>
              <a:rPr sz="950" b="0" i="0">
                <a:solidFill>
                  <a:srgbClr val="B9C3D1"/>
                </a:solidFill>
                <a:latin typeface="Calibri"/>
              </a:rPr>
              <a:t>10  Appendix D - Supplementary Data</a:t>
            </a:r>
          </a:p>
        </p:txBody>
      </p:sp>
      <p:sp>
        <p:nvSpPr>
          <p:cNvPr id="15" name="div_list_11"/>
          <p:cNvSpPr txBox="1"/>
          <p:nvPr/>
        </p:nvSpPr>
        <p:spPr>
          <a:xfrm>
            <a:off x="8503920" y="4892040"/>
            <a:ext cx="3383280" cy="310896"/>
          </a:xfrm>
          <a:prstGeom prst="rect">
            <a:avLst/>
          </a:prstGeom>
          <a:noFill/>
        </p:spPr>
        <p:txBody>
          <a:bodyPr wrap="square" anchor="t" lIns="0" rIns="0" tIns="0" bIns="0">
            <a:spAutoFit/>
          </a:bodyPr>
          <a:lstStyle/>
          <a:p>
            <a:pPr algn="l"/>
            <a:r>
              <a:rPr sz="950" b="0" i="0">
                <a:solidFill>
                  <a:srgbClr val="B9C3D1"/>
                </a:solidFill>
                <a:latin typeface="Calibri"/>
              </a:rPr>
              <a:t>11  Appendix E - Evidence &amp; Audit Trail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S051_partner_switching_lifecycle">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DECISION-MAKING DYNAMICS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51</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flow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Partner switching lifecycle</a:t>
            </a:r>
          </a:p>
        </p:txBody>
      </p:sp>
      <p:sp>
        <p:nvSpPr>
          <p:cNvPr id="8" name="flow"/>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Where partners are won and lost</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name="S052_switching_driver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DECISION-MAKING DYNAMICS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52</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Trigger, frequency and evidence</a:t>
            </a:r>
          </a:p>
        </p:txBody>
      </p:sp>
      <p:sp>
        <p:nvSpPr>
          <p:cNvPr id="8" name="lef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Implication for win rate</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name="S053_decision_tree">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DECISION-MAKING DYNAMICS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53</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flow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How a buyer reaches a decision</a:t>
            </a:r>
          </a:p>
        </p:txBody>
      </p:sp>
      <p:sp>
        <p:nvSpPr>
          <p:cNvPr id="8" name="flow"/>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Where deals are lost</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name="S054_decision_proces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DECISION-MAKING DYNAMICS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54</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name="S055_purchase_criteria">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DECISION-MAKING DYNAMICS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55</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name="S056_vertical_need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DECISION-MAKING DYNAMICS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56</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name="S057_switching_complexity">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DECISION-MAKING DYNAMICS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57</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Switching complexity by segment</a:t>
            </a:r>
          </a:p>
        </p:txBody>
      </p:sp>
      <p:sp>
        <p:nvSpPr>
          <p:cNvPr id="8" name="lef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What this means for retention and for attack</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name="S058_div_competition">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05</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Competitive Landscape</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Who the target competes with and whether its advantages hold up</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0" i="0">
                <a:solidFill>
                  <a:srgbClr val="B9C3D1"/>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0" i="0">
                <a:solidFill>
                  <a:srgbClr val="B9C3D1"/>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0" i="0">
                <a:solidFill>
                  <a:srgbClr val="B9C3D1"/>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0" i="0">
                <a:solidFill>
                  <a:srgbClr val="B9C3D1"/>
                </a:solidFill>
                <a:latin typeface="Calibri"/>
              </a:rPr>
              <a:t>04  Decision-Making Dynamics</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1" i="0">
                <a:solidFill>
                  <a:srgbClr val="F2C879"/>
                </a:solidFill>
                <a:latin typeface="Calibri"/>
              </a:rPr>
              <a:t>05  Competitive Landscape</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0" i="0">
                <a:solidFill>
                  <a:srgbClr val="B9C3D1"/>
                </a:solidFill>
                <a:latin typeface="Calibri"/>
              </a:rPr>
              <a:t>06  Growth Opportunities</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0" i="0">
                <a:solidFill>
                  <a:srgbClr val="B9C3D1"/>
                </a:solidFill>
                <a:latin typeface="Calibri"/>
              </a:rPr>
              <a:t>07  Appendix A - Partner &amp; Vendor Landscape</a:t>
            </a:r>
          </a:p>
        </p:txBody>
      </p:sp>
      <p:sp>
        <p:nvSpPr>
          <p:cNvPr id="12" name="div_list_8"/>
          <p:cNvSpPr txBox="1"/>
          <p:nvPr/>
        </p:nvSpPr>
        <p:spPr>
          <a:xfrm>
            <a:off x="8503920" y="3794760"/>
            <a:ext cx="3383280" cy="310896"/>
          </a:xfrm>
          <a:prstGeom prst="rect">
            <a:avLst/>
          </a:prstGeom>
          <a:noFill/>
        </p:spPr>
        <p:txBody>
          <a:bodyPr wrap="square" anchor="t" lIns="0" rIns="0" tIns="0" bIns="0">
            <a:spAutoFit/>
          </a:bodyPr>
          <a:lstStyle/>
          <a:p>
            <a:pPr algn="l"/>
            <a:r>
              <a:rPr sz="950" b="0" i="0">
                <a:solidFill>
                  <a:srgbClr val="B9C3D1"/>
                </a:solidFill>
                <a:latin typeface="Calibri"/>
              </a:rPr>
              <a:t>08  Appendix B - Market Sizing Methodology</a:t>
            </a:r>
          </a:p>
        </p:txBody>
      </p:sp>
      <p:sp>
        <p:nvSpPr>
          <p:cNvPr id="13" name="div_list_9"/>
          <p:cNvSpPr txBox="1"/>
          <p:nvPr/>
        </p:nvSpPr>
        <p:spPr>
          <a:xfrm>
            <a:off x="8503920" y="4160520"/>
            <a:ext cx="3383280" cy="310896"/>
          </a:xfrm>
          <a:prstGeom prst="rect">
            <a:avLst/>
          </a:prstGeom>
          <a:noFill/>
        </p:spPr>
        <p:txBody>
          <a:bodyPr wrap="square" anchor="t" lIns="0" rIns="0" tIns="0" bIns="0">
            <a:spAutoFit/>
          </a:bodyPr>
          <a:lstStyle/>
          <a:p>
            <a:pPr algn="l"/>
            <a:r>
              <a:rPr sz="950" b="0" i="0">
                <a:solidFill>
                  <a:srgbClr val="B9C3D1"/>
                </a:solidFill>
                <a:latin typeface="Calibri"/>
              </a:rPr>
              <a:t>09  Appendix C - Case Studies</a:t>
            </a:r>
          </a:p>
        </p:txBody>
      </p:sp>
      <p:sp>
        <p:nvSpPr>
          <p:cNvPr id="14" name="div_list_10"/>
          <p:cNvSpPr txBox="1"/>
          <p:nvPr/>
        </p:nvSpPr>
        <p:spPr>
          <a:xfrm>
            <a:off x="8503920" y="4526280"/>
            <a:ext cx="3383280" cy="310896"/>
          </a:xfrm>
          <a:prstGeom prst="rect">
            <a:avLst/>
          </a:prstGeom>
          <a:noFill/>
        </p:spPr>
        <p:txBody>
          <a:bodyPr wrap="square" anchor="t" lIns="0" rIns="0" tIns="0" bIns="0">
            <a:spAutoFit/>
          </a:bodyPr>
          <a:lstStyle/>
          <a:p>
            <a:pPr algn="l"/>
            <a:r>
              <a:rPr sz="950" b="0" i="0">
                <a:solidFill>
                  <a:srgbClr val="B9C3D1"/>
                </a:solidFill>
                <a:latin typeface="Calibri"/>
              </a:rPr>
              <a:t>10  Appendix D - Supplementary Data</a:t>
            </a:r>
          </a:p>
        </p:txBody>
      </p:sp>
      <p:sp>
        <p:nvSpPr>
          <p:cNvPr id="15" name="div_list_11"/>
          <p:cNvSpPr txBox="1"/>
          <p:nvPr/>
        </p:nvSpPr>
        <p:spPr>
          <a:xfrm>
            <a:off x="8503920" y="4892040"/>
            <a:ext cx="3383280" cy="310896"/>
          </a:xfrm>
          <a:prstGeom prst="rect">
            <a:avLst/>
          </a:prstGeom>
          <a:noFill/>
        </p:spPr>
        <p:txBody>
          <a:bodyPr wrap="square" anchor="t" lIns="0" rIns="0" tIns="0" bIns="0">
            <a:spAutoFit/>
          </a:bodyPr>
          <a:lstStyle/>
          <a:p>
            <a:pPr algn="l"/>
            <a:r>
              <a:rPr sz="950" b="0" i="0">
                <a:solidFill>
                  <a:srgbClr val="B9C3D1"/>
                </a:solidFill>
                <a:latin typeface="Calibri"/>
              </a:rPr>
              <a:t>11  Appendix E - Evidence &amp; Audit Trail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name="S059_routes_to_market">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COMPETITIVE LANDSCAPE</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59</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flow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Routes to market and where competition happens</a:t>
            </a:r>
          </a:p>
        </p:txBody>
      </p:sp>
      <p:sp>
        <p:nvSpPr>
          <p:cNvPr id="8" name="flow"/>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Where the target wins and loses</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name="S060_competitor_archetype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COMPETITIVE LANDSCAPE</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60</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name="S061_positioning_map">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COMPETITIVE LANDSCAPE</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61</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Positioning on capability and price</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Reading the map</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name="S062_criteria_vs_archetype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COMPETITIVE LANDSCAPE</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62</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name="S063_feature_benchmarking">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COMPETITIVE LANDSCAPE</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63</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name="S064_price_benchmarking">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COMPETITIVE LANDSCAPE</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64</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Price benchmarking by archetype</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Where the target sits and why</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name="S065_incumbent_np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COMPETITIVE LANDSCAPE</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65</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NPS by provider type</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What the spread reveals</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name="S066_competitor_painpoint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COMPETITIVE LANDSCAPE</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66</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Pain point by competitor archetype</a:t>
            </a:r>
          </a:p>
        </p:txBody>
      </p:sp>
      <p:sp>
        <p:nvSpPr>
          <p:cNvPr id="8" name="lef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Which the target can exploit</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name="S067_full_suite_wtp">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COMPETITIVE LANDSCAPE</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67</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Full-suite demand and willingness to pay</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Pricing headroom and risk</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name="S068_churn_trigger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COMPETITIVE LANDSCAPE</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68</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Churn trigger, frequency and severity</a:t>
            </a:r>
          </a:p>
        </p:txBody>
      </p:sp>
      <p:sp>
        <p:nvSpPr>
          <p:cNvPr id="8" name="lef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Addressability</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name="S069_target_strength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COMPETITIVE LANDSCAPE</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69</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quotes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What customers say the target does well</a:t>
            </a:r>
          </a:p>
        </p:txBody>
      </p:sp>
      <p:sp>
        <p:nvSpPr>
          <p:cNvPr id="8" name="quotes"/>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Pattern across respondents</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name="S070_target_development_area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COMPETITIVE LANDSCAPE</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70</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quotes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Where customers say the target falls short</a:t>
            </a:r>
          </a:p>
        </p:txBody>
      </p:sp>
      <p:sp>
        <p:nvSpPr>
          <p:cNvPr id="8" name="quotes"/>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Severity and remediability</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name="S071_div_growth">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06</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Growth Opportunities</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Where the incremental value is and what has to be true to capture it</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0" i="0">
                <a:solidFill>
                  <a:srgbClr val="B9C3D1"/>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0" i="0">
                <a:solidFill>
                  <a:srgbClr val="B9C3D1"/>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0" i="0">
                <a:solidFill>
                  <a:srgbClr val="B9C3D1"/>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0" i="0">
                <a:solidFill>
                  <a:srgbClr val="B9C3D1"/>
                </a:solidFill>
                <a:latin typeface="Calibri"/>
              </a:rPr>
              <a:t>04  Decision-Making Dynamics</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0" i="0">
                <a:solidFill>
                  <a:srgbClr val="B9C3D1"/>
                </a:solidFill>
                <a:latin typeface="Calibri"/>
              </a:rPr>
              <a:t>05  Competitive Landscape</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1" i="0">
                <a:solidFill>
                  <a:srgbClr val="F2C879"/>
                </a:solidFill>
                <a:latin typeface="Calibri"/>
              </a:rPr>
              <a:t>06  Growth Opportunities</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0" i="0">
                <a:solidFill>
                  <a:srgbClr val="B9C3D1"/>
                </a:solidFill>
                <a:latin typeface="Calibri"/>
              </a:rPr>
              <a:t>07  Appendix A - Partner &amp; Vendor Landscape</a:t>
            </a:r>
          </a:p>
        </p:txBody>
      </p:sp>
      <p:sp>
        <p:nvSpPr>
          <p:cNvPr id="12" name="div_list_8"/>
          <p:cNvSpPr txBox="1"/>
          <p:nvPr/>
        </p:nvSpPr>
        <p:spPr>
          <a:xfrm>
            <a:off x="8503920" y="3794760"/>
            <a:ext cx="3383280" cy="310896"/>
          </a:xfrm>
          <a:prstGeom prst="rect">
            <a:avLst/>
          </a:prstGeom>
          <a:noFill/>
        </p:spPr>
        <p:txBody>
          <a:bodyPr wrap="square" anchor="t" lIns="0" rIns="0" tIns="0" bIns="0">
            <a:spAutoFit/>
          </a:bodyPr>
          <a:lstStyle/>
          <a:p>
            <a:pPr algn="l"/>
            <a:r>
              <a:rPr sz="950" b="0" i="0">
                <a:solidFill>
                  <a:srgbClr val="B9C3D1"/>
                </a:solidFill>
                <a:latin typeface="Calibri"/>
              </a:rPr>
              <a:t>08  Appendix B - Market Sizing Methodology</a:t>
            </a:r>
          </a:p>
        </p:txBody>
      </p:sp>
      <p:sp>
        <p:nvSpPr>
          <p:cNvPr id="13" name="div_list_9"/>
          <p:cNvSpPr txBox="1"/>
          <p:nvPr/>
        </p:nvSpPr>
        <p:spPr>
          <a:xfrm>
            <a:off x="8503920" y="4160520"/>
            <a:ext cx="3383280" cy="310896"/>
          </a:xfrm>
          <a:prstGeom prst="rect">
            <a:avLst/>
          </a:prstGeom>
          <a:noFill/>
        </p:spPr>
        <p:txBody>
          <a:bodyPr wrap="square" anchor="t" lIns="0" rIns="0" tIns="0" bIns="0">
            <a:spAutoFit/>
          </a:bodyPr>
          <a:lstStyle/>
          <a:p>
            <a:pPr algn="l"/>
            <a:r>
              <a:rPr sz="950" b="0" i="0">
                <a:solidFill>
                  <a:srgbClr val="B9C3D1"/>
                </a:solidFill>
                <a:latin typeface="Calibri"/>
              </a:rPr>
              <a:t>09  Appendix C - Case Studies</a:t>
            </a:r>
          </a:p>
        </p:txBody>
      </p:sp>
      <p:sp>
        <p:nvSpPr>
          <p:cNvPr id="14" name="div_list_10"/>
          <p:cNvSpPr txBox="1"/>
          <p:nvPr/>
        </p:nvSpPr>
        <p:spPr>
          <a:xfrm>
            <a:off x="8503920" y="4526280"/>
            <a:ext cx="3383280" cy="310896"/>
          </a:xfrm>
          <a:prstGeom prst="rect">
            <a:avLst/>
          </a:prstGeom>
          <a:noFill/>
        </p:spPr>
        <p:txBody>
          <a:bodyPr wrap="square" anchor="t" lIns="0" rIns="0" tIns="0" bIns="0">
            <a:spAutoFit/>
          </a:bodyPr>
          <a:lstStyle/>
          <a:p>
            <a:pPr algn="l"/>
            <a:r>
              <a:rPr sz="950" b="0" i="0">
                <a:solidFill>
                  <a:srgbClr val="B9C3D1"/>
                </a:solidFill>
                <a:latin typeface="Calibri"/>
              </a:rPr>
              <a:t>10  Appendix D - Supplementary Data</a:t>
            </a:r>
          </a:p>
        </p:txBody>
      </p:sp>
      <p:sp>
        <p:nvSpPr>
          <p:cNvPr id="15" name="div_list_11"/>
          <p:cNvSpPr txBox="1"/>
          <p:nvPr/>
        </p:nvSpPr>
        <p:spPr>
          <a:xfrm>
            <a:off x="8503920" y="4892040"/>
            <a:ext cx="3383280" cy="310896"/>
          </a:xfrm>
          <a:prstGeom prst="rect">
            <a:avLst/>
          </a:prstGeom>
          <a:noFill/>
        </p:spPr>
        <p:txBody>
          <a:bodyPr wrap="square" anchor="t" lIns="0" rIns="0" tIns="0" bIns="0">
            <a:spAutoFit/>
          </a:bodyPr>
          <a:lstStyle/>
          <a:p>
            <a:pPr algn="l"/>
            <a:r>
              <a:rPr sz="950" b="0" i="0">
                <a:solidFill>
                  <a:srgbClr val="B9C3D1"/>
                </a:solidFill>
                <a:latin typeface="Calibri"/>
              </a:rPr>
              <a:t>11  Appendix E - Evidence &amp; Audit Trail</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name="S072_growth_levers_overview">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72</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rows"/>
          <p:cNvSpPr/>
          <p:nvPr/>
        </p:nvSpPr>
        <p:spPr>
          <a:xfrm>
            <a:off x="411480" y="1691640"/>
            <a:ext cx="11365992" cy="443484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name="S073_l1_new_customer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73</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Contestable pool and capture path</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Assumptions behind the build</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name="S074_l1_right_to_wi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74</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name="S075_l1_channel_expansio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75</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Channel, reach and economics</a:t>
            </a:r>
          </a:p>
        </p:txBody>
      </p:sp>
      <p:sp>
        <p:nvSpPr>
          <p:cNvPr id="8" name="lef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Build, buy or partner</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name="S076_l2_partner_whitespace">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76</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name="S077_l2_partner_willingnes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77</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Partner adoption willingness</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What partners need to say yes</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name="S078_l2_partner_scaling">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78</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Scaling mechanics within a partner</a:t>
            </a:r>
          </a:p>
        </p:txBody>
      </p:sp>
      <p:sp>
        <p:nvSpPr>
          <p:cNvPr id="8" name="lef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Evidence and constraints</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name="S079_l3_expand_account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79</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char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Expansion within existing accounts</a:t>
            </a:r>
          </a:p>
        </p:txBody>
      </p:sp>
      <p:sp>
        <p:nvSpPr>
          <p:cNvPr id="8" name="char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[CHART - max 4 series x 12 points; ONE unit and basis; mixed units are not plotted, they are triangulated in the commentary]</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Cross-sell and upsell evidence</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name="S080_l4_pricing">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80</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Pricing action, uplift and risk</a:t>
            </a:r>
          </a:p>
        </p:txBody>
      </p:sp>
      <p:sp>
        <p:nvSpPr>
          <p:cNvPr id="8" name="lef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Evidence of headroom</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name="S081_l5_adjacent_segment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81</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name="S082_l6_product_expansion">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82</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left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Capability required vs capability held</a:t>
            </a:r>
          </a:p>
        </p:txBody>
      </p:sp>
      <p:sp>
        <p:nvSpPr>
          <p:cNvPr id="8" name="left"/>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Build effort and sequencing</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name="S083_l7_ma">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GROWTH OPPORTUNITIES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83</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name="S084_div_appx_partners">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07</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Appendix A - Partner &amp; Vendor Landscape</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The ecosystem around the target</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0" i="0">
                <a:solidFill>
                  <a:srgbClr val="B9C3D1"/>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0" i="0">
                <a:solidFill>
                  <a:srgbClr val="B9C3D1"/>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0" i="0">
                <a:solidFill>
                  <a:srgbClr val="B9C3D1"/>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0" i="0">
                <a:solidFill>
                  <a:srgbClr val="B9C3D1"/>
                </a:solidFill>
                <a:latin typeface="Calibri"/>
              </a:rPr>
              <a:t>04  Decision-Making Dynamics</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0" i="0">
                <a:solidFill>
                  <a:srgbClr val="B9C3D1"/>
                </a:solidFill>
                <a:latin typeface="Calibri"/>
              </a:rPr>
              <a:t>05  Competitive Landscape</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0" i="0">
                <a:solidFill>
                  <a:srgbClr val="B9C3D1"/>
                </a:solidFill>
                <a:latin typeface="Calibri"/>
              </a:rPr>
              <a:t>06  Growth Opportunities</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1" i="0">
                <a:solidFill>
                  <a:srgbClr val="F2C879"/>
                </a:solidFill>
                <a:latin typeface="Calibri"/>
              </a:rPr>
              <a:t>07  Appendix A - Partner &amp; Vendor Landscape</a:t>
            </a:r>
          </a:p>
        </p:txBody>
      </p:sp>
      <p:sp>
        <p:nvSpPr>
          <p:cNvPr id="12" name="div_list_8"/>
          <p:cNvSpPr txBox="1"/>
          <p:nvPr/>
        </p:nvSpPr>
        <p:spPr>
          <a:xfrm>
            <a:off x="8503920" y="3794760"/>
            <a:ext cx="3383280" cy="310896"/>
          </a:xfrm>
          <a:prstGeom prst="rect">
            <a:avLst/>
          </a:prstGeom>
          <a:noFill/>
        </p:spPr>
        <p:txBody>
          <a:bodyPr wrap="square" anchor="t" lIns="0" rIns="0" tIns="0" bIns="0">
            <a:spAutoFit/>
          </a:bodyPr>
          <a:lstStyle/>
          <a:p>
            <a:pPr algn="l"/>
            <a:r>
              <a:rPr sz="950" b="0" i="0">
                <a:solidFill>
                  <a:srgbClr val="B9C3D1"/>
                </a:solidFill>
                <a:latin typeface="Calibri"/>
              </a:rPr>
              <a:t>08  Appendix B - Market Sizing Methodology</a:t>
            </a:r>
          </a:p>
        </p:txBody>
      </p:sp>
      <p:sp>
        <p:nvSpPr>
          <p:cNvPr id="13" name="div_list_9"/>
          <p:cNvSpPr txBox="1"/>
          <p:nvPr/>
        </p:nvSpPr>
        <p:spPr>
          <a:xfrm>
            <a:off x="8503920" y="4160520"/>
            <a:ext cx="3383280" cy="310896"/>
          </a:xfrm>
          <a:prstGeom prst="rect">
            <a:avLst/>
          </a:prstGeom>
          <a:noFill/>
        </p:spPr>
        <p:txBody>
          <a:bodyPr wrap="square" anchor="t" lIns="0" rIns="0" tIns="0" bIns="0">
            <a:spAutoFit/>
          </a:bodyPr>
          <a:lstStyle/>
          <a:p>
            <a:pPr algn="l"/>
            <a:r>
              <a:rPr sz="950" b="0" i="0">
                <a:solidFill>
                  <a:srgbClr val="B9C3D1"/>
                </a:solidFill>
                <a:latin typeface="Calibri"/>
              </a:rPr>
              <a:t>09  Appendix C - Case Studies</a:t>
            </a:r>
          </a:p>
        </p:txBody>
      </p:sp>
      <p:sp>
        <p:nvSpPr>
          <p:cNvPr id="14" name="div_list_10"/>
          <p:cNvSpPr txBox="1"/>
          <p:nvPr/>
        </p:nvSpPr>
        <p:spPr>
          <a:xfrm>
            <a:off x="8503920" y="4526280"/>
            <a:ext cx="3383280" cy="310896"/>
          </a:xfrm>
          <a:prstGeom prst="rect">
            <a:avLst/>
          </a:prstGeom>
          <a:noFill/>
        </p:spPr>
        <p:txBody>
          <a:bodyPr wrap="square" anchor="t" lIns="0" rIns="0" tIns="0" bIns="0">
            <a:spAutoFit/>
          </a:bodyPr>
          <a:lstStyle/>
          <a:p>
            <a:pPr algn="l"/>
            <a:r>
              <a:rPr sz="950" b="0" i="0">
                <a:solidFill>
                  <a:srgbClr val="B9C3D1"/>
                </a:solidFill>
                <a:latin typeface="Calibri"/>
              </a:rPr>
              <a:t>10  Appendix D - Supplementary Data</a:t>
            </a:r>
          </a:p>
        </p:txBody>
      </p:sp>
      <p:sp>
        <p:nvSpPr>
          <p:cNvPr id="15" name="div_list_11"/>
          <p:cNvSpPr txBox="1"/>
          <p:nvPr/>
        </p:nvSpPr>
        <p:spPr>
          <a:xfrm>
            <a:off x="8503920" y="4892040"/>
            <a:ext cx="3383280" cy="310896"/>
          </a:xfrm>
          <a:prstGeom prst="rect">
            <a:avLst/>
          </a:prstGeom>
          <a:noFill/>
        </p:spPr>
        <p:txBody>
          <a:bodyPr wrap="square" anchor="t" lIns="0" rIns="0" tIns="0" bIns="0">
            <a:spAutoFit/>
          </a:bodyPr>
          <a:lstStyle/>
          <a:p>
            <a:pPr algn="l"/>
            <a:r>
              <a:rPr sz="950" b="0" i="0">
                <a:solidFill>
                  <a:srgbClr val="B9C3D1"/>
                </a:solidFill>
                <a:latin typeface="Calibri"/>
              </a:rPr>
              <a:t>11  Appendix E - Evidence &amp; Audit Trail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name="S085_landscape_by_category">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A - PARTNER &amp; VENDOR LANDSCAPE</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85</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name="S086_landscape_by_size">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A - PARTNER &amp; VENDOR LANDSCAPE</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86</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name="S087_partner_count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A - PARTNER &amp; VENDOR LANDSCAPE</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87</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name="S088_div_appx_sizing">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08</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Appendix B - Market Sizing Methodology</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How every number in the sizing was built</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0" i="0">
                <a:solidFill>
                  <a:srgbClr val="B9C3D1"/>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0" i="0">
                <a:solidFill>
                  <a:srgbClr val="B9C3D1"/>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0" i="0">
                <a:solidFill>
                  <a:srgbClr val="B9C3D1"/>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0" i="0">
                <a:solidFill>
                  <a:srgbClr val="B9C3D1"/>
                </a:solidFill>
                <a:latin typeface="Calibri"/>
              </a:rPr>
              <a:t>04  Decision-Making Dynamics</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0" i="0">
                <a:solidFill>
                  <a:srgbClr val="B9C3D1"/>
                </a:solidFill>
                <a:latin typeface="Calibri"/>
              </a:rPr>
              <a:t>05  Competitive Landscape</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0" i="0">
                <a:solidFill>
                  <a:srgbClr val="B9C3D1"/>
                </a:solidFill>
                <a:latin typeface="Calibri"/>
              </a:rPr>
              <a:t>06  Growth Opportunities</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0" i="0">
                <a:solidFill>
                  <a:srgbClr val="B9C3D1"/>
                </a:solidFill>
                <a:latin typeface="Calibri"/>
              </a:rPr>
              <a:t>07  Appendix A - Partner &amp; Vendor Landscape</a:t>
            </a:r>
          </a:p>
        </p:txBody>
      </p:sp>
      <p:sp>
        <p:nvSpPr>
          <p:cNvPr id="12" name="div_list_8"/>
          <p:cNvSpPr txBox="1"/>
          <p:nvPr/>
        </p:nvSpPr>
        <p:spPr>
          <a:xfrm>
            <a:off x="8503920" y="3794760"/>
            <a:ext cx="3383280" cy="310896"/>
          </a:xfrm>
          <a:prstGeom prst="rect">
            <a:avLst/>
          </a:prstGeom>
          <a:noFill/>
        </p:spPr>
        <p:txBody>
          <a:bodyPr wrap="square" anchor="t" lIns="0" rIns="0" tIns="0" bIns="0">
            <a:spAutoFit/>
          </a:bodyPr>
          <a:lstStyle/>
          <a:p>
            <a:pPr algn="l"/>
            <a:r>
              <a:rPr sz="950" b="1" i="0">
                <a:solidFill>
                  <a:srgbClr val="F2C879"/>
                </a:solidFill>
                <a:latin typeface="Calibri"/>
              </a:rPr>
              <a:t>08  Appendix B - Market Sizing Methodology</a:t>
            </a:r>
          </a:p>
        </p:txBody>
      </p:sp>
      <p:sp>
        <p:nvSpPr>
          <p:cNvPr id="13" name="div_list_9"/>
          <p:cNvSpPr txBox="1"/>
          <p:nvPr/>
        </p:nvSpPr>
        <p:spPr>
          <a:xfrm>
            <a:off x="8503920" y="4160520"/>
            <a:ext cx="3383280" cy="310896"/>
          </a:xfrm>
          <a:prstGeom prst="rect">
            <a:avLst/>
          </a:prstGeom>
          <a:noFill/>
        </p:spPr>
        <p:txBody>
          <a:bodyPr wrap="square" anchor="t" lIns="0" rIns="0" tIns="0" bIns="0">
            <a:spAutoFit/>
          </a:bodyPr>
          <a:lstStyle/>
          <a:p>
            <a:pPr algn="l"/>
            <a:r>
              <a:rPr sz="950" b="0" i="0">
                <a:solidFill>
                  <a:srgbClr val="B9C3D1"/>
                </a:solidFill>
                <a:latin typeface="Calibri"/>
              </a:rPr>
              <a:t>09  Appendix C - Case Studies</a:t>
            </a:r>
          </a:p>
        </p:txBody>
      </p:sp>
      <p:sp>
        <p:nvSpPr>
          <p:cNvPr id="14" name="div_list_10"/>
          <p:cNvSpPr txBox="1"/>
          <p:nvPr/>
        </p:nvSpPr>
        <p:spPr>
          <a:xfrm>
            <a:off x="8503920" y="4526280"/>
            <a:ext cx="3383280" cy="310896"/>
          </a:xfrm>
          <a:prstGeom prst="rect">
            <a:avLst/>
          </a:prstGeom>
          <a:noFill/>
        </p:spPr>
        <p:txBody>
          <a:bodyPr wrap="square" anchor="t" lIns="0" rIns="0" tIns="0" bIns="0">
            <a:spAutoFit/>
          </a:bodyPr>
          <a:lstStyle/>
          <a:p>
            <a:pPr algn="l"/>
            <a:r>
              <a:rPr sz="950" b="0" i="0">
                <a:solidFill>
                  <a:srgbClr val="B9C3D1"/>
                </a:solidFill>
                <a:latin typeface="Calibri"/>
              </a:rPr>
              <a:t>10  Appendix D - Supplementary Data</a:t>
            </a:r>
          </a:p>
        </p:txBody>
      </p:sp>
      <p:sp>
        <p:nvSpPr>
          <p:cNvPr id="15" name="div_list_11"/>
          <p:cNvSpPr txBox="1"/>
          <p:nvPr/>
        </p:nvSpPr>
        <p:spPr>
          <a:xfrm>
            <a:off x="8503920" y="4892040"/>
            <a:ext cx="3383280" cy="310896"/>
          </a:xfrm>
          <a:prstGeom prst="rect">
            <a:avLst/>
          </a:prstGeom>
          <a:noFill/>
        </p:spPr>
        <p:txBody>
          <a:bodyPr wrap="square" anchor="t" lIns="0" rIns="0" tIns="0" bIns="0">
            <a:spAutoFit/>
          </a:bodyPr>
          <a:lstStyle/>
          <a:p>
            <a:pPr algn="l"/>
            <a:r>
              <a:rPr sz="950" b="0" i="0">
                <a:solidFill>
                  <a:srgbClr val="B9C3D1"/>
                </a:solidFill>
                <a:latin typeface="Calibri"/>
              </a:rPr>
              <a:t>11  Appendix E - Evidence &amp; Audit Trail</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name="S089_sizing_method_core">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B - MARKET SIZING METHODOLOGY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89</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flow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Core opportunity - step by step</a:t>
            </a:r>
          </a:p>
        </p:txBody>
      </p:sp>
      <p:sp>
        <p:nvSpPr>
          <p:cNvPr id="8" name="flow"/>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Assumptions, sources and sensitivity</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name="S090_sizing_method_adjacent">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B - MARKET SIZING METHODOLOGY</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90</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flow_head"/>
          <p:cNvSpPr/>
          <p:nvPr/>
        </p:nvSpPr>
        <p:spPr>
          <a:xfrm>
            <a:off x="411480" y="1691640"/>
            <a:ext cx="7086600"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Adjacent opportunity - step by step</a:t>
            </a:r>
          </a:p>
        </p:txBody>
      </p:sp>
      <p:sp>
        <p:nvSpPr>
          <p:cNvPr id="8" name="flow"/>
          <p:cNvSpPr/>
          <p:nvPr/>
        </p:nvSpPr>
        <p:spPr>
          <a:xfrm>
            <a:off x="411480" y="2112264"/>
            <a:ext cx="7086600"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9" name="right_head"/>
          <p:cNvSpPr/>
          <p:nvPr/>
        </p:nvSpPr>
        <p:spPr>
          <a:xfrm>
            <a:off x="7726679" y="1691640"/>
            <a:ext cx="4050791"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Assumptions, sources and sensitivity</a:t>
            </a:r>
          </a:p>
        </p:txBody>
      </p:sp>
      <p:sp>
        <p:nvSpPr>
          <p:cNvPr id="10" name="right"/>
          <p:cNvSpPr/>
          <p:nvPr/>
        </p:nvSpPr>
        <p:spPr>
          <a:xfrm>
            <a:off x="7726679" y="2112264"/>
            <a:ext cx="4050791"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170 chars each; finding first, evidence second; each item carries refs]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name="S091_div_appx_cases">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09</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Appendix C - Case Studies</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Individual buyer journeys in full</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0" i="0">
                <a:solidFill>
                  <a:srgbClr val="B9C3D1"/>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0" i="0">
                <a:solidFill>
                  <a:srgbClr val="B9C3D1"/>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0" i="0">
                <a:solidFill>
                  <a:srgbClr val="B9C3D1"/>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0" i="0">
                <a:solidFill>
                  <a:srgbClr val="B9C3D1"/>
                </a:solidFill>
                <a:latin typeface="Calibri"/>
              </a:rPr>
              <a:t>04  Decision-Making Dynamics</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0" i="0">
                <a:solidFill>
                  <a:srgbClr val="B9C3D1"/>
                </a:solidFill>
                <a:latin typeface="Calibri"/>
              </a:rPr>
              <a:t>05  Competitive Landscape</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0" i="0">
                <a:solidFill>
                  <a:srgbClr val="B9C3D1"/>
                </a:solidFill>
                <a:latin typeface="Calibri"/>
              </a:rPr>
              <a:t>06  Growth Opportunities</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0" i="0">
                <a:solidFill>
                  <a:srgbClr val="B9C3D1"/>
                </a:solidFill>
                <a:latin typeface="Calibri"/>
              </a:rPr>
              <a:t>07  Appendix A - Partner &amp; Vendor Landscape</a:t>
            </a:r>
          </a:p>
        </p:txBody>
      </p:sp>
      <p:sp>
        <p:nvSpPr>
          <p:cNvPr id="12" name="div_list_8"/>
          <p:cNvSpPr txBox="1"/>
          <p:nvPr/>
        </p:nvSpPr>
        <p:spPr>
          <a:xfrm>
            <a:off x="8503920" y="3794760"/>
            <a:ext cx="3383280" cy="310896"/>
          </a:xfrm>
          <a:prstGeom prst="rect">
            <a:avLst/>
          </a:prstGeom>
          <a:noFill/>
        </p:spPr>
        <p:txBody>
          <a:bodyPr wrap="square" anchor="t" lIns="0" rIns="0" tIns="0" bIns="0">
            <a:spAutoFit/>
          </a:bodyPr>
          <a:lstStyle/>
          <a:p>
            <a:pPr algn="l"/>
            <a:r>
              <a:rPr sz="950" b="0" i="0">
                <a:solidFill>
                  <a:srgbClr val="B9C3D1"/>
                </a:solidFill>
                <a:latin typeface="Calibri"/>
              </a:rPr>
              <a:t>08  Appendix B - Market Sizing Methodology</a:t>
            </a:r>
          </a:p>
        </p:txBody>
      </p:sp>
      <p:sp>
        <p:nvSpPr>
          <p:cNvPr id="13" name="div_list_9"/>
          <p:cNvSpPr txBox="1"/>
          <p:nvPr/>
        </p:nvSpPr>
        <p:spPr>
          <a:xfrm>
            <a:off x="8503920" y="4160520"/>
            <a:ext cx="3383280" cy="310896"/>
          </a:xfrm>
          <a:prstGeom prst="rect">
            <a:avLst/>
          </a:prstGeom>
          <a:noFill/>
        </p:spPr>
        <p:txBody>
          <a:bodyPr wrap="square" anchor="t" lIns="0" rIns="0" tIns="0" bIns="0">
            <a:spAutoFit/>
          </a:bodyPr>
          <a:lstStyle/>
          <a:p>
            <a:pPr algn="l"/>
            <a:r>
              <a:rPr sz="950" b="1" i="0">
                <a:solidFill>
                  <a:srgbClr val="F2C879"/>
                </a:solidFill>
                <a:latin typeface="Calibri"/>
              </a:rPr>
              <a:t>09  Appendix C - Case Studies</a:t>
            </a:r>
          </a:p>
        </p:txBody>
      </p:sp>
      <p:sp>
        <p:nvSpPr>
          <p:cNvPr id="14" name="div_list_10"/>
          <p:cNvSpPr txBox="1"/>
          <p:nvPr/>
        </p:nvSpPr>
        <p:spPr>
          <a:xfrm>
            <a:off x="8503920" y="4526280"/>
            <a:ext cx="3383280" cy="310896"/>
          </a:xfrm>
          <a:prstGeom prst="rect">
            <a:avLst/>
          </a:prstGeom>
          <a:noFill/>
        </p:spPr>
        <p:txBody>
          <a:bodyPr wrap="square" anchor="t" lIns="0" rIns="0" tIns="0" bIns="0">
            <a:spAutoFit/>
          </a:bodyPr>
          <a:lstStyle/>
          <a:p>
            <a:pPr algn="l"/>
            <a:r>
              <a:rPr sz="950" b="0" i="0">
                <a:solidFill>
                  <a:srgbClr val="B9C3D1"/>
                </a:solidFill>
                <a:latin typeface="Calibri"/>
              </a:rPr>
              <a:t>10  Appendix D - Supplementary Data</a:t>
            </a:r>
          </a:p>
        </p:txBody>
      </p:sp>
      <p:sp>
        <p:nvSpPr>
          <p:cNvPr id="15" name="div_list_11"/>
          <p:cNvSpPr txBox="1"/>
          <p:nvPr/>
        </p:nvSpPr>
        <p:spPr>
          <a:xfrm>
            <a:off x="8503920" y="4892040"/>
            <a:ext cx="3383280" cy="310896"/>
          </a:xfrm>
          <a:prstGeom prst="rect">
            <a:avLst/>
          </a:prstGeom>
          <a:noFill/>
        </p:spPr>
        <p:txBody>
          <a:bodyPr wrap="square" anchor="t" lIns="0" rIns="0" tIns="0" bIns="0">
            <a:spAutoFit/>
          </a:bodyPr>
          <a:lstStyle/>
          <a:p>
            <a:pPr algn="l"/>
            <a:r>
              <a:rPr sz="950" b="0" i="0">
                <a:solidFill>
                  <a:srgbClr val="B9C3D1"/>
                </a:solidFill>
                <a:latin typeface="Calibri"/>
              </a:rPr>
              <a:t>11  Appendix E - Evidence &amp; Audit Trail</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name="S092_case_lost_prospect">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C - CASE STUDIES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92</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p1_head"/>
          <p:cNvSpPr/>
          <p:nvPr/>
        </p:nvSpPr>
        <p:spPr>
          <a:xfrm>
            <a:off x="411480" y="1691640"/>
            <a:ext cx="3654552"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Situation</a:t>
            </a:r>
          </a:p>
        </p:txBody>
      </p:sp>
      <p:sp>
        <p:nvSpPr>
          <p:cNvPr id="8" name="p1"/>
          <p:cNvSpPr/>
          <p:nvPr/>
        </p:nvSpPr>
        <p:spPr>
          <a:xfrm>
            <a:off x="411480" y="2112264"/>
            <a:ext cx="3654552"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120 chars each; finding first, evidence second; each item carries refs]</a:t>
            </a:r>
          </a:p>
        </p:txBody>
      </p:sp>
      <p:sp>
        <p:nvSpPr>
          <p:cNvPr id="9" name="p2_head"/>
          <p:cNvSpPr/>
          <p:nvPr/>
        </p:nvSpPr>
        <p:spPr>
          <a:xfrm>
            <a:off x="4267200" y="1691640"/>
            <a:ext cx="3654552"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Evaluation</a:t>
            </a:r>
          </a:p>
        </p:txBody>
      </p:sp>
      <p:sp>
        <p:nvSpPr>
          <p:cNvPr id="10" name="p2"/>
          <p:cNvSpPr/>
          <p:nvPr/>
        </p:nvSpPr>
        <p:spPr>
          <a:xfrm>
            <a:off x="4267200" y="2112264"/>
            <a:ext cx="3654552"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120 chars each; finding first, evidence second; each item carries refs]</a:t>
            </a:r>
          </a:p>
        </p:txBody>
      </p:sp>
      <p:sp>
        <p:nvSpPr>
          <p:cNvPr id="11" name="p3_head"/>
          <p:cNvSpPr/>
          <p:nvPr/>
        </p:nvSpPr>
        <p:spPr>
          <a:xfrm>
            <a:off x="8122920" y="1691640"/>
            <a:ext cx="3654552"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Outcome and lesson</a:t>
            </a:r>
          </a:p>
        </p:txBody>
      </p:sp>
      <p:sp>
        <p:nvSpPr>
          <p:cNvPr id="12" name="p3"/>
          <p:cNvSpPr/>
          <p:nvPr/>
        </p:nvSpPr>
        <p:spPr>
          <a:xfrm>
            <a:off x="8122920" y="2112264"/>
            <a:ext cx="3654552"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120 chars each; finding first, evidence second; each item carries refs]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name="S093_case_competitor_customer">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C - CASE STUDIES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93</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p1_head"/>
          <p:cNvSpPr/>
          <p:nvPr/>
        </p:nvSpPr>
        <p:spPr>
          <a:xfrm>
            <a:off x="411480" y="1691640"/>
            <a:ext cx="3654552"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Situation</a:t>
            </a:r>
          </a:p>
        </p:txBody>
      </p:sp>
      <p:sp>
        <p:nvSpPr>
          <p:cNvPr id="8" name="p1"/>
          <p:cNvSpPr/>
          <p:nvPr/>
        </p:nvSpPr>
        <p:spPr>
          <a:xfrm>
            <a:off x="411480" y="2112264"/>
            <a:ext cx="3654552"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120 chars each; finding first, evidence second; each item carries refs]</a:t>
            </a:r>
          </a:p>
        </p:txBody>
      </p:sp>
      <p:sp>
        <p:nvSpPr>
          <p:cNvPr id="9" name="p2_head"/>
          <p:cNvSpPr/>
          <p:nvPr/>
        </p:nvSpPr>
        <p:spPr>
          <a:xfrm>
            <a:off x="4267200" y="1691640"/>
            <a:ext cx="3654552"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Evaluation</a:t>
            </a:r>
          </a:p>
        </p:txBody>
      </p:sp>
      <p:sp>
        <p:nvSpPr>
          <p:cNvPr id="10" name="p2"/>
          <p:cNvSpPr/>
          <p:nvPr/>
        </p:nvSpPr>
        <p:spPr>
          <a:xfrm>
            <a:off x="4267200" y="2112264"/>
            <a:ext cx="3654552"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120 chars each; finding first, evidence second; each item carries refs]</a:t>
            </a:r>
          </a:p>
        </p:txBody>
      </p:sp>
      <p:sp>
        <p:nvSpPr>
          <p:cNvPr id="11" name="p3_head"/>
          <p:cNvSpPr/>
          <p:nvPr/>
        </p:nvSpPr>
        <p:spPr>
          <a:xfrm>
            <a:off x="8122920" y="1691640"/>
            <a:ext cx="3654552"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Outcome and lesson</a:t>
            </a:r>
          </a:p>
        </p:txBody>
      </p:sp>
      <p:sp>
        <p:nvSpPr>
          <p:cNvPr id="12" name="p3"/>
          <p:cNvSpPr/>
          <p:nvPr/>
        </p:nvSpPr>
        <p:spPr>
          <a:xfrm>
            <a:off x="8122920" y="2112264"/>
            <a:ext cx="3654552"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120 chars each; finding first, evidence second; each item carries refs]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name="S094_case_existing_customer">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C - CASE STUDIES</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94</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p1_head"/>
          <p:cNvSpPr/>
          <p:nvPr/>
        </p:nvSpPr>
        <p:spPr>
          <a:xfrm>
            <a:off x="411480" y="1691640"/>
            <a:ext cx="3654552"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Situation</a:t>
            </a:r>
          </a:p>
        </p:txBody>
      </p:sp>
      <p:sp>
        <p:nvSpPr>
          <p:cNvPr id="8" name="p1"/>
          <p:cNvSpPr/>
          <p:nvPr/>
        </p:nvSpPr>
        <p:spPr>
          <a:xfrm>
            <a:off x="411480" y="2112264"/>
            <a:ext cx="3654552"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120 chars each; finding first, evidence second; each item carries refs]</a:t>
            </a:r>
          </a:p>
        </p:txBody>
      </p:sp>
      <p:sp>
        <p:nvSpPr>
          <p:cNvPr id="9" name="p2_head"/>
          <p:cNvSpPr/>
          <p:nvPr/>
        </p:nvSpPr>
        <p:spPr>
          <a:xfrm>
            <a:off x="4267200" y="1691640"/>
            <a:ext cx="3654552"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Evaluation</a:t>
            </a:r>
          </a:p>
        </p:txBody>
      </p:sp>
      <p:sp>
        <p:nvSpPr>
          <p:cNvPr id="10" name="p2"/>
          <p:cNvSpPr/>
          <p:nvPr/>
        </p:nvSpPr>
        <p:spPr>
          <a:xfrm>
            <a:off x="4267200" y="2112264"/>
            <a:ext cx="3654552"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120 chars each; finding first, evidence second; each item carries refs]</a:t>
            </a:r>
          </a:p>
        </p:txBody>
      </p:sp>
      <p:sp>
        <p:nvSpPr>
          <p:cNvPr id="11" name="p3_head"/>
          <p:cNvSpPr/>
          <p:nvPr/>
        </p:nvSpPr>
        <p:spPr>
          <a:xfrm>
            <a:off x="8122920" y="1691640"/>
            <a:ext cx="3654552" cy="32918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76200" tIns="25400" bIns="25400"/>
          <a:lstStyle/>
          <a:p>
            <a:pPr algn="ctr"/>
            <a:r>
              <a:rPr sz="1100" b="1">
                <a:solidFill>
                  <a:srgbClr val="FFFFFF"/>
                </a:solidFill>
                <a:latin typeface="Calibri"/>
              </a:rPr>
              <a:t>Outcome and lesson</a:t>
            </a:r>
          </a:p>
        </p:txBody>
      </p:sp>
      <p:sp>
        <p:nvSpPr>
          <p:cNvPr id="12" name="p3"/>
          <p:cNvSpPr/>
          <p:nvPr/>
        </p:nvSpPr>
        <p:spPr>
          <a:xfrm>
            <a:off x="8122920" y="2112264"/>
            <a:ext cx="3654552" cy="4014215"/>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[BULLETS - max 5 items, 120 chars each; finding first, evidence second; each item carries refs]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name="S095_div_appx_supp">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10</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Appendix D - Supplementary Data</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Supporting detail behind the findings</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0" i="0">
                <a:solidFill>
                  <a:srgbClr val="B9C3D1"/>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0" i="0">
                <a:solidFill>
                  <a:srgbClr val="B9C3D1"/>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0" i="0">
                <a:solidFill>
                  <a:srgbClr val="B9C3D1"/>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0" i="0">
                <a:solidFill>
                  <a:srgbClr val="B9C3D1"/>
                </a:solidFill>
                <a:latin typeface="Calibri"/>
              </a:rPr>
              <a:t>04  Decision-Making Dynamics</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0" i="0">
                <a:solidFill>
                  <a:srgbClr val="B9C3D1"/>
                </a:solidFill>
                <a:latin typeface="Calibri"/>
              </a:rPr>
              <a:t>05  Competitive Landscape</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0" i="0">
                <a:solidFill>
                  <a:srgbClr val="B9C3D1"/>
                </a:solidFill>
                <a:latin typeface="Calibri"/>
              </a:rPr>
              <a:t>06  Growth Opportunities</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0" i="0">
                <a:solidFill>
                  <a:srgbClr val="B9C3D1"/>
                </a:solidFill>
                <a:latin typeface="Calibri"/>
              </a:rPr>
              <a:t>07  Appendix A - Partner &amp; Vendor Landscape</a:t>
            </a:r>
          </a:p>
        </p:txBody>
      </p:sp>
      <p:sp>
        <p:nvSpPr>
          <p:cNvPr id="12" name="div_list_8"/>
          <p:cNvSpPr txBox="1"/>
          <p:nvPr/>
        </p:nvSpPr>
        <p:spPr>
          <a:xfrm>
            <a:off x="8503920" y="3794760"/>
            <a:ext cx="3383280" cy="310896"/>
          </a:xfrm>
          <a:prstGeom prst="rect">
            <a:avLst/>
          </a:prstGeom>
          <a:noFill/>
        </p:spPr>
        <p:txBody>
          <a:bodyPr wrap="square" anchor="t" lIns="0" rIns="0" tIns="0" bIns="0">
            <a:spAutoFit/>
          </a:bodyPr>
          <a:lstStyle/>
          <a:p>
            <a:pPr algn="l"/>
            <a:r>
              <a:rPr sz="950" b="0" i="0">
                <a:solidFill>
                  <a:srgbClr val="B9C3D1"/>
                </a:solidFill>
                <a:latin typeface="Calibri"/>
              </a:rPr>
              <a:t>08  Appendix B - Market Sizing Methodology</a:t>
            </a:r>
          </a:p>
        </p:txBody>
      </p:sp>
      <p:sp>
        <p:nvSpPr>
          <p:cNvPr id="13" name="div_list_9"/>
          <p:cNvSpPr txBox="1"/>
          <p:nvPr/>
        </p:nvSpPr>
        <p:spPr>
          <a:xfrm>
            <a:off x="8503920" y="4160520"/>
            <a:ext cx="3383280" cy="310896"/>
          </a:xfrm>
          <a:prstGeom prst="rect">
            <a:avLst/>
          </a:prstGeom>
          <a:noFill/>
        </p:spPr>
        <p:txBody>
          <a:bodyPr wrap="square" anchor="t" lIns="0" rIns="0" tIns="0" bIns="0">
            <a:spAutoFit/>
          </a:bodyPr>
          <a:lstStyle/>
          <a:p>
            <a:pPr algn="l"/>
            <a:r>
              <a:rPr sz="950" b="0" i="0">
                <a:solidFill>
                  <a:srgbClr val="B9C3D1"/>
                </a:solidFill>
                <a:latin typeface="Calibri"/>
              </a:rPr>
              <a:t>09  Appendix C - Case Studies</a:t>
            </a:r>
          </a:p>
        </p:txBody>
      </p:sp>
      <p:sp>
        <p:nvSpPr>
          <p:cNvPr id="14" name="div_list_10"/>
          <p:cNvSpPr txBox="1"/>
          <p:nvPr/>
        </p:nvSpPr>
        <p:spPr>
          <a:xfrm>
            <a:off x="8503920" y="4526280"/>
            <a:ext cx="3383280" cy="310896"/>
          </a:xfrm>
          <a:prstGeom prst="rect">
            <a:avLst/>
          </a:prstGeom>
          <a:noFill/>
        </p:spPr>
        <p:txBody>
          <a:bodyPr wrap="square" anchor="t" lIns="0" rIns="0" tIns="0" bIns="0">
            <a:spAutoFit/>
          </a:bodyPr>
          <a:lstStyle/>
          <a:p>
            <a:pPr algn="l"/>
            <a:r>
              <a:rPr sz="950" b="1" i="0">
                <a:solidFill>
                  <a:srgbClr val="F2C879"/>
                </a:solidFill>
                <a:latin typeface="Calibri"/>
              </a:rPr>
              <a:t>10  Appendix D - Supplementary Data</a:t>
            </a:r>
          </a:p>
        </p:txBody>
      </p:sp>
      <p:sp>
        <p:nvSpPr>
          <p:cNvPr id="15" name="div_list_11"/>
          <p:cNvSpPr txBox="1"/>
          <p:nvPr/>
        </p:nvSpPr>
        <p:spPr>
          <a:xfrm>
            <a:off x="8503920" y="4892040"/>
            <a:ext cx="3383280" cy="310896"/>
          </a:xfrm>
          <a:prstGeom prst="rect">
            <a:avLst/>
          </a:prstGeom>
          <a:noFill/>
        </p:spPr>
        <p:txBody>
          <a:bodyPr wrap="square" anchor="t" lIns="0" rIns="0" tIns="0" bIns="0">
            <a:spAutoFit/>
          </a:bodyPr>
          <a:lstStyle/>
          <a:p>
            <a:pPr algn="l"/>
            <a:r>
              <a:rPr sz="950" b="0" i="0">
                <a:solidFill>
                  <a:srgbClr val="B9C3D1"/>
                </a:solidFill>
                <a:latin typeface="Calibri"/>
              </a:rPr>
              <a:t>11  Appendix E - Evidence &amp; Audit Trail</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name="S096_supp_entrenchment">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D - SUPPLEMENTARY DATA</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96</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name="S097_back_cover">
    <p:spTree>
      <p:nvGrpSpPr>
        <p:cNvPr id="1" name=""/>
        <p:cNvGrpSpPr/>
        <p:nvPr/>
      </p:nvGrpSpPr>
      <p:grpSpPr/>
      <p:sp>
        <p:nvSpPr>
          <p:cNvPr id="2" name="back_brand"/>
          <p:cNvSpPr txBox="1"/>
          <p:nvPr/>
        </p:nvSpPr>
        <p:spPr>
          <a:xfrm>
            <a:off x="548640" y="2743200"/>
            <a:ext cx="7315200" cy="640080"/>
          </a:xfrm>
          <a:prstGeom prst="rect">
            <a:avLst/>
          </a:prstGeom>
          <a:noFill/>
        </p:spPr>
        <p:txBody>
          <a:bodyPr wrap="square" anchor="t" lIns="0" rIns="0" tIns="0" bIns="0">
            <a:spAutoFit/>
          </a:bodyPr>
          <a:lstStyle/>
          <a:p>
            <a:pPr algn="l"/>
            <a:r>
              <a:rPr sz="3400" b="1" i="0">
                <a:solidFill>
                  <a:srgbClr val="FFFFFF"/>
                </a:solidFill>
                <a:latin typeface="Calibri"/>
              </a:rPr>
              <a:t>DiligenceIQ</a:t>
            </a:r>
          </a:p>
        </p:txBody>
      </p:sp>
      <p:sp>
        <p:nvSpPr>
          <p:cNvPr id="3" name="back_tag"/>
          <p:cNvSpPr txBox="1"/>
          <p:nvPr/>
        </p:nvSpPr>
        <p:spPr>
          <a:xfrm>
            <a:off x="548640" y="3474720"/>
            <a:ext cx="8229600" cy="365760"/>
          </a:xfrm>
          <a:prstGeom prst="rect">
            <a:avLst/>
          </a:prstGeom>
          <a:noFill/>
        </p:spPr>
        <p:txBody>
          <a:bodyPr wrap="square" anchor="t" lIns="0" rIns="0" tIns="0" bIns="0">
            <a:spAutoFit/>
          </a:bodyPr>
          <a:lstStyle/>
          <a:p>
            <a:pPr algn="l"/>
            <a:r>
              <a:rPr sz="1400" b="0" i="1">
                <a:solidFill>
                  <a:srgbClr val="F2C879"/>
                </a:solidFill>
                <a:latin typeface="Calibri"/>
              </a:rPr>
              <a:t>Agentic commercial due diligence</a:t>
            </a:r>
          </a:p>
        </p:txBody>
      </p:sp>
      <p:sp>
        <p:nvSpPr>
          <p:cNvPr id="4" name="back_contact"/>
          <p:cNvSpPr txBox="1"/>
          <p:nvPr/>
        </p:nvSpPr>
        <p:spPr>
          <a:xfrm>
            <a:off x="548640" y="4206240"/>
            <a:ext cx="8229600" cy="822960"/>
          </a:xfrm>
          <a:prstGeom prst="rect">
            <a:avLst/>
          </a:prstGeom>
          <a:noFill/>
        </p:spPr>
        <p:txBody>
          <a:bodyPr wrap="square" anchor="t" lIns="0" rIns="0" tIns="0" bIns="0">
            <a:spAutoFit/>
          </a:bodyPr>
          <a:lstStyle/>
          <a:p>
            <a:pPr algn="l"/>
            <a:r>
              <a:rPr sz="1100" b="0" i="0">
                <a:solidFill>
                  <a:srgbClr val="B9C3D1"/>
                </a:solidFill>
                <a:latin typeface="Calibri"/>
              </a:rPr>
              <a:t>[Engagement contacts - name, role, email]</a:t>
            </a:r>
          </a:p>
        </p:txBody>
      </p:sp>
      <p:sp>
        <p:nvSpPr>
          <p:cNvPr id="5" name="back_notice"/>
          <p:cNvSpPr txBox="1"/>
          <p:nvPr/>
        </p:nvSpPr>
        <p:spPr>
          <a:xfrm>
            <a:off x="548640" y="5212080"/>
            <a:ext cx="10058400" cy="548640"/>
          </a:xfrm>
          <a:prstGeom prst="rect">
            <a:avLst/>
          </a:prstGeom>
          <a:noFill/>
        </p:spPr>
        <p:txBody>
          <a:bodyPr wrap="square" anchor="t" lIns="0" rIns="0" tIns="0" bIns="0">
            <a:spAutoFit/>
          </a:bodyPr>
          <a:lstStyle/>
          <a:p>
            <a:pPr algn="l"/>
            <a:r>
              <a:rPr sz="900" b="0" i="1">
                <a:solidFill>
                  <a:srgbClr val="5B6B7F"/>
                </a:solidFill>
                <a:latin typeface="Calibri"/>
              </a:rPr>
              <a:t>This document is confidential and prepared solely for the addressee. Do not distribute without written consent.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name="S098_div_appx_audit">
    <p:spTree>
      <p:nvGrpSpPr>
        <p:cNvPr id="1" name=""/>
        <p:cNvGrpSpPr/>
        <p:nvPr/>
      </p:nvGrpSpPr>
      <p:grpSpPr/>
      <p:sp>
        <p:nvSpPr>
          <p:cNvPr id="2" name="div_number"/>
          <p:cNvSpPr txBox="1"/>
          <p:nvPr/>
        </p:nvSpPr>
        <p:spPr>
          <a:xfrm>
            <a:off x="548640" y="1371600"/>
            <a:ext cx="2743200" cy="1005840"/>
          </a:xfrm>
          <a:prstGeom prst="rect">
            <a:avLst/>
          </a:prstGeom>
          <a:noFill/>
        </p:spPr>
        <p:txBody>
          <a:bodyPr wrap="square" anchor="t" lIns="0" rIns="0" tIns="0" bIns="0">
            <a:spAutoFit/>
          </a:bodyPr>
          <a:lstStyle/>
          <a:p>
            <a:pPr algn="l"/>
            <a:r>
              <a:rPr sz="5600" b="1" i="0">
                <a:solidFill>
                  <a:srgbClr val="B7791F"/>
                </a:solidFill>
                <a:latin typeface="Calibri"/>
              </a:rPr>
              <a:t>11</a:t>
            </a:r>
          </a:p>
        </p:txBody>
      </p:sp>
      <p:sp>
        <p:nvSpPr>
          <p:cNvPr id="3" name="div_title"/>
          <p:cNvSpPr txBox="1"/>
          <p:nvPr/>
        </p:nvSpPr>
        <p:spPr>
          <a:xfrm>
            <a:off x="548640" y="2468880"/>
            <a:ext cx="7589520" cy="1097280"/>
          </a:xfrm>
          <a:prstGeom prst="rect">
            <a:avLst/>
          </a:prstGeom>
          <a:noFill/>
        </p:spPr>
        <p:txBody>
          <a:bodyPr wrap="square" anchor="t" lIns="0" rIns="0" tIns="0" bIns="0">
            <a:spAutoFit/>
          </a:bodyPr>
          <a:lstStyle/>
          <a:p>
            <a:pPr algn="l"/>
            <a:r>
              <a:rPr sz="3000" b="1" i="0">
                <a:solidFill>
                  <a:srgbClr val="FFFFFF"/>
                </a:solidFill>
                <a:latin typeface="Calibri"/>
              </a:rPr>
              <a:t>Appendix E - Evidence &amp; Audit Trail</a:t>
            </a:r>
          </a:p>
        </p:txBody>
      </p:sp>
      <p:sp>
        <p:nvSpPr>
          <p:cNvPr id="4" name="div_blurb"/>
          <p:cNvSpPr txBox="1"/>
          <p:nvPr/>
        </p:nvSpPr>
        <p:spPr>
          <a:xfrm>
            <a:off x="548640" y="3611880"/>
            <a:ext cx="7589520" cy="731520"/>
          </a:xfrm>
          <a:prstGeom prst="rect">
            <a:avLst/>
          </a:prstGeom>
          <a:noFill/>
        </p:spPr>
        <p:txBody>
          <a:bodyPr wrap="square" anchor="t" lIns="0" rIns="0" tIns="0" bIns="0">
            <a:spAutoFit/>
          </a:bodyPr>
          <a:lstStyle/>
          <a:p>
            <a:pPr algn="l"/>
            <a:r>
              <a:rPr sz="1400" b="0" i="1">
                <a:solidFill>
                  <a:srgbClr val="B9C3D1"/>
                </a:solidFill>
                <a:latin typeface="Calibri"/>
              </a:rPr>
              <a:t>Module verdicts, source register and exceptions</a:t>
            </a:r>
          </a:p>
        </p:txBody>
      </p:sp>
      <p:sp>
        <p:nvSpPr>
          <p:cNvPr id="5" name="div_list_1"/>
          <p:cNvSpPr txBox="1"/>
          <p:nvPr/>
        </p:nvSpPr>
        <p:spPr>
          <a:xfrm>
            <a:off x="8503920" y="1234440"/>
            <a:ext cx="3383280" cy="310896"/>
          </a:xfrm>
          <a:prstGeom prst="rect">
            <a:avLst/>
          </a:prstGeom>
          <a:noFill/>
        </p:spPr>
        <p:txBody>
          <a:bodyPr wrap="square" anchor="t" lIns="0" rIns="0" tIns="0" bIns="0">
            <a:spAutoFit/>
          </a:bodyPr>
          <a:lstStyle/>
          <a:p>
            <a:pPr algn="l"/>
            <a:r>
              <a:rPr sz="950" b="0" i="0">
                <a:solidFill>
                  <a:srgbClr val="B9C3D1"/>
                </a:solidFill>
                <a:latin typeface="Calibri"/>
              </a:rPr>
              <a:t>01  Business Introduction &amp; Market Primer</a:t>
            </a:r>
          </a:p>
        </p:txBody>
      </p:sp>
      <p:sp>
        <p:nvSpPr>
          <p:cNvPr id="6" name="div_list_2"/>
          <p:cNvSpPr txBox="1"/>
          <p:nvPr/>
        </p:nvSpPr>
        <p:spPr>
          <a:xfrm>
            <a:off x="8503920" y="1600200"/>
            <a:ext cx="3383280" cy="310896"/>
          </a:xfrm>
          <a:prstGeom prst="rect">
            <a:avLst/>
          </a:prstGeom>
          <a:noFill/>
        </p:spPr>
        <p:txBody>
          <a:bodyPr wrap="square" anchor="t" lIns="0" rIns="0" tIns="0" bIns="0">
            <a:spAutoFit/>
          </a:bodyPr>
          <a:lstStyle/>
          <a:p>
            <a:pPr algn="l"/>
            <a:r>
              <a:rPr sz="950" b="0" i="0">
                <a:solidFill>
                  <a:srgbClr val="B9C3D1"/>
                </a:solidFill>
                <a:latin typeface="Calibri"/>
              </a:rPr>
              <a:t>02  Investment Highlights</a:t>
            </a:r>
          </a:p>
        </p:txBody>
      </p:sp>
      <p:sp>
        <p:nvSpPr>
          <p:cNvPr id="7" name="div_list_3"/>
          <p:cNvSpPr txBox="1"/>
          <p:nvPr/>
        </p:nvSpPr>
        <p:spPr>
          <a:xfrm>
            <a:off x="8503920" y="1965960"/>
            <a:ext cx="3383280" cy="310896"/>
          </a:xfrm>
          <a:prstGeom prst="rect">
            <a:avLst/>
          </a:prstGeom>
          <a:noFill/>
        </p:spPr>
        <p:txBody>
          <a:bodyPr wrap="square" anchor="t" lIns="0" rIns="0" tIns="0" bIns="0">
            <a:spAutoFit/>
          </a:bodyPr>
          <a:lstStyle/>
          <a:p>
            <a:pPr algn="l"/>
            <a:r>
              <a:rPr sz="950" b="0" i="0">
                <a:solidFill>
                  <a:srgbClr val="B9C3D1"/>
                </a:solidFill>
                <a:latin typeface="Calibri"/>
              </a:rPr>
              <a:t>03  Market Dynamics &amp; Opportunity</a:t>
            </a:r>
          </a:p>
        </p:txBody>
      </p:sp>
      <p:sp>
        <p:nvSpPr>
          <p:cNvPr id="8" name="div_list_4"/>
          <p:cNvSpPr txBox="1"/>
          <p:nvPr/>
        </p:nvSpPr>
        <p:spPr>
          <a:xfrm>
            <a:off x="8503920" y="2331720"/>
            <a:ext cx="3383280" cy="310896"/>
          </a:xfrm>
          <a:prstGeom prst="rect">
            <a:avLst/>
          </a:prstGeom>
          <a:noFill/>
        </p:spPr>
        <p:txBody>
          <a:bodyPr wrap="square" anchor="t" lIns="0" rIns="0" tIns="0" bIns="0">
            <a:spAutoFit/>
          </a:bodyPr>
          <a:lstStyle/>
          <a:p>
            <a:pPr algn="l"/>
            <a:r>
              <a:rPr sz="950" b="0" i="0">
                <a:solidFill>
                  <a:srgbClr val="B9C3D1"/>
                </a:solidFill>
                <a:latin typeface="Calibri"/>
              </a:rPr>
              <a:t>04  Decision-Making Dynamics</a:t>
            </a:r>
          </a:p>
        </p:txBody>
      </p:sp>
      <p:sp>
        <p:nvSpPr>
          <p:cNvPr id="9" name="div_list_5"/>
          <p:cNvSpPr txBox="1"/>
          <p:nvPr/>
        </p:nvSpPr>
        <p:spPr>
          <a:xfrm>
            <a:off x="8503920" y="2697480"/>
            <a:ext cx="3383280" cy="310896"/>
          </a:xfrm>
          <a:prstGeom prst="rect">
            <a:avLst/>
          </a:prstGeom>
          <a:noFill/>
        </p:spPr>
        <p:txBody>
          <a:bodyPr wrap="square" anchor="t" lIns="0" rIns="0" tIns="0" bIns="0">
            <a:spAutoFit/>
          </a:bodyPr>
          <a:lstStyle/>
          <a:p>
            <a:pPr algn="l"/>
            <a:r>
              <a:rPr sz="950" b="0" i="0">
                <a:solidFill>
                  <a:srgbClr val="B9C3D1"/>
                </a:solidFill>
                <a:latin typeface="Calibri"/>
              </a:rPr>
              <a:t>05  Competitive Landscape</a:t>
            </a:r>
          </a:p>
        </p:txBody>
      </p:sp>
      <p:sp>
        <p:nvSpPr>
          <p:cNvPr id="10" name="div_list_6"/>
          <p:cNvSpPr txBox="1"/>
          <p:nvPr/>
        </p:nvSpPr>
        <p:spPr>
          <a:xfrm>
            <a:off x="8503920" y="3063240"/>
            <a:ext cx="3383280" cy="310896"/>
          </a:xfrm>
          <a:prstGeom prst="rect">
            <a:avLst/>
          </a:prstGeom>
          <a:noFill/>
        </p:spPr>
        <p:txBody>
          <a:bodyPr wrap="square" anchor="t" lIns="0" rIns="0" tIns="0" bIns="0">
            <a:spAutoFit/>
          </a:bodyPr>
          <a:lstStyle/>
          <a:p>
            <a:pPr algn="l"/>
            <a:r>
              <a:rPr sz="950" b="0" i="0">
                <a:solidFill>
                  <a:srgbClr val="B9C3D1"/>
                </a:solidFill>
                <a:latin typeface="Calibri"/>
              </a:rPr>
              <a:t>06  Growth Opportunities</a:t>
            </a:r>
          </a:p>
        </p:txBody>
      </p:sp>
      <p:sp>
        <p:nvSpPr>
          <p:cNvPr id="11" name="div_list_7"/>
          <p:cNvSpPr txBox="1"/>
          <p:nvPr/>
        </p:nvSpPr>
        <p:spPr>
          <a:xfrm>
            <a:off x="8503920" y="3429000"/>
            <a:ext cx="3383280" cy="310896"/>
          </a:xfrm>
          <a:prstGeom prst="rect">
            <a:avLst/>
          </a:prstGeom>
          <a:noFill/>
        </p:spPr>
        <p:txBody>
          <a:bodyPr wrap="square" anchor="t" lIns="0" rIns="0" tIns="0" bIns="0">
            <a:spAutoFit/>
          </a:bodyPr>
          <a:lstStyle/>
          <a:p>
            <a:pPr algn="l"/>
            <a:r>
              <a:rPr sz="950" b="0" i="0">
                <a:solidFill>
                  <a:srgbClr val="B9C3D1"/>
                </a:solidFill>
                <a:latin typeface="Calibri"/>
              </a:rPr>
              <a:t>07  Appendix A - Partner &amp; Vendor Landscape</a:t>
            </a:r>
          </a:p>
        </p:txBody>
      </p:sp>
      <p:sp>
        <p:nvSpPr>
          <p:cNvPr id="12" name="div_list_8"/>
          <p:cNvSpPr txBox="1"/>
          <p:nvPr/>
        </p:nvSpPr>
        <p:spPr>
          <a:xfrm>
            <a:off x="8503920" y="3794760"/>
            <a:ext cx="3383280" cy="310896"/>
          </a:xfrm>
          <a:prstGeom prst="rect">
            <a:avLst/>
          </a:prstGeom>
          <a:noFill/>
        </p:spPr>
        <p:txBody>
          <a:bodyPr wrap="square" anchor="t" lIns="0" rIns="0" tIns="0" bIns="0">
            <a:spAutoFit/>
          </a:bodyPr>
          <a:lstStyle/>
          <a:p>
            <a:pPr algn="l"/>
            <a:r>
              <a:rPr sz="950" b="0" i="0">
                <a:solidFill>
                  <a:srgbClr val="B9C3D1"/>
                </a:solidFill>
                <a:latin typeface="Calibri"/>
              </a:rPr>
              <a:t>08  Appendix B - Market Sizing Methodology</a:t>
            </a:r>
          </a:p>
        </p:txBody>
      </p:sp>
      <p:sp>
        <p:nvSpPr>
          <p:cNvPr id="13" name="div_list_9"/>
          <p:cNvSpPr txBox="1"/>
          <p:nvPr/>
        </p:nvSpPr>
        <p:spPr>
          <a:xfrm>
            <a:off x="8503920" y="4160520"/>
            <a:ext cx="3383280" cy="310896"/>
          </a:xfrm>
          <a:prstGeom prst="rect">
            <a:avLst/>
          </a:prstGeom>
          <a:noFill/>
        </p:spPr>
        <p:txBody>
          <a:bodyPr wrap="square" anchor="t" lIns="0" rIns="0" tIns="0" bIns="0">
            <a:spAutoFit/>
          </a:bodyPr>
          <a:lstStyle/>
          <a:p>
            <a:pPr algn="l"/>
            <a:r>
              <a:rPr sz="950" b="0" i="0">
                <a:solidFill>
                  <a:srgbClr val="B9C3D1"/>
                </a:solidFill>
                <a:latin typeface="Calibri"/>
              </a:rPr>
              <a:t>09  Appendix C - Case Studies</a:t>
            </a:r>
          </a:p>
        </p:txBody>
      </p:sp>
      <p:sp>
        <p:nvSpPr>
          <p:cNvPr id="14" name="div_list_10"/>
          <p:cNvSpPr txBox="1"/>
          <p:nvPr/>
        </p:nvSpPr>
        <p:spPr>
          <a:xfrm>
            <a:off x="8503920" y="4526280"/>
            <a:ext cx="3383280" cy="310896"/>
          </a:xfrm>
          <a:prstGeom prst="rect">
            <a:avLst/>
          </a:prstGeom>
          <a:noFill/>
        </p:spPr>
        <p:txBody>
          <a:bodyPr wrap="square" anchor="t" lIns="0" rIns="0" tIns="0" bIns="0">
            <a:spAutoFit/>
          </a:bodyPr>
          <a:lstStyle/>
          <a:p>
            <a:pPr algn="l"/>
            <a:r>
              <a:rPr sz="950" b="0" i="0">
                <a:solidFill>
                  <a:srgbClr val="B9C3D1"/>
                </a:solidFill>
                <a:latin typeface="Calibri"/>
              </a:rPr>
              <a:t>10  Appendix D - Supplementary Data</a:t>
            </a:r>
          </a:p>
        </p:txBody>
      </p:sp>
      <p:sp>
        <p:nvSpPr>
          <p:cNvPr id="15" name="div_list_11"/>
          <p:cNvSpPr txBox="1"/>
          <p:nvPr/>
        </p:nvSpPr>
        <p:spPr>
          <a:xfrm>
            <a:off x="8503920" y="4892040"/>
            <a:ext cx="3383280" cy="310896"/>
          </a:xfrm>
          <a:prstGeom prst="rect">
            <a:avLst/>
          </a:prstGeom>
          <a:noFill/>
        </p:spPr>
        <p:txBody>
          <a:bodyPr wrap="square" anchor="t" lIns="0" rIns="0" tIns="0" bIns="0">
            <a:spAutoFit/>
          </a:bodyPr>
          <a:lstStyle/>
          <a:p>
            <a:pPr algn="l"/>
            <a:r>
              <a:rPr sz="950" b="1" i="0">
                <a:solidFill>
                  <a:srgbClr val="F2C879"/>
                </a:solidFill>
                <a:latin typeface="Calibri"/>
              </a:rPr>
              <a:t>11  Appendix E - Evidence &amp; Audit Trail</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name="S099_module_verdict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E - EVIDENCE &amp; AUDIT TRAIL</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99</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name="S100_source_register">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E - EVIDENCE &amp; AUDIT TRAIL</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100</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name="S101_exceptions">
    <p:spTree>
      <p:nvGrpSpPr>
        <p:cNvPr id="1" name=""/>
        <p:cNvGrpSpPr/>
        <p:nvPr/>
      </p:nvGrpSpPr>
      <p:grpSpPr/>
      <p:sp>
        <p:nvSpPr>
          <p:cNvPr id="2" name="section_tag"/>
          <p:cNvSpPr txBox="1"/>
          <p:nvPr/>
        </p:nvSpPr>
        <p:spPr>
          <a:xfrm>
            <a:off x="411480" y="109728"/>
            <a:ext cx="8686800" cy="256032"/>
          </a:xfrm>
          <a:prstGeom prst="rect">
            <a:avLst/>
          </a:prstGeom>
          <a:noFill/>
        </p:spPr>
        <p:txBody>
          <a:bodyPr wrap="square" anchor="t" lIns="0" rIns="0" tIns="0" bIns="0">
            <a:spAutoFit/>
          </a:bodyPr>
          <a:lstStyle/>
          <a:p>
            <a:pPr algn="l"/>
            <a:r>
              <a:rPr sz="900" b="0" i="0">
                <a:solidFill>
                  <a:srgbClr val="B9C3D1"/>
                </a:solidFill>
                <a:latin typeface="Calibri"/>
              </a:rPr>
              <a:t>APPENDIX E - EVIDENCE &amp; AUDIT TRAIL</a:t>
            </a:r>
          </a:p>
        </p:txBody>
      </p:sp>
      <p:sp>
        <p:nvSpPr>
          <p:cNvPr id="3" name="slide_no_tag"/>
          <p:cNvSpPr txBox="1"/>
          <p:nvPr/>
        </p:nvSpPr>
        <p:spPr>
          <a:xfrm>
            <a:off x="9326880" y="109728"/>
            <a:ext cx="2468880" cy="256032"/>
          </a:xfrm>
          <a:prstGeom prst="rect">
            <a:avLst/>
          </a:prstGeom>
          <a:noFill/>
        </p:spPr>
        <p:txBody>
          <a:bodyPr wrap="square" anchor="t" lIns="0" rIns="0" tIns="0" bIns="0">
            <a:spAutoFit/>
          </a:bodyPr>
          <a:lstStyle/>
          <a:p>
            <a:pPr algn="r"/>
            <a:r>
              <a:rPr sz="800" b="0" i="0">
                <a:solidFill>
                  <a:srgbClr val="5B6B7F"/>
                </a:solidFill>
                <a:latin typeface="Calibri"/>
              </a:rPr>
              <a:t>BLUEPRINT 101</a:t>
            </a:r>
          </a:p>
        </p:txBody>
      </p:sp>
      <p:sp>
        <p:nvSpPr>
          <p:cNvPr id="4" name="title"/>
          <p:cNvSpPr txBox="1"/>
          <p:nvPr/>
        </p:nvSpPr>
        <p:spPr>
          <a:xfrm>
            <a:off x="411480" y="365760"/>
            <a:ext cx="11338560" cy="658368"/>
          </a:xfrm>
          <a:prstGeom prst="rect">
            <a:avLst/>
          </a:prstGeom>
          <a:noFill/>
        </p:spPr>
        <p:txBody>
          <a:bodyPr wrap="square" anchor="t" lIns="0" rIns="0" tIns="0" bIns="0">
            <a:spAutoFit/>
          </a:bodyPr>
          <a:lstStyle/>
          <a:p>
            <a:pPr algn="l"/>
            <a:r>
              <a:rPr sz="2000" b="1" i="0">
                <a:solidFill>
                  <a:srgbClr val="FFFFFF"/>
                </a:solidFill>
                <a:latin typeface="Calibri"/>
              </a:rPr>
              <a:t>[Action title: the so-what of this slide in one sentence, max 165 characters]</a:t>
            </a:r>
          </a:p>
        </p:txBody>
      </p:sp>
      <p:sp>
        <p:nvSpPr>
          <p:cNvPr id="5" name="subtitle"/>
          <p:cNvSpPr txBox="1"/>
          <p:nvPr/>
        </p:nvSpPr>
        <p:spPr>
          <a:xfrm>
            <a:off x="411480" y="1024128"/>
            <a:ext cx="11338560" cy="310896"/>
          </a:xfrm>
          <a:prstGeom prst="rect">
            <a:avLst/>
          </a:prstGeom>
          <a:noFill/>
        </p:spPr>
        <p:txBody>
          <a:bodyPr wrap="square" anchor="t" lIns="0" rIns="0" tIns="0" bIns="0">
            <a:spAutoFit/>
          </a:bodyPr>
          <a:lstStyle/>
          <a:p>
            <a:pPr algn="l"/>
            <a:r>
              <a:rPr sz="1300" b="0" i="1">
                <a:solidFill>
                  <a:srgbClr val="F2C879"/>
                </a:solidFill>
                <a:latin typeface="Calibri"/>
              </a:rPr>
              <a:t>[Supporting message: nuance, caveat or scale, max 150 characters]</a:t>
            </a:r>
          </a:p>
        </p:txBody>
      </p:sp>
      <p:sp>
        <p:nvSpPr>
          <p:cNvPr id="6" name="source"/>
          <p:cNvSpPr txBox="1"/>
          <p:nvPr/>
        </p:nvSpPr>
        <p:spPr>
          <a:xfrm>
            <a:off x="411480" y="6181344"/>
            <a:ext cx="11338560" cy="237744"/>
          </a:xfrm>
          <a:prstGeom prst="rect">
            <a:avLst/>
          </a:prstGeom>
          <a:noFill/>
        </p:spPr>
        <p:txBody>
          <a:bodyPr wrap="square" anchor="t" lIns="0" rIns="0" tIns="0" bIns="0">
            <a:spAutoFit/>
          </a:bodyPr>
          <a:lstStyle/>
          <a:p>
            <a:pPr algn="l"/>
            <a:r>
              <a:rPr sz="800" b="0" i="0">
                <a:solidFill>
                  <a:srgbClr val="5B6B7F"/>
                </a:solidFill>
                <a:latin typeface="Calibri"/>
              </a:rPr>
              <a:t>[Source line - generated automatically from evidence references]</a:t>
            </a:r>
          </a:p>
        </p:txBody>
      </p:sp>
      <p:sp>
        <p:nvSpPr>
          <p:cNvPr id="7" name="table"/>
          <p:cNvSpPr/>
          <p:nvPr/>
        </p:nvSpPr>
        <p:spPr>
          <a:xfrm>
            <a:off x="411480" y="1691640"/>
            <a:ext cx="11365992" cy="3886200"/>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[TABLE - max 9 rows x 6 cols; header row + data; every row carries refs; missing values as "Not provided", never blank]</a:t>
            </a:r>
          </a:p>
        </p:txBody>
      </p:sp>
      <p:sp>
        <p:nvSpPr>
          <p:cNvPr id="8" name="takeaway"/>
          <p:cNvSpPr/>
          <p:nvPr/>
        </p:nvSpPr>
        <p:spPr>
          <a:xfrm>
            <a:off x="411480" y="5650992"/>
            <a:ext cx="11365992" cy="475488"/>
          </a:xfrm>
          <a:prstGeom prst="rect">
            <a:avLst/>
          </a:prstGeom>
          <a:solidFill>
            <a:srgbClr val="F6F8FA"/>
          </a:solidFill>
          <a:ln w="952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t" wrap="square" lIns="88900" rIns="88900" tIns="76200" bIns="76200"/>
          <a:lstStyle/>
          <a:p>
            <a:pPr algn="l"/>
            <a:r>
              <a:rPr sz="900" i="1">
                <a:solidFill>
                  <a:srgbClr val="5B6B7F"/>
                </a:solidFill>
                <a:latin typeface="Calibri"/>
              </a:rPr>
              <a:t>[TEXT - max 320 chars]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DiligenceIQ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Due Diligence Report</dc:title>
  <dc:subject>PptxGenJS Presentation</dc:subject>
  <dc:creator>DiligenceIQ</dc:creator>
  <cp:lastModifiedBy>DiligenceIQ</cp:lastModifiedBy>
  <cp:revision>1</cp:revision>
  <dcterms:created xsi:type="dcterms:W3CDTF">2026-09-21T09:59:10Z</dcterms:created>
  <dcterms:modified xsi:type="dcterms:W3CDTF">2026-09-21T09:59:10Z</dcterms:modified>
</cp:coreProperties>
</file>