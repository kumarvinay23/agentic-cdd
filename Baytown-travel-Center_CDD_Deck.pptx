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"/>
    <p:sldId id="257" r:id="rId3"/>
    <p:sldId id="258" r:id="rId2"/>
    <p:sldId id="259" r:id="rId10"/>
    <p:sldId id="260" r:id="rId11"/>
    <p:sldId id="263" r:id="rId14"/>
    <p:sldId id="265" r:id="rId16"/>
    <p:sldId id="270" r:id="rId21"/>
    <p:sldId id="287" r:id="rId38"/>
    <p:sldId id="289" r:id="rId40"/>
    <p:sldId id="304" r:id="rId55"/>
    <p:sldId id="313" r:id="rId64"/>
    <p:sldId id="315" r:id="rId66"/>
    <p:sldId id="343" r:id="rId94"/>
    <p:sldId id="344" r:id="rId95"/>
    <p:sldId id="353" r:id="rId104"/>
    <p:sldId id="354" r:id="rId105"/>
    <p:sldId id="357" r:id="rId28"/>
    <p:sldId id="355" r:id="rId106"/>
    <p:sldId id="356" r:id="rId107"/>
    <p:sldId id="262" r:id="rId13"/>
    <p:sldId id="352" r:id="rId103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21" Type="http://schemas.openxmlformats.org/officeDocument/2006/relationships/slide" Target="slides/slide15.xml"/><Relationship Id="rId28" Type="http://schemas.openxmlformats.org/officeDocument/2006/relationships/slide" Target="slides/slide6.xml"/><Relationship Id="rId38" Type="http://schemas.openxmlformats.org/officeDocument/2006/relationships/slide" Target="slides/slide32.xml"/><Relationship Id="rId40" Type="http://schemas.openxmlformats.org/officeDocument/2006/relationships/slide" Target="slides/slide34.xml"/><Relationship Id="rId55" Type="http://schemas.openxmlformats.org/officeDocument/2006/relationships/slide" Target="slides/slide49.xml"/><Relationship Id="rId64" Type="http://schemas.openxmlformats.org/officeDocument/2006/relationships/slide" Target="slides/slide58.xml"/><Relationship Id="rId66" Type="http://schemas.openxmlformats.org/officeDocument/2006/relationships/slide" Target="slides/slide60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S001_cover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[report_title] FACT: Commercial Due Diligence: TA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[report_subtitle] FACT: Draft for discussion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[prepared_for] FACT: Prepared for DiligenceIQ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[report_date] FACT: October 2026</a:t>
            </a:r>
          </a:p>
          <a:p>
            <a:r>
              <a:t>    &lt;- SCM-7: Accounts and workbooks outrank the CIM, and the CIM outranks agent outputs. Plan years are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S002_disclaimer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Disclaimer &amp; reliance limitations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[subtitle] INTERPRETATION: This report is limited to the modules and data-room documents loaded for this deal.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[disclaimer_body] FACT: Prepared for discussion of TA. It is not a recommendation to invest. Accounts and workbooks outrank the CIM, and the CIM outranks agent outp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[data_notice] FACT: Evidence is limited to the diligence modules loaded for this deal. A module with no fact base is an open request, not a negative finding. Pl</a:t>
            </a:r>
          </a:p>
          <a:p>
            <a:r>
              <a:t>    &lt;- SCM-7: Accounts and workbooks outrank the CIM, and the CIM outranks agent outputs. Plan years are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S003_engagement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The mandate: test whether TA's trading, customers and market support the management plan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[subtitle] INTERPRETATION: Each finding is graded by the evidence behind it: established, indicated or asserted.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[lead] FACT: Commercial due diligence on TA using the data room and the diligence modules loaded for this deal.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[col1_body[1]] FACT: What has the business delivered?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[col1_body[2]] FACT: How do margins trend?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[col1_body[3]] FACT: What is contracted?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[col2_body[1]] FACT: How large is the serviceable market?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[col2_body[2]] FACT: Is the sizing method sound?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[col2_body[3]] FACT: Which geographies are next?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[col3_body[1]] FACT: How are customers retained?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[col3_body[2]] FACT: How concentrated is revenue?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[col3_body[3]] FACT: What is untested without research?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[col4_body[1]] FACT: Who competes for the same customers?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[col4_body[2]] FACT: Is price in line?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[col4_body[3]] FACT: Which differentiators hold?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[col5_body[1]] FACT: Which levers are in the plan?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[col5_body[2]] FACT: What must be true for each?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[col5_body[3]] FACT: What would change the view?</a:t>
            </a:r>
          </a:p>
          <a:p>
            <a:r>
              <a:t>    &lt;- SCM-7: Accounts and workbooks outrank the CIM, and the CIM outranks agent outputs. Plan years are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S004_contents   (blueprint slide 4 - Engagement Overview)</a:t>
            </a:r>
          </a:p>
          <a:p>
            <a:r>
              <a:t>WORKING TITLE   Contents</a:t>
            </a:r>
          </a:p>
          <a:p>
            <a:r>
              <a:t>PURPOSE         Give the reader a two-level map of the report with page references.</a:t>
            </a:r>
          </a:p>
          <a:p/>
          <a:p>
            <a:r>
              <a:t>WHAT THIS SLIDE MUST CONTAIN</a:t>
            </a:r>
          </a:p>
          <a:p>
            <a:r>
              <a:t>  - Top-level sections in reading order: Engagement Overview · Business Introduction &amp; Market Primer ·</a:t>
            </a:r>
          </a:p>
          <a:p>
            <a:r>
              <a:t>    Investment Highlights · Detailed Findings · Appendix.</a:t>
            </a:r>
          </a:p>
          <a:p>
            <a:r>
              <a:t>  - Detailed Findings expanded into its four workstream chapters, each with its page number.</a:t>
            </a:r>
          </a:p>
          <a:p>
            <a:r>
              <a:t>  - Appendix expanded into its lettered parts (landscape, sizing methodology, case studies,</a:t>
            </a:r>
          </a:p>
          <a:p>
            <a:r>
              <a:t>    supplementary data).</a:t>
            </a:r>
          </a:p>
          <a:p>
            <a:r>
              <a:t>  - Page references verified against final pagination.</a:t>
            </a:r>
          </a:p>
          <a:p/>
          <a:p>
            <a:r>
              <a:t>SOURCES         Final deck pagination.</a:t>
            </a:r>
          </a:p>
          <a:p>
            <a:r>
              <a:t>ANALYSIS        None — navigation only.</a:t>
            </a:r>
          </a:p>
          <a:p>
            <a:r>
              <a:t>EXHIBIT         Two-level indented contents list with right-aligned page numbers.  (form: text_panel)</a:t>
            </a:r>
          </a:p>
          <a:p>
            <a:r>
              <a:t>QUALITY BAR     Section titles and page numbers must match the dividers and footers exactly.</a:t>
            </a:r>
          </a:p>
          <a:p/>
          <a:p>
            <a:r>
              <a:t>DILIGENCEIQ MAPPING</a:t>
            </a:r>
          </a:p>
          <a:p>
            <a:r>
              <a:t>  gate            derived</a:t>
            </a:r>
          </a:p>
          <a:p>
            <a:r>
              <a:t>  transform       T0-AUTO</a:t>
            </a:r>
          </a:p>
          <a:p>
            <a:r>
              <a:t>  source priority R3, R5</a:t>
            </a:r>
          </a:p>
          <a:p>
            <a:r>
              <a:t>  exceptions      E1-NOT-PROVIDED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S005_research_approach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The findings rest on the data room first: accounts and workbooks outrank the CIM, and the CIM outranks the agent outputs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[subtitle] INTERPRETATION: Where they disagree, the data room is used and the agent finding is an exception.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[left row 1] refs: SCM-7</a:t>
            </a:r>
          </a:p>
          <a:p>
            <a:r>
              <a:t>[left row 2] refs: SCM-7</a:t>
            </a:r>
          </a:p>
          <a:p>
            <a:r>
              <a:t>[left row 3] refs: SCM-7</a:t>
            </a:r>
          </a:p>
          <a:p>
            <a:r>
              <a:t>[left row 4] refs: SCM-7</a:t>
            </a:r>
          </a:p>
          <a:p>
            <a:r>
              <a:t>[right[1]] FACT: No customer survey is assumed.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[right[2]] FACT: Plan years are marked P and are not results.</a:t>
            </a:r>
          </a:p>
          <a:p>
            <a:r>
              <a:t>    &lt;- SCM-7: Accounts and workbooks outrank the CIM, and the CIM outranks agent outputs. Plan years are not results.</a:t>
            </a:r>
          </a:p>
          <a:p>
            <a:r>
              <a:t>[right[3]] FACT: Pages without an exhibit are withheld.</a:t>
            </a:r>
          </a:p>
          <a:p>
            <a:r>
              <a:t>    &lt;- SCM-7: Accounts and workbooks outrank the CIM, and the CIM outranks agent outputs. Plan years are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S007_glossary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FACT: Terms used in this report</a:t>
            </a:r>
          </a:p>
          <a:p>
            <a:r>
              <a:t>    &lt;- RUN:glossary: UNKNOWN REF</a:t>
            </a:r>
          </a:p>
          <a:p>
            <a:r>
              <a:t>[subtitle] FACT: A term is listed only when it appears in this report. Plan years carry a P suffix.</a:t>
            </a:r>
          </a:p>
          <a:p>
            <a:r>
              <a:t>    &lt;- RUN:glossary: UNKNOWN REF</a:t>
            </a:r>
          </a:p>
          <a:p>
            <a:r>
              <a:t>[table row 1] refs: RUN:glossary</a:t>
            </a:r>
          </a:p>
          <a:p>
            <a:r>
              <a:t>[table row 2] refs: RUN:glossary</a:t>
            </a:r>
          </a:p>
          <a:p>
            <a:r>
              <a:t>[takeaway] FACT: A term that does not appear in the report is not defined here.</a:t>
            </a:r>
          </a:p>
          <a:p>
            <a:r>
              <a:t>    &lt;- RUN:glossary: UNKNOWN REF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S008_div_business   (blueprint slide 8 - Business Introduction &amp; Market Primer)</a:t>
            </a:r>
          </a:p>
          <a:p>
            <a:r>
              <a:t>WORKING TITLE   Section Divider — Business Introduction &amp; Market Primer</a:t>
            </a:r>
          </a:p>
          <a:p>
            <a:r>
              <a:t>PURPOSE         Signal the start of the primer chapter with the standard divider design.</a:t>
            </a:r>
          </a:p>
          <a:p/>
          <a:p>
            <a:r>
              <a:t>WHAT THIS SLIDE MUST CONTAIN</a:t>
            </a:r>
          </a:p>
          <a:p>
            <a:r>
              <a:t>  - Section title only, on the firm's standard divider layout.</a:t>
            </a:r>
          </a:p>
          <a:p>
            <a:r>
              <a:t>  - Consistent branding (logo, tagline, copyright) identical across all dividers.</a:t>
            </a:r>
          </a:p>
          <a:p>
            <a:r>
              <a:t>  - No findings or data on divider pages.</a:t>
            </a:r>
          </a:p>
          <a:p/>
          <a:p>
            <a:r>
              <a:t>SOURCES         Deck template.</a:t>
            </a:r>
          </a:p>
          <a:p>
            <a:r>
              <a:t>ANALYSIS        None.</a:t>
            </a:r>
          </a:p>
          <a:p>
            <a:r>
              <a:t>EXHIBIT         Full-bleed branded section divider.  (form: divider)</a:t>
            </a:r>
          </a:p>
          <a:p>
            <a:r>
              <a:t>QUALITY BAR     Divider titles must match the contents page word-for-word.</a:t>
            </a:r>
          </a:p>
          <a:p/>
          <a:p>
            <a:r>
              <a:t>DILIGENCEIQ MAPPING</a:t>
            </a:r>
          </a:p>
          <a:p>
            <a:r>
              <a:t>  gate            always</a:t>
            </a:r>
          </a:p>
          <a:p>
            <a:r>
              <a:t>  transform       T0-AUTO</a:t>
            </a:r>
          </a:p>
          <a:p>
            <a:r>
              <a:t>  source priority R3, R5</a:t>
            </a:r>
          </a:p>
          <a:p>
            <a:r>
              <a:t>  exceptions      E1-NOT-PROVIDED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S010_platform_evolution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How TA was assembled, from the events on record</a:t>
            </a:r>
          </a:p>
          <a:p>
            <a:r>
              <a:t>    &lt;- CBG-1: December 2025: LV Petroleum closed acquisition of an 18-site portfolio from TA corporate using bridge financing preferred equity; overall LVP acquired ~50 trave</a:t>
            </a:r>
          </a:p>
          <a:p>
            <a:r>
              <a:t>    &lt;- CBG-2: March 31, 2026: LV Petroleum, LLC issued unaudited Q1 2026 consolidated balance sheet and income statement ($487.4M revenue, $69.2M net income).</a:t>
            </a:r>
          </a:p>
          <a:p>
            <a:r>
              <a:t>    &lt;- CBG-3: July 22, 2026: Apex Capital completed updated Due Diligence Report for TA Baytown ($27.0M basis) transitioning debt execution to First American Bank.</a:t>
            </a:r>
          </a:p>
          <a:p>
            <a:r>
              <a:t>[subtitle] INTERPRETATION: Milestones are management's unless the accounts also show them.</a:t>
            </a:r>
          </a:p>
          <a:p>
            <a:r>
              <a:t>    &lt;- CBG-1: December 2025: LV Petroleum closed acquisition of an 18-site portfolio from TA corporate using bridge financing preferred equity; overall LVP acquired ~50 trave</a:t>
            </a:r>
          </a:p>
          <a:p>
            <a:r>
              <a:t>    &lt;- CBG-2: March 31, 2026: LV Petroleum, LLC issued unaudited Q1 2026 consolidated balance sheet and income statement ($487.4M revenue, $69.2M net income).</a:t>
            </a:r>
          </a:p>
          <a:p>
            <a:r>
              <a:t>    &lt;- CBG-3: July 22, 2026: Apex Capital completed updated Due Diligence Report for TA Baytown ($27.0M basis) transitioning debt execution to First American Bank.</a:t>
            </a:r>
          </a:p>
          <a:p>
            <a:r>
              <a:t>[flow row 1] refs: CBG-1, CBG-2, CBG-3</a:t>
            </a:r>
          </a:p>
          <a:p>
            <a:r>
              <a:t>[flow row 2] refs: CBG-1, CBG-2, CBG-3</a:t>
            </a:r>
          </a:p>
          <a:p>
            <a:r>
              <a:t>[flow row 3] refs: CBG-1, CBG-2, CBG-3</a:t>
            </a:r>
          </a:p>
          <a:p>
            <a:r>
              <a:t>[right[1]] FACT: December 2025: LV Petroleum closed acquisition of an 18-site portfolio from TA corporate…</a:t>
            </a:r>
          </a:p>
          <a:p>
            <a:r>
              <a:t>    &lt;- CBG-1: December 2025: LV Petroleum closed acquisition of an 18-site portfolio from TA corporate using bridge financing preferred equity; overall LVP acquired ~50 trave</a:t>
            </a:r>
          </a:p>
          <a:p>
            <a:r>
              <a:t>    &lt;- CBG-2: March 31, 2026: LV Petroleum, LLC issued unaudited Q1 2026 consolidated balance sheet and income statement ($487.4M revenue, $69.2M net income).</a:t>
            </a:r>
          </a:p>
          <a:p>
            <a:r>
              <a:t>    &lt;- CBG-3: July 22, 2026: Apex Capital completed updated Due Diligence Report for TA Baytown ($27.0M basis) transitioning debt execution to First American Bank.</a:t>
            </a:r>
          </a:p>
          <a:p>
            <a:r>
              <a:t>[right[2]] FACT: March 31, 2026: LV Petroleum, LLC issued unaudited Q1 2026 consolidated balance sheet and…</a:t>
            </a:r>
          </a:p>
          <a:p>
            <a:r>
              <a:t>    &lt;- CBG-1: December 2025: LV Petroleum closed acquisition of an 18-site portfolio from TA corporate using bridge financing preferred equity; overall LVP acquired ~50 trave</a:t>
            </a:r>
          </a:p>
          <a:p>
            <a:r>
              <a:t>    &lt;- CBG-2: March 31, 2026: LV Petroleum, LLC issued unaudited Q1 2026 consolidated balance sheet and income statement ($487.4M revenue, $69.2M net income).</a:t>
            </a:r>
          </a:p>
          <a:p>
            <a:r>
              <a:t>    &lt;- CBG-3: July 22, 2026: Apex Capital completed updated Due Diligence Report for TA Baytown ($27.0M basis) transitioning debt execution to First American Bank.</a:t>
            </a:r>
          </a:p>
          <a:p>
            <a:r>
              <a:t>[right[3]] FACT: July 22, 2026: Apex Capital completed updated Due Diligence Report for TA Baytown ($27.0M…</a:t>
            </a:r>
          </a:p>
          <a:p>
            <a:r>
              <a:t>    &lt;- CBG-1: December 2025: LV Petroleum closed acquisition of an 18-site portfolio from TA corporate using bridge financing preferred equity; overall LVP acquired ~50 trave</a:t>
            </a:r>
          </a:p>
          <a:p>
            <a:r>
              <a:t>    &lt;- CBG-2: March 31, 2026: LV Petroleum, LLC issued unaudited Q1 2026 consolidated balance sheet and income statement ($487.4M revenue, $69.2M net income).</a:t>
            </a:r>
          </a:p>
          <a:p>
            <a:r>
              <a:t>    &lt;- CBG-3: July 22, 2026: Apex Capital completed updated Due Diligence Report for TA Baytown ($27.0M basis) transitioning debt execution to First American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S015_barriers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What the record says protects TA, and what it does not establish</a:t>
            </a:r>
          </a:p>
          <a:p>
            <a:r>
              <a:t>    &lt;- MRK-1: 1 external risk(s)</a:t>
            </a:r>
          </a:p>
          <a:p>
            <a:r>
              <a:t>[subtitle] INTERPRETATION: A moat is not adopted from an agent label.</a:t>
            </a:r>
          </a:p>
          <a:p>
            <a:r>
              <a:t>    &lt;- MRK-1: 1 external risk(s)</a:t>
            </a:r>
          </a:p>
          <a:p>
            <a:r>
              <a:t>[left[1]] FACT: No differentiation finding on file.</a:t>
            </a:r>
          </a:p>
          <a:p>
            <a:r>
              <a:t>    &lt;- MRK-1: 1 external risk(s)</a:t>
            </a:r>
          </a:p>
          <a:p>
            <a:r>
              <a:t>[right[1]] FACT: 1 external risk(s)</a:t>
            </a:r>
          </a:p>
          <a:p>
            <a:r>
              <a:t>    &lt;- MRK-1: 1 external risk(s)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S099_module_verdicts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Module verdicts restated at the grade the facts support</a:t>
            </a:r>
          </a:p>
          <a:p>
            <a:r>
              <a:t>    &lt;- SCM-8: Verdict 20 modules. Stated BLOCKED. Adjusted Blocked. Findings from a blocked module are not relied on.</a:t>
            </a:r>
          </a:p>
          <a:p>
            <a:r>
              <a:t>    &lt;- SCM-9: Verdict Customer Segmentation. Stated PASS / BLOCKED. Adjusted Not produced. No facts were loaded for this module.</a:t>
            </a:r>
          </a:p>
          <a:p>
            <a:r>
              <a:t>    &lt;- SCM-10: Verdict Scope &amp; Methodology. Stated PASS / LIMITED. Adjusted Not produced. No facts were loaded for this module.</a:t>
            </a:r>
          </a:p>
          <a:p>
            <a:r>
              <a:t>    &lt;- SCM-11: Verdict Cash Flow. Stated REWORK / LIMITED. Adjusted Limited. The lower stated grade is used.</a:t>
            </a:r>
          </a:p>
          <a:p>
            <a:r>
              <a:t>    &lt;- SCM-12: Verdict Company Background. Stated PASS / LIMITED. Adjusted Limited. The lower stated grade is used.</a:t>
            </a:r>
          </a:p>
          <a:p>
            <a:r>
              <a:t>    &lt;- SCM-13: Verdict Cost Structure. Stated REWORK / LIMITED. Adjusted Limited. The lower stated grade is used.</a:t>
            </a:r>
          </a:p>
          <a:p>
            <a:r>
              <a:t>    &lt;- SCM-14: Verdict Deal Context And Objectives. Stated PASS / LIMITED. Adjusted Limited. The lower stated grade is used.</a:t>
            </a:r>
          </a:p>
          <a:p>
            <a:r>
              <a:t>    &lt;- SCM-15: Verdict Historical Performance. Stated REWORK / LIMITED. Adjusted Limited. The lower stated grade is used.</a:t>
            </a:r>
          </a:p>
          <a:p>
            <a:r>
              <a:t>    &lt;- SCM-16: Verdict Ip And Technology. Stated PASS / LIMITED. Adjusted Limited. The lower stated grade is used.</a:t>
            </a:r>
          </a:p>
          <a:p>
            <a:r>
              <a:t>    &lt;- SCM-17: Verdict Management Quality. Stated PASS / LIMITED. Adjusted Limited. The lower stated grade is used.</a:t>
            </a:r>
          </a:p>
          <a:p>
            <a:r>
              <a:t>    &lt;- SCM-18: Verdict Market Risk. Stated PASS / LIMITED. Adjusted Limited. The lower stated grade is used.</a:t>
            </a:r>
          </a:p>
          <a:p>
            <a:r>
              <a:t>    &lt;- SCM-19: Verdict Valuation Modeling. Stated REWORK / LIMITED. Adjusted Limited. The lower stated grade is used.</a:t>
            </a:r>
          </a:p>
          <a:p>
            <a:r>
              <a:t>    &lt;- SCM-20: Verdict Appendices. Stated PASS / READY. Adjusted Indicated. Lowered to the facts on file.</a:t>
            </a:r>
          </a:p>
          <a:p>
            <a:r>
              <a:t>    &lt;- SCM-21: Verdict Internal Risk. Stated PASS / READY. Adjusted Indicated. Lowered to the facts on file.</a:t>
            </a:r>
          </a:p>
          <a:p>
            <a:r>
              <a:t>    &lt;- SCM-22: Verdict Market Definition. Stated PASS / READY. Adjusted Indicated. Lowered to the facts on file.</a:t>
            </a:r>
          </a:p>
          <a:p>
            <a:r>
              <a:t>    &lt;- SCM-23: Verdict Market Intel Deck. Stated —. Adjusted Indicated. No verdict was stated, so the facts set the grade.</a:t>
            </a:r>
          </a:p>
          <a:p>
            <a:r>
              <a:t>[subtitle] INTERPRETATION: A stated pass is lowered when the facts are thinner than the module claimed.</a:t>
            </a:r>
          </a:p>
          <a:p>
            <a:r>
              <a:t>    &lt;- SCM-8: Verdict 20 modules. Stated BLOCKED. Adjusted Blocked. Findings from a blocked module are not relied on.</a:t>
            </a:r>
          </a:p>
          <a:p>
            <a:r>
              <a:t>    &lt;- SCM-9: Verdict Customer Segmentation. Stated PASS / BLOCKED. Adjusted Not produced. No facts were loaded for this module.</a:t>
            </a:r>
          </a:p>
          <a:p>
            <a:r>
              <a:t>    &lt;- SCM-10: Verdict Scope &amp; Methodology. Stated PASS / LIMITED. Adjusted Not produced. No facts were loaded for this module.</a:t>
            </a:r>
          </a:p>
          <a:p>
            <a:r>
              <a:t>    &lt;- SCM-11: Verdict Cash Flow. Stated REWORK / LIMITED. Adjusted Limited. The lower stated grade is used.</a:t>
            </a:r>
          </a:p>
          <a:p>
            <a:r>
              <a:t>    &lt;- SCM-12: Verdict Company Background. Stated PASS / LIMITED. Adjusted Limited. The lower stated grade is used.</a:t>
            </a:r>
          </a:p>
          <a:p>
            <a:r>
              <a:t>    &lt;- SCM-13: Verdict Cost Structure. Stated REWORK / LIMITED. Adjusted Limited. The lower stated grade is used.</a:t>
            </a:r>
          </a:p>
          <a:p>
            <a:r>
              <a:t>    &lt;- SCM-14: Verdict Deal Context And Objectives. Stated PASS / LIMITED. Adjusted Limited. The lower stated grade is used.</a:t>
            </a:r>
          </a:p>
          <a:p>
            <a:r>
              <a:t>    &lt;- SCM-15: Verdict Historical Performance. Stated REWORK / LIMITED. Adjusted Limited. The lower stated grade is used.</a:t>
            </a:r>
          </a:p>
          <a:p>
            <a:r>
              <a:t>    &lt;- SCM-16: Verdict Ip And Technology. Stated PASS / LIMITED. Adjusted Limited. The lower stated grade is used.</a:t>
            </a:r>
          </a:p>
          <a:p>
            <a:r>
              <a:t>    &lt;- SCM-17: Verdict Management Quality. Stated PASS / LIMITED. Adjusted Limited. The lower stated grade is used.</a:t>
            </a:r>
          </a:p>
          <a:p>
            <a:r>
              <a:t>    &lt;- SCM-18: Verdict Market Risk. Stated PASS / LIMITED. Adjusted Limited. The lower stated grade is used.</a:t>
            </a:r>
          </a:p>
          <a:p>
            <a:r>
              <a:t>    &lt;- SCM-19: Verdict Valuation Modeling. Stated REWORK / LIMITED. Adjusted Limited. The lower stated grade is used.</a:t>
            </a:r>
          </a:p>
          <a:p>
            <a:r>
              <a:t>    &lt;- SCM-20: Verdict Appendices. Stated PASS / READY. Adjusted Indicated. Lowered to the facts on file.</a:t>
            </a:r>
          </a:p>
          <a:p>
            <a:r>
              <a:t>    &lt;- SCM-21: Verdict Internal Risk. Stated PASS / READY. Adjusted Indicated. Lowered to the facts on file.</a:t>
            </a:r>
          </a:p>
          <a:p>
            <a:r>
              <a:t>    &lt;- SCM-22: Verdict Market Definition. Stated PASS / READY. Adjusted Indicated. Lowered to the facts on file.</a:t>
            </a:r>
          </a:p>
          <a:p>
            <a:r>
              <a:t>    &lt;- SCM-23: Verdict Market Intel Deck. Stated —. Adjusted Indicated. No verdict was stated, so the facts set the grade.</a:t>
            </a:r>
          </a:p>
          <a:p>
            <a:r>
              <a:t>[table row 1] refs: SCM-8, SCM-9, SCM-10, SCM-11, SCM-12, SCM-13, SCM-14, SCM-15, SCM-16, SCM-17, SCM-18, SCM-19, SCM-20, SCM-21, SCM-22, SCM-23</a:t>
            </a:r>
          </a:p>
          <a:p>
            <a:r>
              <a:t>[table row 2] refs: SCM-8, SCM-9, SCM-10, SCM-11, SCM-12, SCM-13, SCM-14, SCM-15, SCM-16, SCM-17, SCM-18, SCM-19, SCM-20, SCM-21, SCM-22, SCM-23</a:t>
            </a:r>
          </a:p>
          <a:p>
            <a:r>
              <a:t>[table row 3] refs: SCM-8, SCM-9, SCM-10, SCM-11, SCM-12, SCM-13, SCM-14, SCM-15, SCM-16, SCM-17, SCM-18, SCM-19, SCM-20, SCM-21, SCM-22, SCM-23</a:t>
            </a:r>
          </a:p>
          <a:p>
            <a:r>
              <a:t>[table row 4] refs: SCM-8, SCM-9, SCM-10, SCM-11, SCM-12, SCM-13, SCM-14, SCM-15, SCM-16, SCM-17, SCM-18, SCM-19, SCM-20, SCM-21, SCM-22, SCM-23</a:t>
            </a:r>
          </a:p>
          <a:p>
            <a:r>
              <a:t>[table row 5] refs: SCM-8, SCM-9, SCM-10, SCM-11, SCM-12, SCM-13, SCM-14, SCM-15, SCM-16, SCM-17, SCM-18, SCM-19, SCM-20, SCM-21, SCM-22, SCM-23</a:t>
            </a:r>
          </a:p>
          <a:p>
            <a:r>
              <a:t>[table row 6] refs: SCM-8, SCM-9, SCM-10, SCM-11, SCM-12, SCM-13, SCM-14, SCM-15, SCM-16, SCM-17, SCM-18, SCM-19, SCM-20, SCM-21, SCM-22, SCM-23</a:t>
            </a:r>
          </a:p>
          <a:p>
            <a:r>
              <a:t>[table row 7] refs: SCM-8, SCM-9, SCM-10, SCM-11, SCM-12, SCM-13, SCM-14, SCM-15, SCM-16, SCM-17, SCM-18, SCM-19, SCM-20, SCM-21, SCM-22, SCM-23</a:t>
            </a:r>
          </a:p>
          <a:p>
            <a:r>
              <a:t>[table row 8] refs: SCM-8, SCM-9, SCM-10, SCM-11, SCM-12, SCM-13, SCM-14, SCM-15, SCM-16, SCM-17, SCM-18, SCM-19, SCM-20, SCM-21, SCM-22, SCM-23</a:t>
            </a:r>
          </a:p>
          <a:p>
            <a:r>
              <a:t>[takeaway] FACT: The adjusted grade is the one this report uses. It is not raised above the facts.</a:t>
            </a:r>
          </a:p>
          <a:p>
            <a:r>
              <a:t>    &lt;- SCM-8: Verdict 20 modules. Stated BLOCKED. Adjusted Blocked. Findings from a blocked module are not relied on.</a:t>
            </a:r>
          </a:p>
          <a:p>
            <a:r>
              <a:t>    &lt;- SCM-9: Verdict Customer Segmentation. Stated PASS / BLOCKED. Adjusted Not produced. No facts were loaded for this module.</a:t>
            </a:r>
          </a:p>
          <a:p>
            <a:r>
              <a:t>    &lt;- SCM-10: Verdict Scope &amp; Methodology. Stated PASS / LIMITED. Adjusted Not produced. No facts were loaded for this module.</a:t>
            </a:r>
          </a:p>
          <a:p>
            <a:r>
              <a:t>    &lt;- SCM-11: Verdict Cash Flow. Stated REWORK / LIMITED. Adjusted Limited. The lower stated grade is used.</a:t>
            </a:r>
          </a:p>
          <a:p>
            <a:r>
              <a:t>    &lt;- SCM-12: Verdict Company Background. Stated PASS / LIMITED. Adjusted Limited. The lower stated grade is used.</a:t>
            </a:r>
          </a:p>
          <a:p>
            <a:r>
              <a:t>    &lt;- SCM-13: Verdict Cost Structure. Stated REWORK / LIMITED. Adjusted Limited. The lower stated grade is used.</a:t>
            </a:r>
          </a:p>
          <a:p>
            <a:r>
              <a:t>    &lt;- SCM-14: Verdict Deal Context And Objectives. Stated PASS / LIMITED. Adjusted Limited. The lower stated grade is used.</a:t>
            </a:r>
          </a:p>
          <a:p>
            <a:r>
              <a:t>    &lt;- SCM-15: Verdict Historical Performance. Stated REWORK / LIMITED. Adjusted Limited. The lower stated grade is used.</a:t>
            </a:r>
          </a:p>
          <a:p>
            <a:r>
              <a:t>    &lt;- SCM-16: Verdict Ip And Technology. Stated PASS / LIMITED. Adjusted Limited. The lower stated grade is used.</a:t>
            </a:r>
          </a:p>
          <a:p>
            <a:r>
              <a:t>    &lt;- SCM-17: Verdict Management Quality. Stated PASS / LIMITED. Adjusted Limited. The lower stated grade is used.</a:t>
            </a:r>
          </a:p>
          <a:p>
            <a:r>
              <a:t>    &lt;- SCM-18: Verdict Market Risk. Stated PASS / LIMITED. Adjusted Limited. The lower stated grade is used.</a:t>
            </a:r>
          </a:p>
          <a:p>
            <a:r>
              <a:t>    &lt;- SCM-19: Verdict Valuation Modeling. Stated REWORK / LIMITED. Adjusted Limited. The lower stated grade is used.</a:t>
            </a:r>
          </a:p>
          <a:p>
            <a:r>
              <a:t>    &lt;- SCM-20: Verdict Appendices. Stated PASS / READY. Adjusted Indicated. Lowered to the facts on file.</a:t>
            </a:r>
          </a:p>
          <a:p>
            <a:r>
              <a:t>    &lt;- SCM-21: Verdict Internal Risk. Stated PASS / READY. Adjusted Indicated. Lowered to the facts on file.</a:t>
            </a:r>
          </a:p>
          <a:p>
            <a:r>
              <a:t>    &lt;- SCM-22: Verdict Market Definition. Stated PASS / READY. Adjusted Indicated. Lowered to the facts on file.</a:t>
            </a:r>
          </a:p>
          <a:p>
            <a:r>
              <a:t>    &lt;- SCM-23: Verdict Market Intel Deck. Stated —. Adjusted Indicated. No verdict was stated, so the facts set the grade.</a:t>
            </a:r>
          </a:p>
          <a:p/>
          <a:p>
            <a:r>
              <a:t>EXCEPTIONS AFFECTING THIS SLIDE</a:t>
            </a:r>
          </a:p>
          <a:p>
            <a:r>
              <a:t>[HIGH] 23 modules are marked blocked. -&gt; Findings from a blocked module are not relied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S032_div_market   (blueprint slide 32 - Market Dynamics &amp; Opportunity)</a:t>
            </a:r>
          </a:p>
          <a:p>
            <a:r>
              <a:t>WORKING TITLE   Section Divider — Detailed Findings</a:t>
            </a:r>
          </a:p>
          <a:p>
            <a:r>
              <a:t>PURPOSE         Open the findings section and list its four chapters.</a:t>
            </a:r>
          </a:p>
          <a:p/>
          <a:p>
            <a:r>
              <a:t>WHAT THIS SLIDE MUST CONTAIN</a:t>
            </a:r>
          </a:p>
          <a:p>
            <a:r>
              <a:t>  - Section title with the four workstream chapters listed: Market Dynamics &amp; Opportunity · Decision-</a:t>
            </a:r>
          </a:p>
          <a:p>
            <a:r>
              <a:t>    Making Dynamics · Competitive Landscape · Growth Opportunities.</a:t>
            </a:r>
          </a:p>
          <a:p>
            <a:r>
              <a:t>  - Standard divider branding; repeated before each chapter with the current chapter highlighted.</a:t>
            </a:r>
          </a:p>
          <a:p/>
          <a:p>
            <a:r>
              <a:t>SOURCES         Deck template.</a:t>
            </a:r>
          </a:p>
          <a:p>
            <a:r>
              <a:t>ANALYSIS        None.</a:t>
            </a:r>
          </a:p>
          <a:p>
            <a:r>
              <a:t>EXHIBIT         Branded divider with chapter list.  (form: divider)</a:t>
            </a:r>
          </a:p>
          <a:p>
            <a:r>
              <a:t>QUALITY BAR     Chapter list matches the contents page exactly.</a:t>
            </a:r>
          </a:p>
          <a:p/>
          <a:p>
            <a:r>
              <a:t>DILIGENCEIQ MAPPING</a:t>
            </a:r>
          </a:p>
          <a:p>
            <a:r>
              <a:t>  gate            always</a:t>
            </a:r>
          </a:p>
          <a:p>
            <a:r>
              <a:t>  transform       T0-AUTO</a:t>
            </a:r>
          </a:p>
          <a:p>
            <a:r>
              <a:t>  source priority R3, R5</a:t>
            </a:r>
          </a:p>
          <a:p>
            <a:r>
              <a:t>  exceptions      E1-NOT-PROVIDED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S034_market_definitions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The market used for TA is the perimeter in the market-definition module</a:t>
            </a:r>
          </a:p>
          <a:p>
            <a:r>
              <a:t>    &lt;- MDF-1: {'service': 'Bulk diesel, DEF, gasoline, c-store merchandise, QSR restaurant meals, truck parking, driver showers, and vehicle services. (DOC: data room financi</a:t>
            </a:r>
          </a:p>
          <a:p>
            <a:r>
              <a:t>[subtitle] INTERPRETATION: {'service': 'Bulk diesel, DEF, gasoline, c-store merchandise, QSR restaurant meals, truck parking, driver showers, and vehicle services. (DO</a:t>
            </a:r>
          </a:p>
          <a:p>
            <a:r>
              <a:t>    &lt;- MDF-1: {'service': 'Bulk diesel, DEF, gasoline, c-store merchandise, QSR restaurant meals, truck parking, driver showers, and vehicle services. (DOC: data room financi</a:t>
            </a:r>
          </a:p>
          <a:p>
            <a:r>
              <a:t>[table row 1] refs: MDF-1</a:t>
            </a:r>
          </a:p>
          <a:p>
            <a:r>
              <a:t>[takeaway] FACT: Agent perimeters that disagree with this page are exceptions.</a:t>
            </a:r>
          </a:p>
          <a:p>
            <a:r>
              <a:t>    &lt;- MDF-1: {'service': 'Bulk diesel, DEF, gasoline, c-store merchandise, QSR restaurant meals, truck parking, driver showers, and vehicle services. (DOC: data room financi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S049_risk_assessment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Risks on record for TA</a:t>
            </a:r>
          </a:p>
          <a:p>
            <a:r>
              <a:t>    &lt;- MRK-6: 1 external risk(s)</a:t>
            </a:r>
          </a:p>
          <a:p>
            <a:r>
              <a:t>[subtitle] INTERPRETATION: Severity is shown only when the risk module states one.</a:t>
            </a:r>
          </a:p>
          <a:p>
            <a:r>
              <a:t>    &lt;- MRK-6: 1 external risk(s)</a:t>
            </a:r>
          </a:p>
          <a:p>
            <a:r>
              <a:t>[left row 1] refs: MRK-6</a:t>
            </a:r>
          </a:p>
          <a:p>
            <a:r>
              <a:t>[right[1]] FACT: 1 external risk(s)</a:t>
            </a:r>
          </a:p>
          <a:p>
            <a:r>
              <a:t>    &lt;- MRK-6: 1 external risk(s)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S058_div_competition   (blueprint slide 58 - Competitive Landscape)</a:t>
            </a:r>
          </a:p>
          <a:p>
            <a:r>
              <a:t>WORKING TITLE   Section Divider — Competitive Landscape</a:t>
            </a:r>
          </a:p>
          <a:p>
            <a:r>
              <a:t>PURPOSE         Re-show the findings divider with this chapter highlighted.</a:t>
            </a:r>
          </a:p>
          <a:p/>
          <a:p>
            <a:r>
              <a:t>WHAT THIS SLIDE MUST CONTAIN</a:t>
            </a:r>
          </a:p>
          <a:p>
            <a:r>
              <a:t>  - Four-chapter list with Competitive Landscape highlighted as current.</a:t>
            </a:r>
          </a:p>
          <a:p>
            <a:r>
              <a:t>  - Standard divider branding.</a:t>
            </a:r>
          </a:p>
          <a:p/>
          <a:p>
            <a:r>
              <a:t>SOURCES         Deck template.</a:t>
            </a:r>
          </a:p>
          <a:p>
            <a:r>
              <a:t>ANALYSIS        None.</a:t>
            </a:r>
          </a:p>
          <a:p>
            <a:r>
              <a:t>EXHIBIT         Branded divider with chapter list, current chapter emphasised.  (form: divider)</a:t>
            </a:r>
          </a:p>
          <a:p>
            <a:r>
              <a:t>QUALITY BAR     Highlight state matches the reader's position in the deck.</a:t>
            </a:r>
          </a:p>
          <a:p/>
          <a:p>
            <a:r>
              <a:t>DILIGENCEIQ MAPPING</a:t>
            </a:r>
          </a:p>
          <a:p>
            <a:r>
              <a:t>  gate            always</a:t>
            </a:r>
          </a:p>
          <a:p>
            <a:r>
              <a:t>  transform       T0-AUTO</a:t>
            </a:r>
          </a:p>
          <a:p>
            <a:r>
              <a:t>  source priority R3, R5</a:t>
            </a:r>
          </a:p>
          <a:p>
            <a:r>
              <a:t>  exceptions      E1-NOT-PROVIDED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S060_competitor_archetypes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GAP: No outside competitor research was loaded</a:t>
            </a:r>
          </a:p>
          <a:p>
            <a:r>
              <a:t>    &lt;- RUN:research-gap: UNKNOWN REF</a:t>
            </a:r>
          </a:p>
          <a:p>
            <a:r>
              <a:t>[subtitle] GAP: The data room does not name local operating companies or their prices.</a:t>
            </a:r>
          </a:p>
          <a:p>
            <a:r>
              <a:t>    &lt;- RUN:research-gap: UNKNOWN REF</a:t>
            </a:r>
          </a:p>
          <a:p>
            <a:r>
              <a:t>[table row 1] refs: RUN:research-gap</a:t>
            </a:r>
          </a:p>
          <a:p>
            <a:r>
              <a:t>[takeaway] GAP: No outside competitor research was loaded</a:t>
            </a:r>
          </a:p>
          <a:p>
            <a:r>
              <a:t>    &lt;- RUN:research-gap: UNKNOWN REF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S088_div_appx_sizing   (blueprint slide 88 - Appendix B - Market Sizing Methodology)</a:t>
            </a:r>
          </a:p>
          <a:p>
            <a:r>
              <a:t>WORKING TITLE   Section Divider — Appendix B</a:t>
            </a:r>
          </a:p>
          <a:p>
            <a:r>
              <a:t>PURPOSE         Re-show the appendix divider with Market Sizing Methodology highlighted.</a:t>
            </a:r>
          </a:p>
          <a:p/>
          <a:p>
            <a:r>
              <a:t>WHAT THIS SLIDE MUST CONTAIN</a:t>
            </a:r>
          </a:p>
          <a:p>
            <a:r>
              <a:t>  - Lettered appendix list with part B highlighted as current.</a:t>
            </a:r>
          </a:p>
          <a:p>
            <a:r>
              <a:t>  - Standard divider branding.</a:t>
            </a:r>
          </a:p>
          <a:p/>
          <a:p>
            <a:r>
              <a:t>SOURCES         Deck template.</a:t>
            </a:r>
          </a:p>
          <a:p>
            <a:r>
              <a:t>ANALYSIS        None.</a:t>
            </a:r>
          </a:p>
          <a:p>
            <a:r>
              <a:t>EXHIBIT         Branded divider with appendix list, current part emphasised.  (form: divider)</a:t>
            </a:r>
          </a:p>
          <a:p>
            <a:r>
              <a:t>QUALITY BAR     Highlight state matches the reader's position.</a:t>
            </a:r>
          </a:p>
          <a:p/>
          <a:p>
            <a:r>
              <a:t>DILIGENCEIQ MAPPING</a:t>
            </a:r>
          </a:p>
          <a:p>
            <a:r>
              <a:t>  gate            always</a:t>
            </a:r>
          </a:p>
          <a:p>
            <a:r>
              <a:t>  transform       T0-AUTO</a:t>
            </a:r>
          </a:p>
          <a:p>
            <a:r>
              <a:t>  source priority R3, R5</a:t>
            </a:r>
          </a:p>
          <a:p>
            <a:r>
              <a:t>  exceptions      E1-NOT-PROVIDED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S089_sizing_method_core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How the TA sizing was built, from the bottom-up record</a:t>
            </a:r>
          </a:p>
          <a:p>
            <a:r>
              <a:t>    &lt;- MVG-1: Units: 18 (DOC: data room financials)</a:t>
            </a:r>
          </a:p>
          <a:p>
            <a:r>
              <a:t>    &lt;- MVG-2: Arithmetic: Units evidenced: 18 (DOC: data room financials). Capture and price still required for full bottom-up size.</a:t>
            </a:r>
          </a:p>
          <a:p>
            <a:r>
              <a:t>[subtitle] INTERPRETATION: Every SOM figure moves with these assumptions.</a:t>
            </a:r>
          </a:p>
          <a:p>
            <a:r>
              <a:t>    &lt;- MVG-1: Units: 18 (DOC: data room financials)</a:t>
            </a:r>
          </a:p>
          <a:p>
            <a:r>
              <a:t>    &lt;- MVG-2: Arithmetic: Units evidenced: 18 (DOC: data room financials). Capture and price still required for full bottom-up size.</a:t>
            </a:r>
          </a:p>
          <a:p>
            <a:r>
              <a:t>[flow row 1] refs: MVG-1, MVG-2</a:t>
            </a:r>
          </a:p>
          <a:p>
            <a:r>
              <a:t>[flow row 2] refs: MVG-1, MVG-2</a:t>
            </a:r>
          </a:p>
          <a:p>
            <a:r>
              <a:t>[right[1]] FACT: Steps are the module's bottom-up record.</a:t>
            </a:r>
          </a:p>
          <a:p>
            <a:r>
              <a:t>    &lt;- MVG-1: Units: 18 (DOC: data room financials)</a:t>
            </a:r>
          </a:p>
          <a:p>
            <a:r>
              <a:t>    &lt;- MVG-2: Arithmetic: Units evidenced: 18 (DOC: data room financials). Capture and price still required for full bottom-up size.</a:t>
            </a:r>
          </a:p>
          <a:p>
            <a:r>
              <a:t>[right[2]] FACT: A haircut rate without a money base is not applied.</a:t>
            </a:r>
          </a:p>
          <a:p>
            <a:r>
              <a:t>    &lt;- MVG-1: Units: 18 (DOC: data room financials)</a:t>
            </a:r>
          </a:p>
          <a:p>
            <a:r>
              <a:t>    &lt;- MVG-2: Arithmetic: Units evidenced: 18 (DOC: data room financials). Capture and price still required for full bottom-up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S097_back_cover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[back_contact] FACT: DiligenceIQ · Commercial due diligence on TA. Draft for discussion, October 2026.</a:t>
            </a:r>
          </a:p>
          <a:p>
            <a:r>
              <a:t>    &lt;- SCM-7: Accounts and workbooks outrank the CIM, and the CIM outranks agent outputs. Plan years are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S098_div_appx_audit   (blueprint slide 98 - Appendix E - Evidence &amp; Audit Trail)</a:t>
            </a:r>
          </a:p>
          <a:p>
            <a:r>
              <a:t>WORKING TITLE   Section Divider — Evidence &amp; Audit Trail</a:t>
            </a:r>
          </a:p>
          <a:p>
            <a:r>
              <a:t>PURPOSE         Open the audit trail that makes every preceding page checkable.</a:t>
            </a:r>
          </a:p>
          <a:p/>
          <a:p>
            <a:r>
              <a:t>WHAT THIS SLIDE MUST CONTAIN</a:t>
            </a:r>
          </a:p>
          <a:p>
            <a:r>
              <a:t>  - Section number and name.</a:t>
            </a:r>
          </a:p>
          <a:p>
            <a:r>
              <a:t>  - One line naming what the appendix contains.</a:t>
            </a:r>
          </a:p>
          <a:p/>
          <a:p>
            <a:r>
              <a:t>SOURCES         Deck template.</a:t>
            </a:r>
          </a:p>
          <a:p>
            <a:r>
              <a:t>ANALYSIS        None.</a:t>
            </a:r>
          </a:p>
          <a:p>
            <a:r>
              <a:t>EXHIBIT         Section divider.  (form: divider)</a:t>
            </a:r>
          </a:p>
          <a:p>
            <a:r>
              <a:t>QUALITY BAR     A reviewer knows, before turning the page, that every figure in the report can be</a:t>
            </a:r>
          </a:p>
          <a:p>
            <a:r>
              <a:t>                traced.</a:t>
            </a:r>
          </a:p>
          <a:p/>
          <a:p>
            <a:r>
              <a:t>DILIGENCEIQ MAPPING</a:t>
            </a:r>
          </a:p>
          <a:p>
            <a:r>
              <a:t>  gate            always</a:t>
            </a:r>
          </a:p>
          <a:p>
            <a:r>
              <a:t>  transform       T0-AUTO</a:t>
            </a:r>
          </a:p>
          <a:p>
            <a:r>
              <a:t>  source priority R3, R5</a:t>
            </a:r>
          </a:p>
          <a:p>
            <a:r>
              <a:t>  exceptions      E1-NOT-PROVIDED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S099_module_verdicts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Module verdicts restated at the grade the facts support</a:t>
            </a:r>
          </a:p>
          <a:p>
            <a:r>
              <a:t>    &lt;- SCM-8: Verdict 20 modules. Stated BLOCKED. Adjusted Blocked. Findings from a blocked module are not relied on.</a:t>
            </a:r>
          </a:p>
          <a:p>
            <a:r>
              <a:t>    &lt;- SCM-9: Verdict Customer Segmentation. Stated PASS / BLOCKED. Adjusted Not produced. No facts were loaded for this module.</a:t>
            </a:r>
          </a:p>
          <a:p>
            <a:r>
              <a:t>    &lt;- SCM-10: Verdict Scope &amp; Methodology. Stated PASS / LIMITED. Adjusted Not produced. No facts were loaded for this module.</a:t>
            </a:r>
          </a:p>
          <a:p>
            <a:r>
              <a:t>    &lt;- SCM-11: Verdict Cash Flow. Stated REWORK / LIMITED. Adjusted Limited. The lower stated grade is used.</a:t>
            </a:r>
          </a:p>
          <a:p>
            <a:r>
              <a:t>    &lt;- SCM-12: Verdict Company Background. Stated PASS / LIMITED. Adjusted Limited. The lower stated grade is used.</a:t>
            </a:r>
          </a:p>
          <a:p>
            <a:r>
              <a:t>    &lt;- SCM-13: Verdict Cost Structure. Stated REWORK / LIMITED. Adjusted Limited. The lower stated grade is used.</a:t>
            </a:r>
          </a:p>
          <a:p>
            <a:r>
              <a:t>    &lt;- SCM-14: Verdict Deal Context And Objectives. Stated PASS / LIMITED. Adjusted Limited. The lower stated grade is used.</a:t>
            </a:r>
          </a:p>
          <a:p>
            <a:r>
              <a:t>    &lt;- SCM-15: Verdict Historical Performance. Stated REWORK / LIMITED. Adjusted Limited. The lower stated grade is used.</a:t>
            </a:r>
          </a:p>
          <a:p>
            <a:r>
              <a:t>    &lt;- SCM-16: Verdict Ip And Technology. Stated PASS / LIMITED. Adjusted Limited. The lower stated grade is used.</a:t>
            </a:r>
          </a:p>
          <a:p>
            <a:r>
              <a:t>    &lt;- SCM-17: Verdict Management Quality. Stated PASS / LIMITED. Adjusted Limited. The lower stated grade is used.</a:t>
            </a:r>
          </a:p>
          <a:p>
            <a:r>
              <a:t>    &lt;- SCM-18: Verdict Market Risk. Stated PASS / LIMITED. Adjusted Limited. The lower stated grade is used.</a:t>
            </a:r>
          </a:p>
          <a:p>
            <a:r>
              <a:t>    &lt;- SCM-19: Verdict Valuation Modeling. Stated REWORK / LIMITED. Adjusted Limited. The lower stated grade is used.</a:t>
            </a:r>
          </a:p>
          <a:p>
            <a:r>
              <a:t>    &lt;- SCM-20: Verdict Appendices. Stated PASS / READY. Adjusted Indicated. Lowered to the facts on file.</a:t>
            </a:r>
          </a:p>
          <a:p>
            <a:r>
              <a:t>    &lt;- SCM-21: Verdict Internal Risk. Stated PASS / READY. Adjusted Indicated. Lowered to the facts on file.</a:t>
            </a:r>
          </a:p>
          <a:p>
            <a:r>
              <a:t>    &lt;- SCM-22: Verdict Market Definition. Stated PASS / READY. Adjusted Indicated. Lowered to the facts on file.</a:t>
            </a:r>
          </a:p>
          <a:p>
            <a:r>
              <a:t>    &lt;- SCM-23: Verdict Market Intel Deck. Stated —. Adjusted Indicated. No verdict was stated, so the facts set the grade.</a:t>
            </a:r>
          </a:p>
          <a:p>
            <a:r>
              <a:t>[subtitle] INTERPRETATION: A stated pass is lowered when the facts are thinner than the module claimed.</a:t>
            </a:r>
          </a:p>
          <a:p>
            <a:r>
              <a:t>    &lt;- SCM-8: Verdict 20 modules. Stated BLOCKED. Adjusted Blocked. Findings from a blocked module are not relied on.</a:t>
            </a:r>
          </a:p>
          <a:p>
            <a:r>
              <a:t>    &lt;- SCM-9: Verdict Customer Segmentation. Stated PASS / BLOCKED. Adjusted Not produced. No facts were loaded for this module.</a:t>
            </a:r>
          </a:p>
          <a:p>
            <a:r>
              <a:t>    &lt;- SCM-10: Verdict Scope &amp; Methodology. Stated PASS / LIMITED. Adjusted Not produced. No facts were loaded for this module.</a:t>
            </a:r>
          </a:p>
          <a:p>
            <a:r>
              <a:t>    &lt;- SCM-11: Verdict Cash Flow. Stated REWORK / LIMITED. Adjusted Limited. The lower stated grade is used.</a:t>
            </a:r>
          </a:p>
          <a:p>
            <a:r>
              <a:t>    &lt;- SCM-12: Verdict Company Background. Stated PASS / LIMITED. Adjusted Limited. The lower stated grade is used.</a:t>
            </a:r>
          </a:p>
          <a:p>
            <a:r>
              <a:t>    &lt;- SCM-13: Verdict Cost Structure. Stated REWORK / LIMITED. Adjusted Limited. The lower stated grade is used.</a:t>
            </a:r>
          </a:p>
          <a:p>
            <a:r>
              <a:t>    &lt;- SCM-14: Verdict Deal Context And Objectives. Stated PASS / LIMITED. Adjusted Limited. The lower stated grade is used.</a:t>
            </a:r>
          </a:p>
          <a:p>
            <a:r>
              <a:t>    &lt;- SCM-15: Verdict Historical Performance. Stated REWORK / LIMITED. Adjusted Limited. The lower stated grade is used.</a:t>
            </a:r>
          </a:p>
          <a:p>
            <a:r>
              <a:t>    &lt;- SCM-16: Verdict Ip And Technology. Stated PASS / LIMITED. Adjusted Limited. The lower stated grade is used.</a:t>
            </a:r>
          </a:p>
          <a:p>
            <a:r>
              <a:t>    &lt;- SCM-17: Verdict Management Quality. Stated PASS / LIMITED. Adjusted Limited. The lower stated grade is used.</a:t>
            </a:r>
          </a:p>
          <a:p>
            <a:r>
              <a:t>    &lt;- SCM-18: Verdict Market Risk. Stated PASS / LIMITED. Adjusted Limited. The lower stated grade is used.</a:t>
            </a:r>
          </a:p>
          <a:p>
            <a:r>
              <a:t>    &lt;- SCM-19: Verdict Valuation Modeling. Stated REWORK / LIMITED. Adjusted Limited. The lower stated grade is used.</a:t>
            </a:r>
          </a:p>
          <a:p>
            <a:r>
              <a:t>    &lt;- SCM-20: Verdict Appendices. Stated PASS / READY. Adjusted Indicated. Lowered to the facts on file.</a:t>
            </a:r>
          </a:p>
          <a:p>
            <a:r>
              <a:t>    &lt;- SCM-21: Verdict Internal Risk. Stated PASS / READY. Adjusted Indicated. Lowered to the facts on file.</a:t>
            </a:r>
          </a:p>
          <a:p>
            <a:r>
              <a:t>    &lt;- SCM-22: Verdict Market Definition. Stated PASS / READY. Adjusted Indicated. Lowered to the facts on file.</a:t>
            </a:r>
          </a:p>
          <a:p>
            <a:r>
              <a:t>    &lt;- SCM-23: Verdict Market Intel Deck. Stated —. Adjusted Indicated. No verdict was stated, so the facts set the grade.</a:t>
            </a:r>
          </a:p>
          <a:p>
            <a:r>
              <a:t>[table row 1] refs: SCM-8, SCM-9, SCM-10, SCM-11, SCM-12, SCM-13, SCM-14, SCM-15, SCM-16, SCM-17, SCM-18, SCM-19, SCM-20, SCM-21, SCM-22, SCM-23</a:t>
            </a:r>
          </a:p>
          <a:p>
            <a:r>
              <a:t>[table row 2] refs: SCM-8, SCM-9, SCM-10, SCM-11, SCM-12, SCM-13, SCM-14, SCM-15, SCM-16, SCM-17, SCM-18, SCM-19, SCM-20, SCM-21, SCM-22, SCM-23</a:t>
            </a:r>
          </a:p>
          <a:p>
            <a:r>
              <a:t>[table row 3] refs: SCM-8, SCM-9, SCM-10, SCM-11, SCM-12, SCM-13, SCM-14, SCM-15, SCM-16, SCM-17, SCM-18, SCM-19, SCM-20, SCM-21, SCM-22, SCM-23</a:t>
            </a:r>
          </a:p>
          <a:p>
            <a:r>
              <a:t>[table row 4] refs: SCM-8, SCM-9, SCM-10, SCM-11, SCM-12, SCM-13, SCM-14, SCM-15, SCM-16, SCM-17, SCM-18, SCM-19, SCM-20, SCM-21, SCM-22, SCM-23</a:t>
            </a:r>
          </a:p>
          <a:p>
            <a:r>
              <a:t>[table row 5] refs: SCM-8, SCM-9, SCM-10, SCM-11, SCM-12, SCM-13, SCM-14, SCM-15, SCM-16, SCM-17, SCM-18, SCM-19, SCM-20, SCM-21, SCM-22, SCM-23</a:t>
            </a:r>
          </a:p>
          <a:p>
            <a:r>
              <a:t>[table row 6] refs: SCM-8, SCM-9, SCM-10, SCM-11, SCM-12, SCM-13, SCM-14, SCM-15, SCM-16, SCM-17, SCM-18, SCM-19, SCM-20, SCM-21, SCM-22, SCM-23</a:t>
            </a:r>
          </a:p>
          <a:p>
            <a:r>
              <a:t>[table row 7] refs: SCM-8, SCM-9, SCM-10, SCM-11, SCM-12, SCM-13, SCM-14, SCM-15, SCM-16, SCM-17, SCM-18, SCM-19, SCM-20, SCM-21, SCM-22, SCM-23</a:t>
            </a:r>
          </a:p>
          <a:p>
            <a:r>
              <a:t>[table row 8] refs: SCM-8, SCM-9, SCM-10, SCM-11, SCM-12, SCM-13, SCM-14, SCM-15, SCM-16, SCM-17, SCM-18, SCM-19, SCM-20, SCM-21, SCM-22, SCM-23</a:t>
            </a:r>
          </a:p>
          <a:p>
            <a:r>
              <a:t>[takeaway] FACT: The adjusted grade is the one this report uses. It is not raised above the facts.</a:t>
            </a:r>
          </a:p>
          <a:p>
            <a:r>
              <a:t>    &lt;- SCM-8: Verdict 20 modules. Stated BLOCKED. Adjusted Blocked. Findings from a blocked module are not relied on.</a:t>
            </a:r>
          </a:p>
          <a:p>
            <a:r>
              <a:t>    &lt;- SCM-9: Verdict Customer Segmentation. Stated PASS / BLOCKED. Adjusted Not produced. No facts were loaded for this module.</a:t>
            </a:r>
          </a:p>
          <a:p>
            <a:r>
              <a:t>    &lt;- SCM-10: Verdict Scope &amp; Methodology. Stated PASS / LIMITED. Adjusted Not produced. No facts were loaded for this module.</a:t>
            </a:r>
          </a:p>
          <a:p>
            <a:r>
              <a:t>    &lt;- SCM-11: Verdict Cash Flow. Stated REWORK / LIMITED. Adjusted Limited. The lower stated grade is used.</a:t>
            </a:r>
          </a:p>
          <a:p>
            <a:r>
              <a:t>    &lt;- SCM-12: Verdict Company Background. Stated PASS / LIMITED. Adjusted Limited. The lower stated grade is used.</a:t>
            </a:r>
          </a:p>
          <a:p>
            <a:r>
              <a:t>    &lt;- SCM-13: Verdict Cost Structure. Stated REWORK / LIMITED. Adjusted Limited. The lower stated grade is used.</a:t>
            </a:r>
          </a:p>
          <a:p>
            <a:r>
              <a:t>    &lt;- SCM-14: Verdict Deal Context And Objectives. Stated PASS / LIMITED. Adjusted Limited. The lower stated grade is used.</a:t>
            </a:r>
          </a:p>
          <a:p>
            <a:r>
              <a:t>    &lt;- SCM-15: Verdict Historical Performance. Stated REWORK / LIMITED. Adjusted Limited. The lower stated grade is used.</a:t>
            </a:r>
          </a:p>
          <a:p>
            <a:r>
              <a:t>    &lt;- SCM-16: Verdict Ip And Technology. Stated PASS / LIMITED. Adjusted Limited. The lower stated grade is used.</a:t>
            </a:r>
          </a:p>
          <a:p>
            <a:r>
              <a:t>    &lt;- SCM-17: Verdict Management Quality. Stated PASS / LIMITED. Adjusted Limited. The lower stated grade is used.</a:t>
            </a:r>
          </a:p>
          <a:p>
            <a:r>
              <a:t>    &lt;- SCM-18: Verdict Market Risk. Stated PASS / LIMITED. Adjusted Limited. The lower stated grade is used.</a:t>
            </a:r>
          </a:p>
          <a:p>
            <a:r>
              <a:t>    &lt;- SCM-19: Verdict Valuation Modeling. Stated REWORK / LIMITED. Adjusted Limited. The lower stated grade is used.</a:t>
            </a:r>
          </a:p>
          <a:p>
            <a:r>
              <a:t>    &lt;- SCM-20: Verdict Appendices. Stated PASS / READY. Adjusted Indicated. Lowered to the facts on file.</a:t>
            </a:r>
          </a:p>
          <a:p>
            <a:r>
              <a:t>    &lt;- SCM-21: Verdict Internal Risk. Stated PASS / READY. Adjusted Indicated. Lowered to the facts on file.</a:t>
            </a:r>
          </a:p>
          <a:p>
            <a:r>
              <a:t>    &lt;- SCM-22: Verdict Market Definition. Stated PASS / READY. Adjusted Indicated. Lowered to the facts on file.</a:t>
            </a:r>
          </a:p>
          <a:p>
            <a:r>
              <a:t>    &lt;- SCM-23: Verdict Market Intel Deck. Stated —. Adjusted Indicated. No verdict was stated, so the facts set the grade.</a:t>
            </a:r>
          </a:p>
          <a:p/>
          <a:p>
            <a:r>
              <a:t>EXCEPTIONS AFFECTING THIS SLIDE</a:t>
            </a:r>
          </a:p>
          <a:p>
            <a:r>
              <a:t>[HIGH] 23 modules are marked blocked. -&gt; Findings from a blocked module are not relied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S100_source_register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Sources the report rests on, read from the room or only cited</a:t>
            </a:r>
          </a:p>
          <a:p>
            <a:r>
              <a:t>    &lt;- SCM-24: Source file documents__EC Reviewed LV Baytown_ TX - 3 Yr Hold.xlsx. How used: Read.</a:t>
            </a:r>
          </a:p>
          <a:p>
            <a:r>
              <a:t>    &lt;- SCM-25: Source file documents__LVP_QoE_Model_DiligenceIQ.xlsx. How used: Read.</a:t>
            </a:r>
          </a:p>
          <a:p>
            <a:r>
              <a:t>    &lt;- SCM-26: Source file documents__Revised EC Reviewed LV Baytown TX - New Base case.xlsx. How used: Read.</a:t>
            </a:r>
          </a:p>
          <a:p>
            <a:r>
              <a:t>    &lt;- SCM-27: Other files were named by a module and were not read as a workbook.</a:t>
            </a:r>
          </a:p>
          <a:p>
            <a:r>
              <a:t>[subtitle] INTERPRETATION: Read means the workbook was extracted. Cited only means a module named the file.</a:t>
            </a:r>
          </a:p>
          <a:p>
            <a:r>
              <a:t>    &lt;- SCM-24: Source file documents__EC Reviewed LV Baytown_ TX - 3 Yr Hold.xlsx. How used: Read.</a:t>
            </a:r>
          </a:p>
          <a:p>
            <a:r>
              <a:t>    &lt;- SCM-25: Source file documents__LVP_QoE_Model_DiligenceIQ.xlsx. How used: Read.</a:t>
            </a:r>
          </a:p>
          <a:p>
            <a:r>
              <a:t>    &lt;- SCM-26: Source file documents__Revised EC Reviewed LV Baytown TX - New Base case.xlsx. How used: Read.</a:t>
            </a:r>
          </a:p>
          <a:p>
            <a:r>
              <a:t>    &lt;- SCM-27: Other files were named by a module and were not read as a workbook.</a:t>
            </a:r>
          </a:p>
          <a:p>
            <a:r>
              <a:t>[table row 1] refs: SCM-24</a:t>
            </a:r>
          </a:p>
          <a:p>
            <a:r>
              <a:t>[table row 2] refs: SCM-25</a:t>
            </a:r>
          </a:p>
          <a:p>
            <a:r>
              <a:t>[table row 3] refs: SCM-26</a:t>
            </a:r>
          </a:p>
          <a:p>
            <a:r>
              <a:t>[table row 4] refs: SCM-27</a:t>
            </a:r>
          </a:p>
          <a:p>
            <a:r>
              <a:t>[takeaway] FACT: Read means the workbook was extracted into the evidence register. Cited only means the file was named by a module and was not read as a work</a:t>
            </a:r>
          </a:p>
          <a:p>
            <a:r>
              <a:t>    &lt;- SCM-24: Source file documents__EC Reviewed LV Baytown_ TX - 3 Yr Hold.xlsx. How used: Read.</a:t>
            </a:r>
          </a:p>
          <a:p>
            <a:r>
              <a:t>    &lt;- SCM-25: Source file documents__LVP_QoE_Model_DiligenceIQ.xlsx. How used: Read.</a:t>
            </a:r>
          </a:p>
          <a:p>
            <a:r>
              <a:t>    &lt;- SCM-26: Source file documents__Revised EC Reviewed LV Baytown TX - New Base case.xlsx. How used: Read.</a:t>
            </a:r>
          </a:p>
          <a:p>
            <a:r>
              <a:t>    &lt;- SCM-27: Other files were named by a module and were not read as a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TRAIL - S101_exceptions</a:t>
            </a:r>
          </a:p>
          <a:p>
            <a:r>
              <a:t>Kinds: FACT = sourced; CALC = calculated (†); VIEW = DiligenceIQ interpretation</a:t>
            </a:r>
          </a:p>
          <a:p/>
          <a:p>
            <a:r>
              <a:t>[title] INTERPRETATION: What this report could not establish</a:t>
            </a:r>
          </a:p>
          <a:p>
            <a:r>
              <a:t>    &lt;- SCM-28: Exception HIGH. Rule E1-NOT-PROVIDED. Slide S099. 23 modules are marked blocked. Findings from a blocked module are not relied on.</a:t>
            </a:r>
          </a:p>
          <a:p>
            <a:r>
              <a:t>    &lt;- SCM-29: Exception MEDIUM. Rule E11-NO-PRIMARY. Slide S065. No customer survey or interviews were loaded. NPS and quote pages stay withheld.</a:t>
            </a:r>
          </a:p>
          <a:p>
            <a:r>
              <a:t>    &lt;- SCM-30: Exception MEDIUM. Rule E11-NO-PRIMARY. Slide S006. 24 pages need a survey or interview file No survey or interview file was loaded.</a:t>
            </a:r>
          </a:p>
          <a:p>
            <a:r>
              <a:t>    &lt;- SCM-31: Exception MEDIUM. Rule E1-NOT-PROVIDED. Slide S009. 50 pages have nothing further in the loaded record Not in the loaded record.</a:t>
            </a:r>
          </a:p>
          <a:p>
            <a:r>
              <a:t>[subtitle] INTERPRETATION: Each row is a gap in the record. A withheld template page is not, by itself, a finding.</a:t>
            </a:r>
          </a:p>
          <a:p>
            <a:r>
              <a:t>    &lt;- SCM-28: Exception HIGH. Rule E1-NOT-PROVIDED. Slide S099. 23 modules are marked blocked. Findings from a blocked module are not relied on.</a:t>
            </a:r>
          </a:p>
          <a:p>
            <a:r>
              <a:t>    &lt;- SCM-29: Exception MEDIUM. Rule E11-NO-PRIMARY. Slide S065. No customer survey or interviews were loaded. NPS and quote pages stay withheld.</a:t>
            </a:r>
          </a:p>
          <a:p>
            <a:r>
              <a:t>    &lt;- SCM-30: Exception MEDIUM. Rule E11-NO-PRIMARY. Slide S006. 24 pages need a survey or interview file No survey or interview file was loaded.</a:t>
            </a:r>
          </a:p>
          <a:p>
            <a:r>
              <a:t>    &lt;- SCM-31: Exception MEDIUM. Rule E1-NOT-PROVIDED. Slide S009. 50 pages have nothing further in the loaded record Not in the loaded record.</a:t>
            </a:r>
          </a:p>
          <a:p>
            <a:r>
              <a:t>[table row 1] refs: SCM-28, SCM-29, SCM-30, SCM-31</a:t>
            </a:r>
          </a:p>
          <a:p>
            <a:r>
              <a:t>[table row 2] refs: SCM-28, SCM-29, SCM-30, SCM-31</a:t>
            </a:r>
          </a:p>
          <a:p>
            <a:r>
              <a:t>[table row 3] refs: SCM-28, SCM-29, SCM-30, SCM-31</a:t>
            </a:r>
          </a:p>
          <a:p>
            <a:r>
              <a:t>[table row 4] refs: SCM-28, SCM-29, SCM-30, SCM-31</a:t>
            </a:r>
          </a:p>
          <a:p>
            <a:r>
              <a:t>[takeaway] FACT: The adjusted verdicts and the source register are the other half of this audit.</a:t>
            </a:r>
          </a:p>
          <a:p>
            <a:r>
              <a:t>    &lt;- SCM-28: Exception HIGH. Rule E1-NOT-PROVIDED. Slide S099. 23 modules are marked blocked. Findings from a blocked module are not relied on.</a:t>
            </a:r>
          </a:p>
          <a:p>
            <a:r>
              <a:t>    &lt;- SCM-29: Exception MEDIUM. Rule E11-NO-PRIMARY. Slide S065. No customer survey or interviews were loaded. NPS and quote pages stay withheld.</a:t>
            </a:r>
          </a:p>
          <a:p>
            <a:r>
              <a:t>    &lt;- SCM-30: Exception MEDIUM. Rule E11-NO-PRIMARY. Slide S006. 24 pages need a survey or interview file No survey or interview file was loaded.</a:t>
            </a:r>
          </a:p>
          <a:p>
            <a:r>
              <a:t>    &lt;- SCM-31: Exception MEDIUM. Rule E1-NOT-PROVIDED. Slide S009. 50 pages have nothing further in the loaded record Not in the loaded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Q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966960" y="914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DiligenceIQ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6510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· Commercial due diligence · Draft for discussion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23360" y="6510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DiligenceIQ  |  Strictly private &amp; confidential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Q_DIVIDER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126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DiligenceIQ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589520" y="6172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· Commercial due diligence · Draft for discussion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3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Q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1_cover">
    <p:spTree>
      <p:nvGrpSpPr>
        <p:cNvPr id="1" name=""/>
        <p:cNvGrpSpPr/>
        <p:nvPr/>
      </p:nvGrpSpPr>
      <p:grpSpPr/>
      <p:sp>
        <p:nvSpPr>
          <p:cNvPr id="2" name="cover_brand"/>
          <p:cNvSpPr txBox="1"/>
          <p:nvPr/>
        </p:nvSpPr>
        <p:spPr>
          <a:xfrm>
            <a:off x="502920" y="4572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DiligenceIQ</a:t>
            </a:r>
          </a:p>
        </p:txBody>
      </p:sp>
      <p:sp>
        <p:nvSpPr>
          <p:cNvPr id="3" name="cover_tag"/>
          <p:cNvSpPr txBox="1"/>
          <p:nvPr/>
        </p:nvSpPr>
        <p:spPr>
          <a:xfrm>
            <a:off x="502920" y="8686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9C3D1"/>
                </a:solidFill>
                <a:latin typeface="Calibri"/>
              </a:rPr>
              <a:t>Commercial due diligence</a:t>
            </a:r>
          </a:p>
        </p:txBody>
      </p:sp>
      <p:sp>
        <p:nvSpPr>
          <p:cNvPr id="4" name="report_title"/>
          <p:cNvSpPr txBox="1"/>
          <p:nvPr/>
        </p:nvSpPr>
        <p:spPr>
          <a:xfrm>
            <a:off x="502920" y="2377440"/>
            <a:ext cx="3886200" cy="13716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Commercial Due Diligence: TA</a:t>
            </a:r>
          </a:p>
        </p:txBody>
      </p:sp>
      <p:sp>
        <p:nvSpPr>
          <p:cNvPr id="5" name="report_subtitle"/>
          <p:cNvSpPr txBox="1"/>
          <p:nvPr/>
        </p:nvSpPr>
        <p:spPr>
          <a:xfrm>
            <a:off x="502920" y="3822191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F2C879"/>
                </a:solidFill>
                <a:latin typeface="Calibri"/>
              </a:rPr>
              <a:t>Draft for discussion</a:t>
            </a:r>
          </a:p>
        </p:txBody>
      </p:sp>
      <p:sp>
        <p:nvSpPr>
          <p:cNvPr id="6" name="prepared_for"/>
          <p:cNvSpPr txBox="1"/>
          <p:nvPr/>
        </p:nvSpPr>
        <p:spPr>
          <a:xfrm>
            <a:off x="502920" y="5257800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Prepared for DiligenceIQ</a:t>
            </a:r>
          </a:p>
        </p:txBody>
      </p:sp>
      <p:sp>
        <p:nvSpPr>
          <p:cNvPr id="7" name="report_date"/>
          <p:cNvSpPr txBox="1"/>
          <p:nvPr/>
        </p:nvSpPr>
        <p:spPr>
          <a:xfrm>
            <a:off x="502920" y="571500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9C3D1"/>
                </a:solidFill>
                <a:latin typeface="Calibri"/>
              </a:rPr>
              <a:t>October 2026</a:t>
            </a:r>
          </a:p>
        </p:txBody>
      </p:sp>
      <p:sp>
        <p:nvSpPr>
          <p:cNvPr id="8" name="confidential"/>
          <p:cNvSpPr txBox="1"/>
          <p:nvPr/>
        </p:nvSpPr>
        <p:spPr>
          <a:xfrm>
            <a:off x="502920" y="6144768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7791F"/>
                </a:solidFill>
                <a:latin typeface="Calibri"/>
              </a:rPr>
              <a:t>CONFIDENTIAL</a:t>
            </a:r>
          </a:p>
        </p:txBody>
      </p:sp>
      <p:sp>
        <p:nvSpPr>
          <p:cNvPr id="9" name="motif_0"/>
          <p:cNvSpPr/>
          <p:nvPr/>
        </p:nvSpPr>
        <p:spPr>
          <a:xfrm>
            <a:off x="5486400" y="5029200"/>
            <a:ext cx="566928" cy="10058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otif_1"/>
          <p:cNvSpPr/>
          <p:nvPr/>
        </p:nvSpPr>
        <p:spPr>
          <a:xfrm>
            <a:off x="6355080" y="4572000"/>
            <a:ext cx="566928" cy="1463040"/>
          </a:xfrm>
          <a:prstGeom prst="rect">
            <a:avLst/>
          </a:prstGeom>
          <a:solidFill>
            <a:srgbClr val="A9C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otif_2"/>
          <p:cNvSpPr/>
          <p:nvPr/>
        </p:nvSpPr>
        <p:spPr>
          <a:xfrm>
            <a:off x="7223760" y="4754879"/>
            <a:ext cx="566928" cy="128016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otif_3"/>
          <p:cNvSpPr/>
          <p:nvPr/>
        </p:nvSpPr>
        <p:spPr>
          <a:xfrm>
            <a:off x="8092440" y="4023359"/>
            <a:ext cx="566928" cy="2011680"/>
          </a:xfrm>
          <a:prstGeom prst="rect">
            <a:avLst/>
          </a:prstGeom>
          <a:solidFill>
            <a:srgbClr val="A9C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otif_4"/>
          <p:cNvSpPr/>
          <p:nvPr/>
        </p:nvSpPr>
        <p:spPr>
          <a:xfrm>
            <a:off x="8961120" y="3566159"/>
            <a:ext cx="566928" cy="2468880"/>
          </a:xfrm>
          <a:prstGeom prst="rect">
            <a:avLst/>
          </a:prstGeom>
          <a:solidFill>
            <a:srgbClr val="5E81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otif_5"/>
          <p:cNvSpPr/>
          <p:nvPr/>
        </p:nvSpPr>
        <p:spPr>
          <a:xfrm>
            <a:off x="9829800" y="2926079"/>
            <a:ext cx="566928" cy="3108960"/>
          </a:xfrm>
          <a:prstGeom prst="rect">
            <a:avLst/>
          </a:prstGeom>
          <a:solidFill>
            <a:srgbClr val="2E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otif_6"/>
          <p:cNvSpPr/>
          <p:nvPr/>
        </p:nvSpPr>
        <p:spPr>
          <a:xfrm>
            <a:off x="10698480" y="2103120"/>
            <a:ext cx="566928" cy="393192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motif_axis"/>
          <p:cNvCxnSpPr/>
          <p:nvPr/>
        </p:nvCxnSpPr>
        <p:spPr>
          <a:xfrm>
            <a:off x="5303520" y="6053328"/>
            <a:ext cx="6492240" cy="0"/>
          </a:xfrm>
          <a:prstGeom prst="line">
            <a:avLst/>
          </a:prstGeom>
          <a:ln w="12700">
            <a:solidFill>
              <a:srgbClr val="5B6B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2_disclaimer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ENGAGEMENT OVERVIEW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84048"/>
            <a:ext cx="113385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Disclaimer &amp; reliance limitations</a:t>
            </a:r>
          </a:p>
        </p:txBody>
      </p:sp>
      <p:sp>
        <p:nvSpPr>
          <p:cNvPr id="5" name="disclaimer_body"/>
          <p:cNvSpPr txBox="1"/>
          <p:nvPr/>
        </p:nvSpPr>
        <p:spPr>
          <a:xfrm>
            <a:off x="411480" y="1691640"/>
            <a:ext cx="11365992" cy="32918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wrap="square" anchor="ctr" lIns="109728" rIns="109728" tIns="0" bIns="0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Prepared for discussion of TA. It is not a recommendation to invest. Accounts and workbooks outrank the CIM, and the CIM outranks agent outputs.</a:t>
            </a:r>
          </a:p>
        </p:txBody>
      </p:sp>
      <p:sp>
        <p:nvSpPr>
          <p:cNvPr id="6" name="data_notice"/>
          <p:cNvSpPr/>
          <p:nvPr/>
        </p:nvSpPr>
        <p:spPr>
          <a:xfrm>
            <a:off x="411480" y="5212080"/>
            <a:ext cx="11365992" cy="868680"/>
          </a:xfrm>
          <a:prstGeom prst="rect">
            <a:avLst/>
          </a:prstGeom>
          <a:solidFill>
            <a:srgbClr val="EEF1F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200" bIns="76200"/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Evidence is limited to the diligence modules loaded for this deal. A module with no fact base is an open request, not a negative finding. Plan years carry a P suffix and are not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3_engagement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ENGAGEMENT OVERVIEW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mandate: test whether TA's trading, customers and market support the management plan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Each finding is graded by the evidence behind it: established, indicated or asserted.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agent outputs: Scope &amp; Methodology; data room: 2026 Financial Statement Draft - Q1 2026 rp, FY24 LV Petroleum LLC Financial Statements  As Issued  7.13.25, LV Petroleum December 31  2025 Financial Statements - Signed Audit Report, LVP LLC 2025 Financials DRAFT 4.22.26, APEX Capital Phase 2 2015 12 18, Due Diligence Report -TA Baytown 7.22.26</a:t>
            </a:r>
          </a:p>
        </p:txBody>
      </p:sp>
      <p:sp>
        <p:nvSpPr>
          <p:cNvPr id="7" name="lead"/>
          <p:cNvSpPr/>
          <p:nvPr/>
        </p:nvSpPr>
        <p:spPr>
          <a:xfrm>
            <a:off x="411480" y="1691640"/>
            <a:ext cx="11365992" cy="658368"/>
          </a:xfrm>
          <a:prstGeom prst="rect">
            <a:avLst/>
          </a:prstGeom>
          <a:solidFill>
            <a:srgbClr val="EEF1F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200" bIns="76200"/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Commercial due diligence on TA using the data room and the diligence modules loaded for this deal.</a:t>
            </a:r>
          </a:p>
        </p:txBody>
      </p:sp>
      <p:sp>
        <p:nvSpPr>
          <p:cNvPr id="8" name="col1_head"/>
          <p:cNvSpPr/>
          <p:nvPr/>
        </p:nvSpPr>
        <p:spPr>
          <a:xfrm>
            <a:off x="411480" y="2487168"/>
            <a:ext cx="2141524" cy="457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Business &amp; Financials</a:t>
            </a:r>
          </a:p>
        </p:txBody>
      </p:sp>
      <p:sp>
        <p:nvSpPr>
          <p:cNvPr id="9" name="col1_body"/>
          <p:cNvSpPr/>
          <p:nvPr/>
        </p:nvSpPr>
        <p:spPr>
          <a:xfrm>
            <a:off x="411480" y="3017520"/>
            <a:ext cx="2141524" cy="3108960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76200"/>
          <a:lstStyle/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What has the business delivered?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How do margins trend?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What is contracted?</a:t>
            </a:r>
          </a:p>
        </p:txBody>
      </p:sp>
      <p:sp>
        <p:nvSpPr>
          <p:cNvPr id="10" name="col2_head"/>
          <p:cNvSpPr/>
          <p:nvPr/>
        </p:nvSpPr>
        <p:spPr>
          <a:xfrm>
            <a:off x="2717596" y="2487168"/>
            <a:ext cx="2141524" cy="457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Market &amp; Geography</a:t>
            </a:r>
          </a:p>
        </p:txBody>
      </p:sp>
      <p:sp>
        <p:nvSpPr>
          <p:cNvPr id="11" name="col2_body"/>
          <p:cNvSpPr/>
          <p:nvPr/>
        </p:nvSpPr>
        <p:spPr>
          <a:xfrm>
            <a:off x="2717596" y="3017520"/>
            <a:ext cx="2141524" cy="3108960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76200"/>
          <a:lstStyle/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How large is the serviceable market?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Is the sizing method sound?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Which geographies are next?</a:t>
            </a:r>
          </a:p>
        </p:txBody>
      </p:sp>
      <p:sp>
        <p:nvSpPr>
          <p:cNvPr id="12" name="col3_head"/>
          <p:cNvSpPr/>
          <p:nvPr/>
        </p:nvSpPr>
        <p:spPr>
          <a:xfrm>
            <a:off x="5023713" y="2487168"/>
            <a:ext cx="2141524" cy="457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Customers &amp; Retention</a:t>
            </a:r>
          </a:p>
        </p:txBody>
      </p:sp>
      <p:sp>
        <p:nvSpPr>
          <p:cNvPr id="13" name="col3_body"/>
          <p:cNvSpPr/>
          <p:nvPr/>
        </p:nvSpPr>
        <p:spPr>
          <a:xfrm>
            <a:off x="5023713" y="3017520"/>
            <a:ext cx="2141524" cy="3108960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76200"/>
          <a:lstStyle/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How are customers retained?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How concentrated is revenue?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What is untested without research?</a:t>
            </a:r>
          </a:p>
        </p:txBody>
      </p:sp>
      <p:sp>
        <p:nvSpPr>
          <p:cNvPr id="14" name="col4_head"/>
          <p:cNvSpPr/>
          <p:nvPr/>
        </p:nvSpPr>
        <p:spPr>
          <a:xfrm>
            <a:off x="7329830" y="2487168"/>
            <a:ext cx="2141524" cy="457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15" name="col4_body"/>
          <p:cNvSpPr/>
          <p:nvPr/>
        </p:nvSpPr>
        <p:spPr>
          <a:xfrm>
            <a:off x="7329830" y="3017520"/>
            <a:ext cx="2141524" cy="3108960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76200"/>
          <a:lstStyle/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Who competes for the same customers?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Is price in line?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Which differentiators hold?</a:t>
            </a:r>
          </a:p>
        </p:txBody>
      </p:sp>
      <p:sp>
        <p:nvSpPr>
          <p:cNvPr id="16" name="col5_head"/>
          <p:cNvSpPr/>
          <p:nvPr/>
        </p:nvSpPr>
        <p:spPr>
          <a:xfrm>
            <a:off x="9635947" y="2487168"/>
            <a:ext cx="2141524" cy="457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Growth Opportunities</a:t>
            </a:r>
          </a:p>
        </p:txBody>
      </p:sp>
      <p:sp>
        <p:nvSpPr>
          <p:cNvPr id="17" name="col5_body"/>
          <p:cNvSpPr/>
          <p:nvPr/>
        </p:nvSpPr>
        <p:spPr>
          <a:xfrm>
            <a:off x="9635947" y="3017520"/>
            <a:ext cx="2141524" cy="3108960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76200"/>
          <a:lstStyle/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Which levers are in the plan?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What must be true for each?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What would change the view?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4_contents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ENGAGEMENT OVERVIEW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84048"/>
            <a:ext cx="113385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graphicFrame>
        <p:nvGraphicFramePr>
          <p:cNvPr id="5" name="contents_body"/>
          <p:cNvGraphicFramePr>
            <a:graphicFrameLocks noGrp="1"/>
          </p:cNvGraphicFramePr>
          <p:nvPr/>
        </p:nvGraphicFramePr>
        <p:xfrm>
          <a:off x="1097280" y="1463040"/>
          <a:ext cx="10058400" cy="210312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8549640"/>
                <a:gridCol w="15087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4213D"/>
                          </a:solidFill>
                          <a:latin typeface="Calibri"/>
                        </a:rPr>
                        <a:t>01   Business Introduction &amp; Market Primer</a:t>
                      </a:r>
                    </a:p>
                  </a:txBody>
                  <a:tcPr>
                    <a:noFill/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4213D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>
                    <a:noFill/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4213D"/>
                          </a:solidFill>
                          <a:latin typeface="Calibri"/>
                        </a:rPr>
                        <a:t>02   Market Dynamics &amp; Opportunity</a:t>
                      </a:r>
                    </a:p>
                  </a:txBody>
                  <a:tcPr>
                    <a:noFill/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noFill/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4213D"/>
                          </a:solidFill>
                          <a:latin typeface="Calibri"/>
                        </a:rPr>
                        <a:t>03   Competitive Landscape</a:t>
                      </a:r>
                    </a:p>
                  </a:txBody>
                  <a:tcPr>
                    <a:noFill/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421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noFill/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4213D"/>
                          </a:solidFill>
                          <a:latin typeface="Calibri"/>
                        </a:rPr>
                        <a:t>04   Appendix A - Market Sizing Methodology</a:t>
                      </a:r>
                    </a:p>
                  </a:txBody>
                  <a:tcPr>
                    <a:noFill/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noFill/>
                    <a:lnB w="6350">
                      <a:solidFill>
                        <a:srgbClr val="D5DB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4213D"/>
                          </a:solidFill>
                          <a:latin typeface="Calibri"/>
                        </a:rPr>
                        <a:t>05   Appendix B - Evidence &amp; Audit Trail</a:t>
                      </a:r>
                    </a:p>
                  </a:txBody>
                  <a:tcPr>
                    <a:noFill/>
                    <a:lnB w="6350">
                      <a:solidFill>
                        <a:srgbClr val="D5DB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>
                          <a:solidFill>
                            <a:srgbClr val="14213D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noFill/>
                    <a:lnB w="6350">
                      <a:solidFill>
                        <a:srgbClr val="D5DB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5_research_approach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ENGAGEMENT OVERVIEW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findings rest on the data room first: accounts and workbooks outrank the CIM, and the CIM outranks the agent outputs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Where they disagree, the data room is used and the agent finding is an exception.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agent outputs: Scope &amp; Methodology; data room: 2026 Financial Statement Draft - Q1 2026 rp, FY24 LV Petroleum LLC Financial Statements  As Issued  7.13.25, LV Petroleum December 31  2025 Financial Statements - Signed Audit Report, LVP LLC 2025 Financials DRAFT 4.22.26, APEX Capital Phase 2 2015 12 18, Due Diligence Report -TA Baytown 7.22.26</a:t>
            </a:r>
          </a:p>
        </p:txBody>
      </p:sp>
      <p:sp>
        <p:nvSpPr>
          <p:cNvPr id="7" name="left_head"/>
          <p:cNvSpPr/>
          <p:nvPr/>
        </p:nvSpPr>
        <p:spPr>
          <a:xfrm>
            <a:off x="411480" y="1691640"/>
            <a:ext cx="7086600" cy="32918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Evidence base by source type</a:t>
            </a:r>
          </a:p>
        </p:txBody>
      </p:sp>
      <p:sp>
        <p:nvSpPr>
          <p:cNvPr id="9" name="right_head"/>
          <p:cNvSpPr/>
          <p:nvPr/>
        </p:nvSpPr>
        <p:spPr>
          <a:xfrm>
            <a:off x="7726679" y="1691640"/>
            <a:ext cx="4050791" cy="32918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Coverage, limitations and what was not available</a:t>
            </a:r>
          </a:p>
        </p:txBody>
      </p:sp>
      <p:sp>
        <p:nvSpPr>
          <p:cNvPr id="10" name="right"/>
          <p:cNvSpPr/>
          <p:nvPr/>
        </p:nvSpPr>
        <p:spPr>
          <a:xfrm>
            <a:off x="7726679" y="2112264"/>
            <a:ext cx="4050791" cy="4014215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76200"/>
          <a:lstStyle/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No customer survey is assumed.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Plan years are marked P and are not results.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Pages without an exhibit are withheld.</a:t>
            </a:r>
          </a:p>
        </p:txBody>
      </p:sp>
      <p:graphicFrame>
        <p:nvGraphicFramePr>
          <p:cNvPr id="11" name="left"/>
          <p:cNvGraphicFramePr>
            <a:graphicFrameLocks noGrp="1"/>
          </p:cNvGraphicFramePr>
          <p:nvPr/>
        </p:nvGraphicFramePr>
        <p:xfrm>
          <a:off x="411480" y="2112264"/>
          <a:ext cx="7086599" cy="212394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38894"/>
                <a:gridCol w="2654813"/>
                <a:gridCol w="3492892"/>
              </a:tblGrid>
              <a:tr h="2870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Accounts / QBO actuals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Established results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Company workbook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Indicated, company's model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CIM / management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Asserted until tied to accounts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Agent outputs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 lead, rejected if uncited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99_module_verdicts__2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APPENDIX B - EVIDENCE &amp; AUDIT TRAIL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Module verdicts restated at the grade the facts support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A stated pass is lowered when the facts are thinner than the module claimed.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agent outputs: Scope &amp; Methodology; data room: 2026 Financial Statement Draft - Q1 2026 rp, FY24 LV Petroleum LLC Financial Statements  As Issued  7.13.25, LV Petroleum December 31  2025 Financial Statements - Signed Audit Report, LVP LLC 2025 Financials DRAFT 4.22.26, APEX Capital Phase 2 2015 12 18, Due Diligence Report -TA Baytown 7.22.26</a:t>
            </a:r>
          </a:p>
        </p:txBody>
      </p:sp>
      <p:sp>
        <p:nvSpPr>
          <p:cNvPr id="8" name="takeaway"/>
          <p:cNvSpPr/>
          <p:nvPr/>
        </p:nvSpPr>
        <p:spPr>
          <a:xfrm>
            <a:off x="411480" y="5650992"/>
            <a:ext cx="11365992" cy="475488"/>
          </a:xfrm>
          <a:prstGeom prst="rect">
            <a:avLst/>
          </a:prstGeom>
          <a:solidFill>
            <a:srgbClr val="EEF1F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200" bIns="76200"/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The adjusted grade is the one this report uses. It is not raised above the facts.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411480" y="1691640"/>
          <a:ext cx="11365991" cy="37414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393419"/>
                <a:gridCol w="2178195"/>
                <a:gridCol w="1374658"/>
                <a:gridCol w="5419719"/>
              </a:tblGrid>
              <a:tr h="2870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Adjusted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Ip And Technology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PASS / 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The lower stated grade is used.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Management Quality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PASS / 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The lower stated grade is used.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Market Risk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PASS / 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The lower stated grade is used.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Valuation Modeling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REWORK / 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The lower stated grade is used.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Appendices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PASS / READY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Indicated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Lowered to the facts on file.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Internal Risk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PASS / READY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Indicated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Lowered to the facts on file.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Market Definition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PASS / READY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Indicated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Lowered to the facts on file.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Market Intel Deck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Indicated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 verdict was stated, so the facts set the grade.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7_glossary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ENGAGEMENT OVERVIEW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Terms used in this report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A term is listed only when it appears in this report. Plan years carry a P suffix.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analysis</a:t>
            </a:r>
          </a:p>
        </p:txBody>
      </p:sp>
      <p:sp>
        <p:nvSpPr>
          <p:cNvPr id="8" name="takeaway"/>
          <p:cNvSpPr/>
          <p:nvPr/>
        </p:nvSpPr>
        <p:spPr>
          <a:xfrm>
            <a:off x="411480" y="5650992"/>
            <a:ext cx="11365992" cy="475488"/>
          </a:xfrm>
          <a:prstGeom prst="rect">
            <a:avLst/>
          </a:prstGeom>
          <a:solidFill>
            <a:srgbClr val="EEF1F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200" bIns="76200"/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A term that does not appear in the report is not defined here.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411480" y="1691640"/>
          <a:ext cx="11365991" cy="120548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188729"/>
                <a:gridCol w="9177262"/>
              </a:tblGrid>
              <a:tr h="2870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Meaning in this report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P (suffix)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Plan or projection year, e.g. 2030P - management's forecast, not a result.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SOM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Serviceable obtainable market - the part of SAM a single operator can realistically win.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8_div_business">
    <p:spTree>
      <p:nvGrpSpPr>
        <p:cNvPr id="1" name=""/>
        <p:cNvGrpSpPr/>
        <p:nvPr/>
      </p:nvGrpSpPr>
      <p:grpSpPr/>
      <p:sp>
        <p:nvSpPr>
          <p:cNvPr id="2" name="div_number"/>
          <p:cNvSpPr txBox="1"/>
          <p:nvPr/>
        </p:nvSpPr>
        <p:spPr>
          <a:xfrm>
            <a:off x="548640" y="137160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B7791F"/>
                </a:solidFill>
                <a:latin typeface="Calibri"/>
              </a:rPr>
              <a:t>01</a:t>
            </a:r>
          </a:p>
        </p:txBody>
      </p:sp>
      <p:sp>
        <p:nvSpPr>
          <p:cNvPr id="3" name="div_title"/>
          <p:cNvSpPr txBox="1"/>
          <p:nvPr/>
        </p:nvSpPr>
        <p:spPr>
          <a:xfrm>
            <a:off x="548640" y="2468880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Business Introduction &amp; Market Primer</a:t>
            </a:r>
          </a:p>
        </p:txBody>
      </p:sp>
      <p:sp>
        <p:nvSpPr>
          <p:cNvPr id="4" name="div_blurb"/>
          <p:cNvSpPr txBox="1"/>
          <p:nvPr/>
        </p:nvSpPr>
        <p:spPr>
          <a:xfrm>
            <a:off x="548640" y="3611880"/>
            <a:ext cx="7589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9C3D1"/>
                </a:solidFill>
                <a:latin typeface="Calibri"/>
              </a:rPr>
              <a:t>Who the target is, how the industry works and where the target sits in it</a:t>
            </a:r>
          </a:p>
        </p:txBody>
      </p:sp>
      <p:sp>
        <p:nvSpPr>
          <p:cNvPr id="5" name="div_list_1"/>
          <p:cNvSpPr txBox="1"/>
          <p:nvPr/>
        </p:nvSpPr>
        <p:spPr>
          <a:xfrm>
            <a:off x="8503920" y="123444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2C879"/>
                </a:solidFill>
                <a:latin typeface="Calibri"/>
              </a:rPr>
              <a:t>01  Business Introduction &amp; Market Primer</a:t>
            </a:r>
          </a:p>
        </p:txBody>
      </p:sp>
      <p:sp>
        <p:nvSpPr>
          <p:cNvPr id="6" name="div_list_2"/>
          <p:cNvSpPr txBox="1"/>
          <p:nvPr/>
        </p:nvSpPr>
        <p:spPr>
          <a:xfrm>
            <a:off x="8503920" y="160020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02  Market Dynamics &amp; Opportunity</a:t>
            </a:r>
          </a:p>
        </p:txBody>
      </p:sp>
      <p:sp>
        <p:nvSpPr>
          <p:cNvPr id="7" name="div_list_3"/>
          <p:cNvSpPr txBox="1"/>
          <p:nvPr/>
        </p:nvSpPr>
        <p:spPr>
          <a:xfrm>
            <a:off x="8503920" y="196596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03  Competitive Landscape</a:t>
            </a:r>
          </a:p>
        </p:txBody>
      </p:sp>
      <p:sp>
        <p:nvSpPr>
          <p:cNvPr id="8" name="div_list_4"/>
          <p:cNvSpPr txBox="1"/>
          <p:nvPr/>
        </p:nvSpPr>
        <p:spPr>
          <a:xfrm>
            <a:off x="8503920" y="233172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04  Appendix A - Market Sizing Methodology</a:t>
            </a:r>
          </a:p>
        </p:txBody>
      </p:sp>
      <p:sp>
        <p:nvSpPr>
          <p:cNvPr id="9" name="div_list_5"/>
          <p:cNvSpPr txBox="1"/>
          <p:nvPr/>
        </p:nvSpPr>
        <p:spPr>
          <a:xfrm>
            <a:off x="8503920" y="269748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05  Appendix B - Evidence &amp; Audit Trail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10_platform_evolution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BUSINESS INTRODUCTION &amp; MARKET PRIMER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How TA was assembled, from the events on record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Milestones are management's unless the accounts also show them.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agent outputs: Company Background; data room: 2026 Financial Statement Draft - Q1 2026 rp, APEX Capital Phase 2 2015 12 18, Due Diligence Report -TA Baytown 7.22.26, EC Reviewed LV Baytown  TX - 3 Yr Hold, FY24 LV Petroleum LLC Financial Statements  As Issued  7.13.25, Grant Thornton Q of E 2025</a:t>
            </a:r>
          </a:p>
        </p:txBody>
      </p:sp>
      <p:sp>
        <p:nvSpPr>
          <p:cNvPr id="7" name="flow_head"/>
          <p:cNvSpPr/>
          <p:nvPr/>
        </p:nvSpPr>
        <p:spPr>
          <a:xfrm>
            <a:off x="411480" y="1691640"/>
            <a:ext cx="7086600" cy="32918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Milestones the CIM states</a:t>
            </a:r>
          </a:p>
        </p:txBody>
      </p:sp>
      <p:sp>
        <p:nvSpPr>
          <p:cNvPr id="9" name="right_head"/>
          <p:cNvSpPr/>
          <p:nvPr/>
        </p:nvSpPr>
        <p:spPr>
          <a:xfrm>
            <a:off x="7726679" y="1691640"/>
            <a:ext cx="4050791" cy="32918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What the page does not prove</a:t>
            </a:r>
          </a:p>
        </p:txBody>
      </p:sp>
      <p:sp>
        <p:nvSpPr>
          <p:cNvPr id="10" name="right"/>
          <p:cNvSpPr/>
          <p:nvPr/>
        </p:nvSpPr>
        <p:spPr>
          <a:xfrm>
            <a:off x="7726679" y="2112264"/>
            <a:ext cx="4050791" cy="4014215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76200"/>
          <a:lstStyle/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December 2025: LV Petroleum closed acquisition of an 18-site portfolio from TA corporate…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March 31, 2026: LV Petroleum, LLC issued unaudited Q1 2026 consolidated balance sheet and…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July 22, 2026: Apex Capital completed updated Due Diligence Report for TA Baytown ($27.0M…</a:t>
            </a:r>
          </a:p>
        </p:txBody>
      </p:sp>
      <p:graphicFrame>
        <p:nvGraphicFramePr>
          <p:cNvPr id="11" name="flow"/>
          <p:cNvGraphicFramePr>
            <a:graphicFrameLocks noGrp="1"/>
          </p:cNvGraphicFramePr>
          <p:nvPr/>
        </p:nvGraphicFramePr>
        <p:xfrm>
          <a:off x="411480" y="2112264"/>
          <a:ext cx="7086599" cy="166471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85899"/>
                <a:gridCol w="5400700"/>
              </a:tblGrid>
              <a:tr h="2870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December 2025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LV Petroleum closed acquisition of an 18-site portfolio from TA corporate…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March 31, 2026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LV Petroleum, LLC issued unaudited Q1 2026 consolidated balance sheet and…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July 22, 2026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Apex Capital completed updated Due Diligence Report for TA Baytown ($27.0M…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15_barriers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BUSINESS INTRODUCTION &amp; MARKET PRIMER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the record says protects TA, and what it does not establish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A moat is not adopted from an agent label.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agent outputs: Market Risk; data room: - NNN Lease  Tenant   002, LV Closing Costs, Screenshot 2026-09-26 at 22.02.10.png, Bayton Final Risk Rating</a:t>
            </a:r>
          </a:p>
        </p:txBody>
      </p:sp>
      <p:sp>
        <p:nvSpPr>
          <p:cNvPr id="7" name="left_head"/>
          <p:cNvSpPr/>
          <p:nvPr/>
        </p:nvSpPr>
        <p:spPr>
          <a:xfrm>
            <a:off x="411480" y="1691640"/>
            <a:ext cx="5577840" cy="32918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Structural barriers</a:t>
            </a:r>
          </a:p>
        </p:txBody>
      </p:sp>
      <p:sp>
        <p:nvSpPr>
          <p:cNvPr id="8" name="left"/>
          <p:cNvSpPr/>
          <p:nvPr/>
        </p:nvSpPr>
        <p:spPr>
          <a:xfrm>
            <a:off x="411480" y="2112264"/>
            <a:ext cx="5577840" cy="4014215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76200"/>
          <a:lstStyle/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No differentiation finding on file.</a:t>
            </a:r>
          </a:p>
        </p:txBody>
      </p:sp>
      <p:sp>
        <p:nvSpPr>
          <p:cNvPr id="9" name="right_head"/>
          <p:cNvSpPr/>
          <p:nvPr/>
        </p:nvSpPr>
        <p:spPr>
          <a:xfrm>
            <a:off x="6199632" y="1691640"/>
            <a:ext cx="5577840" cy="32918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Durability and what would erode them</a:t>
            </a:r>
          </a:p>
        </p:txBody>
      </p:sp>
      <p:sp>
        <p:nvSpPr>
          <p:cNvPr id="10" name="right"/>
          <p:cNvSpPr/>
          <p:nvPr/>
        </p:nvSpPr>
        <p:spPr>
          <a:xfrm>
            <a:off x="6199632" y="2112264"/>
            <a:ext cx="5577840" cy="4014215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76200"/>
          <a:lstStyle/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1 external risk(s)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32_div_market">
    <p:spTree>
      <p:nvGrpSpPr>
        <p:cNvPr id="1" name=""/>
        <p:cNvGrpSpPr/>
        <p:nvPr/>
      </p:nvGrpSpPr>
      <p:grpSpPr/>
      <p:sp>
        <p:nvSpPr>
          <p:cNvPr id="2" name="div_number"/>
          <p:cNvSpPr txBox="1"/>
          <p:nvPr/>
        </p:nvSpPr>
        <p:spPr>
          <a:xfrm>
            <a:off x="548640" y="137160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B7791F"/>
                </a:solidFill>
                <a:latin typeface="Calibri"/>
              </a:rPr>
              <a:t>02</a:t>
            </a:r>
          </a:p>
        </p:txBody>
      </p:sp>
      <p:sp>
        <p:nvSpPr>
          <p:cNvPr id="3" name="div_title"/>
          <p:cNvSpPr txBox="1"/>
          <p:nvPr/>
        </p:nvSpPr>
        <p:spPr>
          <a:xfrm>
            <a:off x="548640" y="2468880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Market Dynamics &amp; Opportunity</a:t>
            </a:r>
          </a:p>
        </p:txBody>
      </p:sp>
      <p:sp>
        <p:nvSpPr>
          <p:cNvPr id="4" name="div_blurb"/>
          <p:cNvSpPr txBox="1"/>
          <p:nvPr/>
        </p:nvSpPr>
        <p:spPr>
          <a:xfrm>
            <a:off x="548640" y="3611880"/>
            <a:ext cx="7589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9C3D1"/>
                </a:solidFill>
                <a:latin typeface="Calibri"/>
              </a:rPr>
              <a:t>How large, how fast-growing and how resilient the addressable market is</a:t>
            </a:r>
          </a:p>
        </p:txBody>
      </p:sp>
      <p:sp>
        <p:nvSpPr>
          <p:cNvPr id="5" name="div_list_1"/>
          <p:cNvSpPr txBox="1"/>
          <p:nvPr/>
        </p:nvSpPr>
        <p:spPr>
          <a:xfrm>
            <a:off x="8503920" y="123444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01  Business Introduction &amp; Market Primer</a:t>
            </a:r>
          </a:p>
        </p:txBody>
      </p:sp>
      <p:sp>
        <p:nvSpPr>
          <p:cNvPr id="6" name="div_list_2"/>
          <p:cNvSpPr txBox="1"/>
          <p:nvPr/>
        </p:nvSpPr>
        <p:spPr>
          <a:xfrm>
            <a:off x="8503920" y="160020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2C879"/>
                </a:solidFill>
                <a:latin typeface="Calibri"/>
              </a:rPr>
              <a:t>02  Market Dynamics &amp; Opportunity</a:t>
            </a:r>
          </a:p>
        </p:txBody>
      </p:sp>
      <p:sp>
        <p:nvSpPr>
          <p:cNvPr id="7" name="div_list_3"/>
          <p:cNvSpPr txBox="1"/>
          <p:nvPr/>
        </p:nvSpPr>
        <p:spPr>
          <a:xfrm>
            <a:off x="8503920" y="196596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03  Competitive Landscape</a:t>
            </a:r>
          </a:p>
        </p:txBody>
      </p:sp>
      <p:sp>
        <p:nvSpPr>
          <p:cNvPr id="8" name="div_list_4"/>
          <p:cNvSpPr txBox="1"/>
          <p:nvPr/>
        </p:nvSpPr>
        <p:spPr>
          <a:xfrm>
            <a:off x="8503920" y="233172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04  Appendix A - Market Sizing Methodology</a:t>
            </a:r>
          </a:p>
        </p:txBody>
      </p:sp>
      <p:sp>
        <p:nvSpPr>
          <p:cNvPr id="9" name="div_list_5"/>
          <p:cNvSpPr txBox="1"/>
          <p:nvPr/>
        </p:nvSpPr>
        <p:spPr>
          <a:xfrm>
            <a:off x="8503920" y="269748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05  Appendix B - Evidence &amp; Audit Trail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34_market_definitions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MARKET DYNAMICS &amp; OPPORTUNITY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market used for TA is the perimeter in the market-definition module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{'service': 'Bulk diesel, DEF, gasoline, c-store merchandise, QSR restaurant meals, truck parking, driver showers, and vehicle services. (DOC: 2026…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agent outputs: Market Definition; data room: Bayton Final Risk Rating, LV Petroleum Credit Rating, - NNN Lease  Tenant   002, LV Closing Costs, Screenshot 2026-09-26 at 22.02.10.png</a:t>
            </a:r>
          </a:p>
        </p:txBody>
      </p:sp>
      <p:sp>
        <p:nvSpPr>
          <p:cNvPr id="8" name="takeaway"/>
          <p:cNvSpPr/>
          <p:nvPr/>
        </p:nvSpPr>
        <p:spPr>
          <a:xfrm>
            <a:off x="411480" y="5650992"/>
            <a:ext cx="11365992" cy="475488"/>
          </a:xfrm>
          <a:prstGeom prst="rect">
            <a:avLst/>
          </a:prstGeom>
          <a:solidFill>
            <a:srgbClr val="EEF1F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200" bIns="76200"/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Agent perimeters that disagree with this page are exceptions.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411480" y="1691640"/>
          <a:ext cx="11365991" cy="74625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458097"/>
                <a:gridCol w="8907894"/>
              </a:tblGrid>
              <a:tr h="2870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Boundary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As stated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In perimeter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{'service': 'Bulk diesel, DEF, gasoline, c-store merchandise, QSR restaurant…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49_risk_assessment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MARKET DYNAMICS &amp; OPPORTUNITY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Risks on record for TA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Severity is shown only when the risk module states one.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agent outputs: Market Risk; data room: - NNN Lease  Tenant   002, LV Closing Costs, Screenshot 2026-09-26 at 22.02.10.png, Bayton Final Risk Rating</a:t>
            </a:r>
          </a:p>
        </p:txBody>
      </p:sp>
      <p:sp>
        <p:nvSpPr>
          <p:cNvPr id="7" name="left_head"/>
          <p:cNvSpPr/>
          <p:nvPr/>
        </p:nvSpPr>
        <p:spPr>
          <a:xfrm>
            <a:off x="411480" y="1691640"/>
            <a:ext cx="7086600" cy="32918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Risk register - impact x likelihood</a:t>
            </a:r>
          </a:p>
        </p:txBody>
      </p:sp>
      <p:sp>
        <p:nvSpPr>
          <p:cNvPr id="9" name="right_head"/>
          <p:cNvSpPr/>
          <p:nvPr/>
        </p:nvSpPr>
        <p:spPr>
          <a:xfrm>
            <a:off x="7726679" y="1691640"/>
            <a:ext cx="4050791" cy="32918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Mitigations and residual exposure</a:t>
            </a:r>
          </a:p>
        </p:txBody>
      </p:sp>
      <p:sp>
        <p:nvSpPr>
          <p:cNvPr id="10" name="right"/>
          <p:cNvSpPr/>
          <p:nvPr/>
        </p:nvSpPr>
        <p:spPr>
          <a:xfrm>
            <a:off x="7726679" y="2112264"/>
            <a:ext cx="4050791" cy="4014215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76200"/>
          <a:lstStyle/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1 external risk(s)</a:t>
            </a:r>
          </a:p>
        </p:txBody>
      </p:sp>
      <p:graphicFrame>
        <p:nvGraphicFramePr>
          <p:cNvPr id="11" name="left"/>
          <p:cNvGraphicFramePr>
            <a:graphicFrameLocks noGrp="1"/>
          </p:cNvGraphicFramePr>
          <p:nvPr/>
        </p:nvGraphicFramePr>
        <p:xfrm>
          <a:off x="411480" y="2112264"/>
          <a:ext cx="7086599" cy="74625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656759"/>
                <a:gridCol w="1911394"/>
                <a:gridCol w="1518446"/>
              </a:tblGrid>
              <a:tr h="2870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1 external risk(s)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58_div_competition">
    <p:spTree>
      <p:nvGrpSpPr>
        <p:cNvPr id="1" name=""/>
        <p:cNvGrpSpPr/>
        <p:nvPr/>
      </p:nvGrpSpPr>
      <p:grpSpPr/>
      <p:sp>
        <p:nvSpPr>
          <p:cNvPr id="2" name="div_number"/>
          <p:cNvSpPr txBox="1"/>
          <p:nvPr/>
        </p:nvSpPr>
        <p:spPr>
          <a:xfrm>
            <a:off x="548640" y="137160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B7791F"/>
                </a:solidFill>
                <a:latin typeface="Calibri"/>
              </a:rPr>
              <a:t>03</a:t>
            </a:r>
          </a:p>
        </p:txBody>
      </p:sp>
      <p:sp>
        <p:nvSpPr>
          <p:cNvPr id="3" name="div_title"/>
          <p:cNvSpPr txBox="1"/>
          <p:nvPr/>
        </p:nvSpPr>
        <p:spPr>
          <a:xfrm>
            <a:off x="548640" y="2468880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div_blurb"/>
          <p:cNvSpPr txBox="1"/>
          <p:nvPr/>
        </p:nvSpPr>
        <p:spPr>
          <a:xfrm>
            <a:off x="548640" y="3611880"/>
            <a:ext cx="7589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9C3D1"/>
                </a:solidFill>
                <a:latin typeface="Calibri"/>
              </a:rPr>
              <a:t>Who the target competes with and whether its advantages hold up</a:t>
            </a:r>
          </a:p>
        </p:txBody>
      </p:sp>
      <p:sp>
        <p:nvSpPr>
          <p:cNvPr id="5" name="div_list_1"/>
          <p:cNvSpPr txBox="1"/>
          <p:nvPr/>
        </p:nvSpPr>
        <p:spPr>
          <a:xfrm>
            <a:off x="8503920" y="123444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01  Business Introduction &amp; Market Primer</a:t>
            </a:r>
          </a:p>
        </p:txBody>
      </p:sp>
      <p:sp>
        <p:nvSpPr>
          <p:cNvPr id="6" name="div_list_2"/>
          <p:cNvSpPr txBox="1"/>
          <p:nvPr/>
        </p:nvSpPr>
        <p:spPr>
          <a:xfrm>
            <a:off x="8503920" y="160020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02  Market Dynamics &amp; Opportunity</a:t>
            </a:r>
          </a:p>
        </p:txBody>
      </p:sp>
      <p:sp>
        <p:nvSpPr>
          <p:cNvPr id="7" name="div_list_3"/>
          <p:cNvSpPr txBox="1"/>
          <p:nvPr/>
        </p:nvSpPr>
        <p:spPr>
          <a:xfrm>
            <a:off x="8503920" y="196596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2C879"/>
                </a:solidFill>
                <a:latin typeface="Calibri"/>
              </a:rPr>
              <a:t>03  Competitive Landscape</a:t>
            </a:r>
          </a:p>
        </p:txBody>
      </p:sp>
      <p:sp>
        <p:nvSpPr>
          <p:cNvPr id="8" name="div_list_4"/>
          <p:cNvSpPr txBox="1"/>
          <p:nvPr/>
        </p:nvSpPr>
        <p:spPr>
          <a:xfrm>
            <a:off x="8503920" y="233172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04  Appendix A - Market Sizing Methodology</a:t>
            </a:r>
          </a:p>
        </p:txBody>
      </p:sp>
      <p:sp>
        <p:nvSpPr>
          <p:cNvPr id="9" name="div_list_5"/>
          <p:cNvSpPr txBox="1"/>
          <p:nvPr/>
        </p:nvSpPr>
        <p:spPr>
          <a:xfrm>
            <a:off x="8503920" y="269748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05  Appendix B - Evidence &amp; Audit Trail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60_competitor_archetypes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No outside competitor research was loaded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The data room does not name local operating companies or their prices.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analysis</a:t>
            </a:r>
          </a:p>
        </p:txBody>
      </p:sp>
      <p:sp>
        <p:nvSpPr>
          <p:cNvPr id="8" name="takeaway"/>
          <p:cNvSpPr/>
          <p:nvPr/>
        </p:nvSpPr>
        <p:spPr>
          <a:xfrm>
            <a:off x="411480" y="5650992"/>
            <a:ext cx="11365992" cy="475488"/>
          </a:xfrm>
          <a:prstGeom prst="rect">
            <a:avLst/>
          </a:prstGeom>
          <a:solidFill>
            <a:srgbClr val="EEF1F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200" bIns="76200"/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No outside competitor research was loaded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411480" y="1691640"/>
          <a:ext cx="11365991" cy="74625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639554"/>
                <a:gridCol w="7726437"/>
              </a:tblGrid>
              <a:tr h="2870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Record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was loaded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Outside research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 outside competitor research was loaded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88_div_appx_sizing">
    <p:spTree>
      <p:nvGrpSpPr>
        <p:cNvPr id="1" name=""/>
        <p:cNvGrpSpPr/>
        <p:nvPr/>
      </p:nvGrpSpPr>
      <p:grpSpPr/>
      <p:sp>
        <p:nvSpPr>
          <p:cNvPr id="2" name="div_number"/>
          <p:cNvSpPr txBox="1"/>
          <p:nvPr/>
        </p:nvSpPr>
        <p:spPr>
          <a:xfrm>
            <a:off x="548640" y="137160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B7791F"/>
                </a:solidFill>
                <a:latin typeface="Calibri"/>
              </a:rPr>
              <a:t>04</a:t>
            </a:r>
          </a:p>
        </p:txBody>
      </p:sp>
      <p:sp>
        <p:nvSpPr>
          <p:cNvPr id="3" name="div_title"/>
          <p:cNvSpPr txBox="1"/>
          <p:nvPr/>
        </p:nvSpPr>
        <p:spPr>
          <a:xfrm>
            <a:off x="548640" y="2468880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Appendix A - Market Sizing Methodology</a:t>
            </a:r>
          </a:p>
        </p:txBody>
      </p:sp>
      <p:sp>
        <p:nvSpPr>
          <p:cNvPr id="4" name="div_blurb"/>
          <p:cNvSpPr txBox="1"/>
          <p:nvPr/>
        </p:nvSpPr>
        <p:spPr>
          <a:xfrm>
            <a:off x="548640" y="3611880"/>
            <a:ext cx="7589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9C3D1"/>
                </a:solidFill>
                <a:latin typeface="Calibri"/>
              </a:rPr>
              <a:t>How every number in the sizing was built</a:t>
            </a:r>
          </a:p>
        </p:txBody>
      </p:sp>
      <p:sp>
        <p:nvSpPr>
          <p:cNvPr id="5" name="div_list_1"/>
          <p:cNvSpPr txBox="1"/>
          <p:nvPr/>
        </p:nvSpPr>
        <p:spPr>
          <a:xfrm>
            <a:off x="8503920" y="123444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01  Business Introduction &amp; Market Primer</a:t>
            </a:r>
          </a:p>
        </p:txBody>
      </p:sp>
      <p:sp>
        <p:nvSpPr>
          <p:cNvPr id="6" name="div_list_2"/>
          <p:cNvSpPr txBox="1"/>
          <p:nvPr/>
        </p:nvSpPr>
        <p:spPr>
          <a:xfrm>
            <a:off x="8503920" y="160020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02  Market Dynamics &amp; Opportunity</a:t>
            </a:r>
          </a:p>
        </p:txBody>
      </p:sp>
      <p:sp>
        <p:nvSpPr>
          <p:cNvPr id="7" name="div_list_3"/>
          <p:cNvSpPr txBox="1"/>
          <p:nvPr/>
        </p:nvSpPr>
        <p:spPr>
          <a:xfrm>
            <a:off x="8503920" y="196596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03  Competitive Landscape</a:t>
            </a:r>
          </a:p>
        </p:txBody>
      </p:sp>
      <p:sp>
        <p:nvSpPr>
          <p:cNvPr id="8" name="div_list_4"/>
          <p:cNvSpPr txBox="1"/>
          <p:nvPr/>
        </p:nvSpPr>
        <p:spPr>
          <a:xfrm>
            <a:off x="8503920" y="233172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2C879"/>
                </a:solidFill>
                <a:latin typeface="Calibri"/>
              </a:rPr>
              <a:t>04  Appendix A - Market Sizing Methodology</a:t>
            </a:r>
          </a:p>
        </p:txBody>
      </p:sp>
      <p:sp>
        <p:nvSpPr>
          <p:cNvPr id="9" name="div_list_5"/>
          <p:cNvSpPr txBox="1"/>
          <p:nvPr/>
        </p:nvSpPr>
        <p:spPr>
          <a:xfrm>
            <a:off x="8503920" y="269748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05  Appendix B - Evidence &amp; Audit Trail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89_sizing_method_core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APPENDIX A - MARKET SIZING METHODOLOGY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How the TA sizing was built, from the bottom-up record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Every SOM figure moves with these assumptions.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agent outputs: Market Volume &amp; Growth; data room: - NNN Lease  Tenant   002, Bayton Final Risk Rating, LV Closing Costs, LV Petroleum Credit Rating, Screenshot 2026-09-26 at 22.02.10.png</a:t>
            </a:r>
          </a:p>
        </p:txBody>
      </p:sp>
      <p:sp>
        <p:nvSpPr>
          <p:cNvPr id="7" name="flow_head"/>
          <p:cNvSpPr/>
          <p:nvPr/>
        </p:nvSpPr>
        <p:spPr>
          <a:xfrm>
            <a:off x="411480" y="1691640"/>
            <a:ext cx="7086600" cy="32918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How the sizing was built</a:t>
            </a:r>
          </a:p>
        </p:txBody>
      </p:sp>
      <p:sp>
        <p:nvSpPr>
          <p:cNvPr id="9" name="right_head"/>
          <p:cNvSpPr/>
          <p:nvPr/>
        </p:nvSpPr>
        <p:spPr>
          <a:xfrm>
            <a:off x="7726679" y="1691640"/>
            <a:ext cx="4050791" cy="32918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What the workbook states</a:t>
            </a:r>
          </a:p>
        </p:txBody>
      </p:sp>
      <p:sp>
        <p:nvSpPr>
          <p:cNvPr id="10" name="right"/>
          <p:cNvSpPr/>
          <p:nvPr/>
        </p:nvSpPr>
        <p:spPr>
          <a:xfrm>
            <a:off x="7726679" y="2112264"/>
            <a:ext cx="4050791" cy="4014215"/>
          </a:xfrm>
          <a:prstGeom prst="rect">
            <a:avLst/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76200"/>
          <a:lstStyle/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Steps are the module's bottom-up record.</a:t>
            </a:r>
          </a:p>
          <a:p>
            <a:pPr algn="l" marL="155448" indent="-155448">
              <a:spcAft>
                <a:spcPts val="600"/>
              </a:spcAft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haircut rate without a money base is not applied.</a:t>
            </a:r>
          </a:p>
        </p:txBody>
      </p:sp>
      <p:graphicFrame>
        <p:nvGraphicFramePr>
          <p:cNvPr id="11" name="flow"/>
          <p:cNvGraphicFramePr>
            <a:graphicFrameLocks noGrp="1"/>
          </p:cNvGraphicFramePr>
          <p:nvPr/>
        </p:nvGraphicFramePr>
        <p:xfrm>
          <a:off x="411480" y="2112264"/>
          <a:ext cx="7086599" cy="120548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64654"/>
                <a:gridCol w="5721945"/>
              </a:tblGrid>
              <a:tr h="2870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On record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18 (DOC: 2026 Financial Statement Draft - Q1 2026_rp.pdf, DOC: FY24 LV…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Arithmetic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Units evidenced: 18 (DOC: 2026 Financial Statement Draft - Q1 2026_rp.pdf,…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97_back_cover">
    <p:spTree>
      <p:nvGrpSpPr>
        <p:cNvPr id="1" name=""/>
        <p:cNvGrpSpPr/>
        <p:nvPr/>
      </p:nvGrpSpPr>
      <p:grpSpPr/>
      <p:sp>
        <p:nvSpPr>
          <p:cNvPr id="2" name="back_brand"/>
          <p:cNvSpPr txBox="1"/>
          <p:nvPr/>
        </p:nvSpPr>
        <p:spPr>
          <a:xfrm>
            <a:off x="548640" y="274320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DiligenceIQ</a:t>
            </a:r>
          </a:p>
        </p:txBody>
      </p:sp>
      <p:sp>
        <p:nvSpPr>
          <p:cNvPr id="3" name="back_tag"/>
          <p:cNvSpPr txBox="1"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2C879"/>
                </a:solidFill>
                <a:latin typeface="Calibri"/>
              </a:rPr>
              <a:t>Agentic commercial due diligence</a:t>
            </a:r>
          </a:p>
        </p:txBody>
      </p:sp>
      <p:sp>
        <p:nvSpPr>
          <p:cNvPr id="4" name="back_contact"/>
          <p:cNvSpPr txBox="1"/>
          <p:nvPr/>
        </p:nvSpPr>
        <p:spPr>
          <a:xfrm>
            <a:off x="548640" y="4206240"/>
            <a:ext cx="8229600" cy="8229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wrap="square" anchor="ctr" lIns="109728" rIns="109728" tIns="0" bIns="0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Calibri"/>
              </a:rPr>
              <a:t>DiligenceIQ · Commercial due diligence on TA. Draft for discussion, October 2026.</a:t>
            </a:r>
          </a:p>
        </p:txBody>
      </p:sp>
      <p:sp>
        <p:nvSpPr>
          <p:cNvPr id="5" name="back_notice"/>
          <p:cNvSpPr txBox="1"/>
          <p:nvPr/>
        </p:nvSpPr>
        <p:spPr>
          <a:xfrm>
            <a:off x="548640" y="5212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B6B7F"/>
                </a:solidFill>
                <a:latin typeface="Calibri"/>
              </a:rPr>
              <a:t>This document is confidential and prepared solely for the addressee. Do not distribute without written consent.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98_div_appx_audit">
    <p:spTree>
      <p:nvGrpSpPr>
        <p:cNvPr id="1" name=""/>
        <p:cNvGrpSpPr/>
        <p:nvPr/>
      </p:nvGrpSpPr>
      <p:grpSpPr/>
      <p:sp>
        <p:nvSpPr>
          <p:cNvPr id="2" name="div_number"/>
          <p:cNvSpPr txBox="1"/>
          <p:nvPr/>
        </p:nvSpPr>
        <p:spPr>
          <a:xfrm>
            <a:off x="548640" y="137160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B7791F"/>
                </a:solidFill>
                <a:latin typeface="Calibri"/>
              </a:rPr>
              <a:t>05</a:t>
            </a:r>
          </a:p>
        </p:txBody>
      </p:sp>
      <p:sp>
        <p:nvSpPr>
          <p:cNvPr id="3" name="div_title"/>
          <p:cNvSpPr txBox="1"/>
          <p:nvPr/>
        </p:nvSpPr>
        <p:spPr>
          <a:xfrm>
            <a:off x="548640" y="2468880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Appendix B - Evidence &amp; Audit Trail</a:t>
            </a:r>
          </a:p>
        </p:txBody>
      </p:sp>
      <p:sp>
        <p:nvSpPr>
          <p:cNvPr id="4" name="div_blurb"/>
          <p:cNvSpPr txBox="1"/>
          <p:nvPr/>
        </p:nvSpPr>
        <p:spPr>
          <a:xfrm>
            <a:off x="548640" y="3611880"/>
            <a:ext cx="7589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9C3D1"/>
                </a:solidFill>
                <a:latin typeface="Calibri"/>
              </a:rPr>
              <a:t>Module verdicts, source register and exceptions</a:t>
            </a:r>
          </a:p>
        </p:txBody>
      </p:sp>
      <p:sp>
        <p:nvSpPr>
          <p:cNvPr id="5" name="div_list_1"/>
          <p:cNvSpPr txBox="1"/>
          <p:nvPr/>
        </p:nvSpPr>
        <p:spPr>
          <a:xfrm>
            <a:off x="8503920" y="123444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01  Business Introduction &amp; Market Primer</a:t>
            </a:r>
          </a:p>
        </p:txBody>
      </p:sp>
      <p:sp>
        <p:nvSpPr>
          <p:cNvPr id="6" name="div_list_2"/>
          <p:cNvSpPr txBox="1"/>
          <p:nvPr/>
        </p:nvSpPr>
        <p:spPr>
          <a:xfrm>
            <a:off x="8503920" y="160020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02  Market Dynamics &amp; Opportunity</a:t>
            </a:r>
          </a:p>
        </p:txBody>
      </p:sp>
      <p:sp>
        <p:nvSpPr>
          <p:cNvPr id="7" name="div_list_3"/>
          <p:cNvSpPr txBox="1"/>
          <p:nvPr/>
        </p:nvSpPr>
        <p:spPr>
          <a:xfrm>
            <a:off x="8503920" y="196596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03  Competitive Landscape</a:t>
            </a:r>
          </a:p>
        </p:txBody>
      </p:sp>
      <p:sp>
        <p:nvSpPr>
          <p:cNvPr id="8" name="div_list_4"/>
          <p:cNvSpPr txBox="1"/>
          <p:nvPr/>
        </p:nvSpPr>
        <p:spPr>
          <a:xfrm>
            <a:off x="8503920" y="233172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9C3D1"/>
                </a:solidFill>
                <a:latin typeface="Calibri"/>
              </a:rPr>
              <a:t>04  Appendix A - Market Sizing Methodology</a:t>
            </a:r>
          </a:p>
        </p:txBody>
      </p:sp>
      <p:sp>
        <p:nvSpPr>
          <p:cNvPr id="9" name="div_list_5"/>
          <p:cNvSpPr txBox="1"/>
          <p:nvPr/>
        </p:nvSpPr>
        <p:spPr>
          <a:xfrm>
            <a:off x="8503920" y="269748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2C879"/>
                </a:solidFill>
                <a:latin typeface="Calibri"/>
              </a:rPr>
              <a:t>05  Appendix B - Evidence &amp; Audit Trail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99_module_verdicts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APPENDIX B - EVIDENCE &amp; AUDIT TRAIL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Module verdicts restated at the grade the facts support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A stated pass is lowered when the facts are thinner than the module claimed.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agent outputs: Scope &amp; Methodology; data room: 2026 Financial Statement Draft - Q1 2026 rp, FY24 LV Petroleum LLC Financial Statements  As Issued  7.13.25, LV Petroleum December 31  2025 Financial Statements - Signed Audit Report, LVP LLC 2025 Financials DRAFT 4.22.26, APEX Capital Phase 2 2015 12 18, Due Diligence Report -TA Baytown 7.22.26</a:t>
            </a:r>
          </a:p>
        </p:txBody>
      </p:sp>
      <p:sp>
        <p:nvSpPr>
          <p:cNvPr id="8" name="takeaway"/>
          <p:cNvSpPr/>
          <p:nvPr/>
        </p:nvSpPr>
        <p:spPr>
          <a:xfrm>
            <a:off x="411480" y="5650992"/>
            <a:ext cx="11365992" cy="475488"/>
          </a:xfrm>
          <a:prstGeom prst="rect">
            <a:avLst/>
          </a:prstGeom>
          <a:solidFill>
            <a:srgbClr val="EEF1F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200" bIns="76200"/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The adjusted grade is the one this report uses. It is not raised above the facts.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411480" y="1691640"/>
          <a:ext cx="11365990" cy="37414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997708"/>
                <a:gridCol w="1972397"/>
                <a:gridCol w="1566907"/>
                <a:gridCol w="4828978"/>
              </a:tblGrid>
              <a:tr h="2870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Adjusted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20 modules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Findings from a blocked module are not relied on.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Customer Segmentation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PASS / BLOCKED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Not produced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 facts were loaded for this module.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Scope &amp; Methodology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PASS / 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Not produced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 facts were loaded for this module.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Cash Flow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REWORK / 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The lower stated grade is used.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Company Background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PASS / 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The lower stated grade is used.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Cost Structure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REWORK / 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The lower stated grade is used.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Deal Context And Objectives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PASS / 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The lower stated grade is used.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Historical Performance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REWORK / 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The lower stated grade is used.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100_source_register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APPENDIX B - EVIDENCE &amp; AUDIT TRAIL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Sources the report rests on, read from the room or only cited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Read means the workbook was extracted. Cited only means a module named the file.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agent outputs: Scope &amp; Methodology; 9 data-room documents; 0 external sources (full list in notes)</a:t>
            </a:r>
          </a:p>
        </p:txBody>
      </p:sp>
      <p:sp>
        <p:nvSpPr>
          <p:cNvPr id="8" name="takeaway"/>
          <p:cNvSpPr/>
          <p:nvPr/>
        </p:nvSpPr>
        <p:spPr>
          <a:xfrm>
            <a:off x="411480" y="5650992"/>
            <a:ext cx="11365992" cy="475488"/>
          </a:xfrm>
          <a:prstGeom prst="rect">
            <a:avLst/>
          </a:prstGeom>
          <a:solidFill>
            <a:srgbClr val="EEF1F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200" bIns="76200"/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Read means the workbook was extracted into the evidence register. Cited only means the file was named by a module and was not read as a workbook.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411480" y="1691640"/>
          <a:ext cx="11365991" cy="212394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177262"/>
                <a:gridCol w="2188729"/>
              </a:tblGrid>
              <a:tr h="2870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How used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documents__EC Reviewed LV Baytown_ TX - 3 Yr Hold.xlsx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documents__LVP_QoE_Model_DiligenceIQ.xlsx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documents__Revised EC Reviewed LV Baytown TX - New Base case.xlsx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Other named files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Cited only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101_exceptions">
    <p:spTree>
      <p:nvGrpSpPr>
        <p:cNvPr id="1" name=""/>
        <p:cNvGrpSpPr/>
        <p:nvPr/>
      </p:nvGrpSpPr>
      <p:grpSpPr/>
      <p:sp>
        <p:nvSpPr>
          <p:cNvPr id="2" name="section_tag"/>
          <p:cNvSpPr txBox="1"/>
          <p:nvPr/>
        </p:nvSpPr>
        <p:spPr>
          <a:xfrm>
            <a:off x="411480" y="10972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9C3D1"/>
                </a:solidFill>
                <a:latin typeface="Calibri"/>
              </a:rPr>
              <a:t>APPENDIX B - EVIDENCE &amp; AUDIT TRAIL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this report could not establish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11480" y="102412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C879"/>
                </a:solidFill>
                <a:latin typeface="Calibri"/>
              </a:rPr>
              <a:t>Each row is a gap in the record. A withheld template page is not, by itself, a finding.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411480" y="6181344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6B7F"/>
                </a:solidFill>
                <a:latin typeface="Calibri"/>
              </a:rPr>
              <a:t>Source: DiligenceIQ agent outputs: Scope &amp; Methodology; data room: 2026 Financial Statement Draft - Q1 2026 rp, FY24 LV Petroleum LLC Financial Statements  As Issued  7.13.25, LV Petroleum December 31  2025 Financial Statements - Signed Audit Report, LVP LLC 2025 Financials DRAFT 4.22.26, APEX Capital Phase 2 2015 12 18, Due Diligence Report -TA Baytown 7.22.26</a:t>
            </a:r>
          </a:p>
        </p:txBody>
      </p:sp>
      <p:sp>
        <p:nvSpPr>
          <p:cNvPr id="8" name="takeaway"/>
          <p:cNvSpPr/>
          <p:nvPr/>
        </p:nvSpPr>
        <p:spPr>
          <a:xfrm>
            <a:off x="411480" y="5650992"/>
            <a:ext cx="11365992" cy="475488"/>
          </a:xfrm>
          <a:prstGeom prst="rect">
            <a:avLst/>
          </a:prstGeom>
          <a:solidFill>
            <a:srgbClr val="EEF1F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200" bIns="76200"/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The adjusted verdicts and the source register are the other half of this audit.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411480" y="1691640"/>
          <a:ext cx="11365989" cy="212394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43802"/>
                <a:gridCol w="1560566"/>
                <a:gridCol w="4088700"/>
                <a:gridCol w="749773"/>
                <a:gridCol w="4023148"/>
              </a:tblGrid>
              <a:tr h="2870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E1-NOT-PROVIDED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23 modules are marked blocked.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S099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Findings from a blocked module are not relied on.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E11-NO-PRIMARY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 customer survey or interviews were loaded.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S065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NPS and quote pages stay withheld.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E11-NO-PRIMARY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24 pages need a survey or interview file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S006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 survey or interview file was loaded.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923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4213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E1-NOT-PROVIDED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50 pages have nothing further in the loaded record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S009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Not in the loaded record.</a:t>
                      </a:r>
                    </a:p>
                  </a:txBody>
                  <a:tcPr marL="54864" marR="54864" marT="32004" marB="32004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DiligenceIQ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 Due Diligence Report</dc:title>
  <dc:subject>PptxGenJS Presentation</dc:subject>
  <dc:creator>DiligenceIQ</dc:creator>
  <cp:lastModifiedBy>DiligenceIQ</cp:lastModifiedBy>
  <cp:revision>1</cp:revision>
  <dcterms:created xsi:type="dcterms:W3CDTF">2026-09-21T09:59:10Z</dcterms:created>
  <dcterms:modified xsi:type="dcterms:W3CDTF">2026-09-21T09:59:10Z</dcterms:modified>
</cp:coreProperties>
</file>