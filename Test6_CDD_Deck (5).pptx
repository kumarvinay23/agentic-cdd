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8.xml" ContentType="application/vnd.openxmlformats-officedocument.presentationml.notesSlide+xml"/>
  <Override PartName="/ppt/notesSlides/notesSlide62.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42.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62.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4"/>
    <p:sldId id="257" r:id="rId3"/>
    <p:sldId id="258" r:id="rId2"/>
    <p:sldId id="259" r:id="rId10"/>
    <p:sldId id="260" r:id="rId11"/>
    <p:sldId id="263" r:id="rId14"/>
    <p:sldId id="264" r:id="rId15"/>
    <p:sldId id="265" r:id="rId16"/>
    <p:sldId id="266" r:id="rId17"/>
    <p:sldId id="268" r:id="rId19"/>
    <p:sldId id="270" r:id="rId21"/>
    <p:sldId id="271" r:id="rId22"/>
    <p:sldId id="274" r:id="rId25"/>
    <p:sldId id="275" r:id="rId26"/>
    <p:sldId id="276" r:id="rId27"/>
    <p:sldId id="278" r:id="rId29"/>
    <p:sldId id="284" r:id="rId35"/>
    <p:sldId id="287" r:id="rId38"/>
    <p:sldId id="297" r:id="rId48"/>
    <p:sldId id="300" r:id="rId51"/>
    <p:sldId id="301" r:id="rId52"/>
    <p:sldId id="302" r:id="rId53"/>
    <p:sldId id="303" r:id="rId54"/>
    <p:sldId id="304" r:id="rId55"/>
    <p:sldId id="313" r:id="rId64"/>
    <p:sldId id="317" r:id="rId68"/>
    <p:sldId id="323" r:id="rId74"/>
    <p:sldId id="324" r:id="rId75"/>
    <p:sldId id="326" r:id="rId77"/>
    <p:sldId id="327" r:id="rId78"/>
    <p:sldId id="328" r:id="rId79"/>
    <p:sldId id="329" r:id="rId80"/>
    <p:sldId id="330" r:id="rId81"/>
    <p:sldId id="334" r:id="rId85"/>
    <p:sldId id="336" r:id="rId87"/>
    <p:sldId id="337" r:id="rId88"/>
    <p:sldId id="338" r:id="rId89"/>
    <p:sldId id="343" r:id="rId94"/>
    <p:sldId id="344" r:id="rId95"/>
    <p:sldId id="345" r:id="rId96"/>
    <p:sldId id="353" r:id="rId104"/>
    <p:sldId id="354" r:id="rId105"/>
    <p:sldId id="358" r:id="rId49"/>
    <p:sldId id="355" r:id="rId106"/>
    <p:sldId id="359" r:id="rId47"/>
    <p:sldId id="360" r:id="rId56"/>
    <p:sldId id="356" r:id="rId107"/>
    <p:sldId id="361" r:id="rId57"/>
    <p:sldId id="262" r:id="rId13"/>
    <p:sldId id="357" r:id="rId50"/>
    <p:sldId id="352" r:id="rId103"/>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9"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16.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9" Type="http://schemas.openxmlformats.org/officeDocument/2006/relationships/slide" Target="slides/slide23.xml"/><Relationship Id="rId35" Type="http://schemas.openxmlformats.org/officeDocument/2006/relationships/slide" Target="slides/slide29.xml"/><Relationship Id="rId38" Type="http://schemas.openxmlformats.org/officeDocument/2006/relationships/slide" Target="slides/slide32.xml"/><Relationship Id="rId47" Type="http://schemas.openxmlformats.org/officeDocument/2006/relationships/slide" Target="slides/slide14.xml"/><Relationship Id="rId48" Type="http://schemas.openxmlformats.org/officeDocument/2006/relationships/slide" Target="slides/slide42.xml"/><Relationship Id="rId49" Type="http://schemas.openxmlformats.org/officeDocument/2006/relationships/slide" Target="slides/slide12.xml"/><Relationship Id="rId50" Type="http://schemas.openxmlformats.org/officeDocument/2006/relationships/slide" Target="slides/slide6.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17.xml"/><Relationship Id="rId57" Type="http://schemas.openxmlformats.org/officeDocument/2006/relationships/slide" Target="slides/slide18.xml"/><Relationship Id="rId64" Type="http://schemas.openxmlformats.org/officeDocument/2006/relationships/slide" Target="slides/slide58.xml"/><Relationship Id="rId68" Type="http://schemas.openxmlformats.org/officeDocument/2006/relationships/slide" Target="slides/slide62.xml"/><Relationship Id="rId74" Type="http://schemas.openxmlformats.org/officeDocument/2006/relationships/slide" Target="slides/slide68.xml"/><Relationship Id="rId75" Type="http://schemas.openxmlformats.org/officeDocument/2006/relationships/slide" Target="slides/slide69.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5" Type="http://schemas.openxmlformats.org/officeDocument/2006/relationships/slide" Target="slides/slide79.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Revenue</c:v>
                </c:pt>
              </c:strCache>
            </c:strRef>
          </c:tx>
          <c:spPr>
            <a:solidFill>
              <a:srgbClr val="14213D"/>
            </a:solidFill>
          </c:spPr>
          <c:cat>
            <c:strRef>
              <c:f>Sheet1!$A$2:$A$4</c:f>
              <c:strCache>
                <c:ptCount val="3"/>
                <c:pt idx="0">
                  <c:v>2023</c:v>
                </c:pt>
                <c:pt idx="1">
                  <c:v>2024</c:v>
                </c:pt>
                <c:pt idx="2">
                  <c:v>2025</c:v>
                </c:pt>
              </c:strCache>
            </c:strRef>
          </c:cat>
          <c:val>
            <c:numRef>
              <c:f>Sheet1!$B$2:$B$4</c:f>
              <c:numCache>
                <c:formatCode>General</c:formatCode>
                <c:ptCount val="3"/>
                <c:pt idx="0">
                  <c:v>7.56</c:v>
                </c:pt>
                <c:pt idx="1">
                  <c:v>11.87</c:v>
                </c:pt>
                <c:pt idx="2">
                  <c:v>13.41</c:v>
                </c:pt>
              </c:numCache>
            </c:numRef>
          </c:val>
        </c:ser>
        <c:dLbls>
          <c:numFmt formatCode="0.0" sourceLinked="0"/>
          <c:txPr>
            <a:bodyPr/>
            <a:lstStyle/>
            <a:p>
              <a:pPr>
                <a:defRPr sz="900">
                  <a:solidFill>
                    <a:srgbClr val="1F2937"/>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BE3"/>
            </a:solidFill>
          </a:ln>
        </c:spPr>
        <c:txPr>
          <a:bodyPr/>
          <a:lstStyle/>
          <a:p>
            <a:pPr>
              <a:defRPr sz="1000">
                <a:solidFill>
                  <a:srgbClr val="1F2937"/>
                </a:solidFill>
              </a:defRPr>
            </a:pPr>
          </a:p>
        </c:txPr>
        <c:crossAx val="-2113994440"/>
        <c:crosses val="autoZero"/>
        <c:auto val="1"/>
        <c:lblAlgn val="ctr"/>
        <c:lblOffset val="100"/>
        <c:noMultiLvlLbl val="0"/>
      </c:catAx>
      <c:valAx>
        <c:axId val="-2113994440"/>
        <c:scaling/>
        <c:delete val="0"/>
        <c:axPos val="l"/>
        <c:majorGridlines>
          <c:spPr>
            <a:ln w="6350">
              <a:solidFill>
                <a:srgbClr val="D5DBE3"/>
              </a:solidFill>
            </a:ln>
          </c:spPr>
        </c:majorGridlines>
        <c:title>
          <c:tx>
            <c:rich>
              <a:bodyPr/>
              <a:lstStyle/>
              <a:p>
                <a:r>
                  <a:rPr sz="900">
                    <a:solidFill>
                      <a:srgbClr val="5B6B7F"/>
                    </a:solidFill>
                  </a:rPr>
                  <a:t>$M</a:t>
                </a:r>
              </a:p>
            </c:rich>
          </c:tx>
          <c:layout/>
          <c:overlay val="0"/>
        </c:title>
        <c:numFmt formatCode="0.0" sourceLinked="0"/>
        <c:majorTickMark val="out"/>
        <c:minorTickMark val="none"/>
        <c:tickLblPos val="nextTo"/>
        <c:spPr>
          <a:ln>
            <a:noFill/>
          </a:ln>
        </c:spPr>
        <c:txPr>
          <a:bodyPr/>
          <a:lstStyle/>
          <a:p>
            <a:pPr>
              <a:defRPr sz="900">
                <a:solidFill>
                  <a:srgbClr val="5B6B7F"/>
                </a:solidFill>
              </a:defRPr>
            </a:pPr>
          </a:p>
        </c:txPr>
        <c:crossAx val="-2068027336"/>
        <c:crosses val="autoZero"/>
      </c:valAx>
    </c:plotArea>
    <c:dispBlanksAs val="gap"/>
  </c:chart>
  <c:txPr>
    <a:bodyPr/>
    <a:lstStyle/>
    <a:p>
      <a:pPr>
        <a:defRPr sz="1000">
          <a:solidFill>
            <a:srgbClr val="1F2937"/>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Market</c:v>
                </c:pt>
              </c:strCache>
            </c:strRef>
          </c:tx>
          <c:spPr>
            <a:solidFill>
              <a:srgbClr val="14213D"/>
            </a:solidFill>
          </c:spPr>
          <c:cat>
            <c:strRef>
              <c:f>Sheet1!$A$2:$A$4</c:f>
              <c:strCache>
                <c:ptCount val="3"/>
                <c:pt idx="0">
                  <c:v>TAM</c:v>
                </c:pt>
                <c:pt idx="1">
                  <c:v>SAM</c:v>
                </c:pt>
                <c:pt idx="2">
                  <c:v>SOM</c:v>
                </c:pt>
              </c:strCache>
            </c:strRef>
          </c:cat>
          <c:val>
            <c:numRef>
              <c:f>Sheet1!$B$2:$B$4</c:f>
              <c:numCache>
                <c:formatCode>General</c:formatCode>
                <c:ptCount val="3"/>
                <c:pt idx="0">
                  <c:v>1546.2</c:v>
                </c:pt>
                <c:pt idx="1">
                  <c:v>463.9</c:v>
                </c:pt>
                <c:pt idx="2">
                  <c:v>139.2</c:v>
                </c:pt>
              </c:numCache>
            </c:numRef>
          </c:val>
        </c:ser>
        <c:dLbls>
          <c:numFmt formatCode="0.0" sourceLinked="0"/>
          <c:txPr>
            <a:bodyPr/>
            <a:lstStyle/>
            <a:p>
              <a:pPr>
                <a:defRPr sz="900">
                  <a:solidFill>
                    <a:srgbClr val="1F2937"/>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BE3"/>
            </a:solidFill>
          </a:ln>
        </c:spPr>
        <c:txPr>
          <a:bodyPr/>
          <a:lstStyle/>
          <a:p>
            <a:pPr>
              <a:defRPr sz="1000">
                <a:solidFill>
                  <a:srgbClr val="1F2937"/>
                </a:solidFill>
              </a:defRPr>
            </a:pPr>
          </a:p>
        </c:txPr>
        <c:crossAx val="-2113994440"/>
        <c:crosses val="autoZero"/>
        <c:auto val="1"/>
        <c:lblAlgn val="ctr"/>
        <c:lblOffset val="100"/>
        <c:noMultiLvlLbl val="0"/>
      </c:catAx>
      <c:valAx>
        <c:axId val="-2113994440"/>
        <c:scaling/>
        <c:delete val="0"/>
        <c:axPos val="l"/>
        <c:majorGridlines>
          <c:spPr>
            <a:ln w="6350">
              <a:solidFill>
                <a:srgbClr val="D5DBE3"/>
              </a:solidFill>
            </a:ln>
          </c:spPr>
        </c:majorGridlines>
        <c:title>
          <c:tx>
            <c:rich>
              <a:bodyPr/>
              <a:lstStyle/>
              <a:p>
                <a:r>
                  <a:rPr sz="900">
                    <a:solidFill>
                      <a:srgbClr val="5B6B7F"/>
                    </a:solidFill>
                  </a:rPr>
                  <a:t>$M</a:t>
                </a:r>
              </a:p>
            </c:rich>
          </c:tx>
          <c:layout/>
          <c:overlay val="0"/>
        </c:title>
        <c:numFmt formatCode="0.0" sourceLinked="0"/>
        <c:majorTickMark val="out"/>
        <c:minorTickMark val="none"/>
        <c:tickLblPos val="nextTo"/>
        <c:spPr>
          <a:ln>
            <a:noFill/>
          </a:ln>
        </c:spPr>
        <c:txPr>
          <a:bodyPr/>
          <a:lstStyle/>
          <a:p>
            <a:pPr>
              <a:defRPr sz="900">
                <a:solidFill>
                  <a:srgbClr val="5B6B7F"/>
                </a:solidFill>
              </a:defRPr>
            </a:pPr>
          </a:p>
        </c:txPr>
        <c:crossAx val="-2068027336"/>
        <c:crosses val="autoZero"/>
      </c:valAx>
    </c:plotArea>
    <c:dispBlanksAs val="gap"/>
  </c:chart>
  <c:txPr>
    <a:bodyPr/>
    <a:lstStyle/>
    <a:p>
      <a:pPr>
        <a:defRPr sz="1000">
          <a:solidFill>
            <a:srgbClr val="1F2937"/>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c:v>
                </c:pt>
              </c:strCache>
            </c:strRef>
          </c:tx>
          <c:spPr>
            <a:solidFill>
              <a:srgbClr val="14213D"/>
            </a:solidFill>
          </c:spPr>
          <c:cat>
            <c:strRef>
              <c:f>Sheet1!$A$2:$A$8</c:f>
              <c:strCache>
                <c:ptCount val="7"/>
                <c:pt idx="0">
                  <c:v>Commercial</c:v>
                </c:pt>
                <c:pt idx="1">
                  <c:v>Municipal (ex-DC)</c:v>
                </c:pt>
                <c:pt idx="2">
                  <c:v>Municipal - DC</c:v>
                </c:pt>
                <c:pt idx="3">
                  <c:v>Residential (Non-Gov)</c:v>
                </c:pt>
                <c:pt idx="4">
                  <c:v>Key Compostables</c:v>
                </c:pt>
                <c:pt idx="5">
                  <c:v>Compost &amp; products</c:v>
                </c:pt>
                <c:pt idx="6">
                  <c:v>Other</c:v>
                </c:pt>
              </c:strCache>
            </c:strRef>
          </c:cat>
          <c:val>
            <c:numRef>
              <c:f>Sheet1!$B$2:$B$8</c:f>
              <c:numCache>
                <c:formatCode>General</c:formatCode>
                <c:ptCount val="7"/>
                <c:pt idx="0">
                  <c:v>42.4</c:v>
                </c:pt>
                <c:pt idx="1">
                  <c:v>13.5</c:v>
                </c:pt>
                <c:pt idx="2">
                  <c:v>22.6</c:v>
                </c:pt>
                <c:pt idx="3">
                  <c:v>14.9</c:v>
                </c:pt>
                <c:pt idx="4">
                  <c:v>5.2</c:v>
                </c:pt>
                <c:pt idx="5">
                  <c:v>1.4</c:v>
                </c:pt>
                <c:pt idx="6">
                  <c:v>0.1</c:v>
                </c:pt>
              </c:numCache>
            </c:numRef>
          </c:val>
        </c:ser>
        <c:dLbls>
          <c:numFmt formatCode="0.0" sourceLinked="0"/>
          <c:txPr>
            <a:bodyPr/>
            <a:lstStyle/>
            <a:p>
              <a:pPr>
                <a:defRPr sz="900">
                  <a:solidFill>
                    <a:srgbClr val="1F2937"/>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BE3"/>
            </a:solidFill>
          </a:ln>
        </c:spPr>
        <c:txPr>
          <a:bodyPr/>
          <a:lstStyle/>
          <a:p>
            <a:pPr>
              <a:defRPr sz="1000">
                <a:solidFill>
                  <a:srgbClr val="1F2937"/>
                </a:solidFill>
              </a:defRPr>
            </a:pPr>
          </a:p>
        </c:txPr>
        <c:crossAx val="-2113994440"/>
        <c:crosses val="autoZero"/>
        <c:auto val="1"/>
        <c:lblAlgn val="ctr"/>
        <c:lblOffset val="100"/>
        <c:noMultiLvlLbl val="0"/>
      </c:catAx>
      <c:valAx>
        <c:axId val="-2113994440"/>
        <c:scaling/>
        <c:delete val="0"/>
        <c:axPos val="l"/>
        <c:majorGridlines>
          <c:spPr>
            <a:ln w="6350">
              <a:solidFill>
                <a:srgbClr val="D5DBE3"/>
              </a:solidFill>
            </a:ln>
          </c:spPr>
        </c:majorGridlines>
        <c:title>
          <c:tx>
            <c:rich>
              <a:bodyPr/>
              <a:lstStyle/>
              <a:p>
                <a:r>
                  <a:rPr sz="900">
                    <a:solidFill>
                      <a:srgbClr val="5B6B7F"/>
                    </a:solidFill>
                  </a:rPr>
                  <a:t>%</a:t>
                </a:r>
              </a:p>
            </c:rich>
          </c:tx>
          <c:layout/>
          <c:overlay val="0"/>
        </c:title>
        <c:numFmt formatCode="0.0" sourceLinked="0"/>
        <c:majorTickMark val="out"/>
        <c:minorTickMark val="none"/>
        <c:tickLblPos val="nextTo"/>
        <c:spPr>
          <a:ln>
            <a:noFill/>
          </a:ln>
        </c:spPr>
        <c:txPr>
          <a:bodyPr/>
          <a:lstStyle/>
          <a:p>
            <a:pPr>
              <a:defRPr sz="900">
                <a:solidFill>
                  <a:srgbClr val="5B6B7F"/>
                </a:solidFill>
              </a:defRPr>
            </a:pPr>
          </a:p>
        </c:txPr>
        <c:crossAx val="-2068027336"/>
        <c:crosses val="autoZero"/>
      </c:valAx>
    </c:plotArea>
    <c:dispBlanksAs val="gap"/>
  </c:chart>
  <c:txPr>
    <a:bodyPr/>
    <a:lstStyle/>
    <a:p>
      <a:pPr>
        <a:defRPr sz="1000">
          <a:solidFill>
            <a:srgbClr val="1F2937"/>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Margin %</c:v>
                </c:pt>
              </c:strCache>
            </c:strRef>
          </c:tx>
          <c:spPr>
            <a:solidFill>
              <a:srgbClr val="14213D"/>
            </a:solidFill>
          </c:spPr>
          <c:cat>
            <c:strRef>
              <c:f>Sheet1!$A$2:$A$7</c:f>
              <c:strCache>
                <c:ptCount val="6"/>
                <c:pt idx="0">
                  <c:v>Gross margin 2023</c:v>
                </c:pt>
                <c:pt idx="1">
                  <c:v>Gross margin 2024</c:v>
                </c:pt>
                <c:pt idx="2">
                  <c:v>Gross margin 2025</c:v>
                </c:pt>
                <c:pt idx="3">
                  <c:v>EBITDA margin 2023</c:v>
                </c:pt>
                <c:pt idx="4">
                  <c:v>EBITDA margin 2024</c:v>
                </c:pt>
                <c:pt idx="5">
                  <c:v>EBITDA margin 2025</c:v>
                </c:pt>
              </c:strCache>
            </c:strRef>
          </c:cat>
          <c:val>
            <c:numRef>
              <c:f>Sheet1!$B$2:$B$7</c:f>
              <c:numCache>
                <c:formatCode>General</c:formatCode>
                <c:ptCount val="6"/>
                <c:pt idx="0">
                  <c:v>20.4</c:v>
                </c:pt>
                <c:pt idx="1">
                  <c:v>31.8</c:v>
                </c:pt>
                <c:pt idx="2">
                  <c:v>30.4</c:v>
                </c:pt>
                <c:pt idx="3">
                  <c:v>-9.5</c:v>
                </c:pt>
                <c:pt idx="4">
                  <c:v>9.6</c:v>
                </c:pt>
                <c:pt idx="5">
                  <c:v>4.3</c:v>
                </c:pt>
              </c:numCache>
            </c:numRef>
          </c:val>
        </c:ser>
        <c:dLbls>
          <c:numFmt formatCode="0.0" sourceLinked="0"/>
          <c:txPr>
            <a:bodyPr/>
            <a:lstStyle/>
            <a:p>
              <a:pPr>
                <a:defRPr sz="900">
                  <a:solidFill>
                    <a:srgbClr val="1F2937"/>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BE3"/>
            </a:solidFill>
          </a:ln>
        </c:spPr>
        <c:txPr>
          <a:bodyPr/>
          <a:lstStyle/>
          <a:p>
            <a:pPr>
              <a:defRPr sz="1000">
                <a:solidFill>
                  <a:srgbClr val="1F2937"/>
                </a:solidFill>
              </a:defRPr>
            </a:pPr>
          </a:p>
        </c:txPr>
        <c:crossAx val="-2113994440"/>
        <c:crosses val="autoZero"/>
        <c:auto val="1"/>
        <c:lblAlgn val="ctr"/>
        <c:lblOffset val="100"/>
        <c:noMultiLvlLbl val="0"/>
      </c:catAx>
      <c:valAx>
        <c:axId val="-2113994440"/>
        <c:scaling/>
        <c:delete val="0"/>
        <c:axPos val="l"/>
        <c:majorGridlines>
          <c:spPr>
            <a:ln w="6350">
              <a:solidFill>
                <a:srgbClr val="D5DBE3"/>
              </a:solidFill>
            </a:ln>
          </c:spPr>
        </c:majorGridlines>
        <c:title>
          <c:tx>
            <c:rich>
              <a:bodyPr/>
              <a:lstStyle/>
              <a:p>
                <a:r>
                  <a:rPr sz="900">
                    <a:solidFill>
                      <a:srgbClr val="5B6B7F"/>
                    </a:solidFill>
                  </a:rPr>
                  <a:t>%</a:t>
                </a:r>
              </a:p>
            </c:rich>
          </c:tx>
          <c:layout/>
          <c:overlay val="0"/>
        </c:title>
        <c:numFmt formatCode="0.0" sourceLinked="0"/>
        <c:majorTickMark val="out"/>
        <c:minorTickMark val="none"/>
        <c:tickLblPos val="nextTo"/>
        <c:spPr>
          <a:ln>
            <a:noFill/>
          </a:ln>
        </c:spPr>
        <c:txPr>
          <a:bodyPr/>
          <a:lstStyle/>
          <a:p>
            <a:pPr>
              <a:defRPr sz="900">
                <a:solidFill>
                  <a:srgbClr val="5B6B7F"/>
                </a:solidFill>
              </a:defRPr>
            </a:pPr>
          </a:p>
        </c:txPr>
        <c:crossAx val="-2068027336"/>
        <c:crosses val="autoZero"/>
      </c:valAx>
    </c:plotArea>
    <c:dispBlanksAs val="gap"/>
  </c:chart>
  <c:txPr>
    <a:bodyPr/>
    <a:lstStyle/>
    <a:p>
      <a:pPr>
        <a:defRPr sz="1000">
          <a:solidFill>
            <a:srgbClr val="1F2937"/>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Revenue</c:v>
                </c:pt>
              </c:strCache>
            </c:strRef>
          </c:tx>
          <c:spPr>
            <a:solidFill>
              <a:srgbClr val="14213D"/>
            </a:solidFill>
          </c:spPr>
          <c:cat>
            <c:strRef>
              <c:f>Sheet1!$A$2:$A$3</c:f>
              <c:strCache>
                <c:ptCount val="2"/>
                <c:pt idx="0">
                  <c:v>2025</c:v>
                </c:pt>
                <c:pt idx="1">
                  <c:v>2030P</c:v>
                </c:pt>
              </c:strCache>
            </c:strRef>
          </c:cat>
          <c:val>
            <c:numRef>
              <c:f>Sheet1!$B$2:$B$3</c:f>
              <c:numCache>
                <c:formatCode>General</c:formatCode>
                <c:ptCount val="2"/>
                <c:pt idx="0">
                  <c:v>13.41</c:v>
                </c:pt>
                <c:pt idx="1">
                  <c:v>50.17</c:v>
                </c:pt>
              </c:numCache>
            </c:numRef>
          </c:val>
        </c:ser>
        <c:dLbls>
          <c:numFmt formatCode="0.0" sourceLinked="0"/>
          <c:txPr>
            <a:bodyPr/>
            <a:lstStyle/>
            <a:p>
              <a:pPr>
                <a:defRPr sz="900">
                  <a:solidFill>
                    <a:srgbClr val="1F2937"/>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BE3"/>
            </a:solidFill>
          </a:ln>
        </c:spPr>
        <c:txPr>
          <a:bodyPr/>
          <a:lstStyle/>
          <a:p>
            <a:pPr>
              <a:defRPr sz="1000">
                <a:solidFill>
                  <a:srgbClr val="1F2937"/>
                </a:solidFill>
              </a:defRPr>
            </a:pPr>
          </a:p>
        </c:txPr>
        <c:crossAx val="-2113994440"/>
        <c:crosses val="autoZero"/>
        <c:auto val="1"/>
        <c:lblAlgn val="ctr"/>
        <c:lblOffset val="100"/>
        <c:noMultiLvlLbl val="0"/>
      </c:catAx>
      <c:valAx>
        <c:axId val="-2113994440"/>
        <c:scaling/>
        <c:delete val="0"/>
        <c:axPos val="l"/>
        <c:majorGridlines>
          <c:spPr>
            <a:ln w="6350">
              <a:solidFill>
                <a:srgbClr val="D5DBE3"/>
              </a:solidFill>
            </a:ln>
          </c:spPr>
        </c:majorGridlines>
        <c:title>
          <c:tx>
            <c:rich>
              <a:bodyPr/>
              <a:lstStyle/>
              <a:p>
                <a:r>
                  <a:rPr sz="900">
                    <a:solidFill>
                      <a:srgbClr val="5B6B7F"/>
                    </a:solidFill>
                  </a:rPr>
                  <a:t>$M</a:t>
                </a:r>
              </a:p>
            </c:rich>
          </c:tx>
          <c:layout/>
          <c:overlay val="0"/>
        </c:title>
        <c:numFmt formatCode="0.0" sourceLinked="0"/>
        <c:majorTickMark val="out"/>
        <c:minorTickMark val="none"/>
        <c:tickLblPos val="nextTo"/>
        <c:spPr>
          <a:ln>
            <a:noFill/>
          </a:ln>
        </c:spPr>
        <c:txPr>
          <a:bodyPr/>
          <a:lstStyle/>
          <a:p>
            <a:pPr>
              <a:defRPr sz="900">
                <a:solidFill>
                  <a:srgbClr val="5B6B7F"/>
                </a:solidFill>
              </a:defRPr>
            </a:pPr>
          </a:p>
        </c:txPr>
        <c:crossAx val="-2068027336"/>
        <c:crosses val="autoZero"/>
      </c:valAx>
    </c:plotArea>
    <c:dispBlanksAs val="gap"/>
  </c:chart>
  <c:txPr>
    <a:bodyPr/>
    <a:lstStyle/>
    <a:p>
      <a:pPr>
        <a:defRPr sz="1000">
          <a:solidFill>
            <a:srgbClr val="1F2937"/>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Subscriber retention</c:v>
                </c:pt>
              </c:strCache>
            </c:strRef>
          </c:tx>
          <c:spPr>
            <a:solidFill>
              <a:srgbClr val="14213D"/>
            </a:solidFill>
          </c:spPr>
          <c:cat>
            <c:strRef>
              <c:f>Sheet1!$A$2:$A$11</c:f>
              <c:strCache>
                <c:ptCount val="10"/>
                <c:pt idx="0">
                  <c:v>0</c:v>
                </c:pt>
                <c:pt idx="1">
                  <c:v>3</c:v>
                </c:pt>
                <c:pt idx="2">
                  <c:v>6</c:v>
                </c:pt>
                <c:pt idx="3">
                  <c:v>12</c:v>
                </c:pt>
                <c:pt idx="4">
                  <c:v>18</c:v>
                </c:pt>
                <c:pt idx="5">
                  <c:v>24</c:v>
                </c:pt>
                <c:pt idx="6">
                  <c:v>30</c:v>
                </c:pt>
                <c:pt idx="7">
                  <c:v>36</c:v>
                </c:pt>
                <c:pt idx="8">
                  <c:v>48</c:v>
                </c:pt>
                <c:pt idx="9">
                  <c:v>60</c:v>
                </c:pt>
              </c:strCache>
            </c:strRef>
          </c:cat>
          <c:val>
            <c:numRef>
              <c:f>Sheet1!$B$2:$B$11</c:f>
              <c:numCache>
                <c:formatCode>General</c:formatCode>
                <c:ptCount val="10"/>
                <c:pt idx="0">
                  <c:v>97.9</c:v>
                </c:pt>
                <c:pt idx="1">
                  <c:v>93.1</c:v>
                </c:pt>
                <c:pt idx="2">
                  <c:v>89.0</c:v>
                </c:pt>
                <c:pt idx="3">
                  <c:v>81.2</c:v>
                </c:pt>
                <c:pt idx="4">
                  <c:v>74.2</c:v>
                </c:pt>
                <c:pt idx="5">
                  <c:v>70.0</c:v>
                </c:pt>
                <c:pt idx="6">
                  <c:v>64.0</c:v>
                </c:pt>
                <c:pt idx="7">
                  <c:v>61.8</c:v>
                </c:pt>
                <c:pt idx="8">
                  <c:v>56.7</c:v>
                </c:pt>
                <c:pt idx="9">
                  <c:v>51.5</c:v>
                </c:pt>
              </c:numCache>
            </c:numRef>
          </c:val>
        </c:ser>
        <c:ser>
          <c:idx val="1"/>
          <c:order val="1"/>
          <c:tx>
            <c:strRef>
              <c:f>Sheet1!$C$1</c:f>
              <c:strCache>
                <c:ptCount val="1"/>
                <c:pt idx="0">
                  <c:v>Revenue retention</c:v>
                </c:pt>
              </c:strCache>
            </c:strRef>
          </c:tx>
          <c:spPr>
            <a:solidFill>
              <a:srgbClr val="5E81AC"/>
            </a:solidFill>
          </c:spPr>
          <c:cat>
            <c:strRef>
              <c:f>Sheet1!$A$2:$A$11</c:f>
              <c:strCache>
                <c:ptCount val="10"/>
                <c:pt idx="0">
                  <c:v>0</c:v>
                </c:pt>
                <c:pt idx="1">
                  <c:v>3</c:v>
                </c:pt>
                <c:pt idx="2">
                  <c:v>6</c:v>
                </c:pt>
                <c:pt idx="3">
                  <c:v>12</c:v>
                </c:pt>
                <c:pt idx="4">
                  <c:v>18</c:v>
                </c:pt>
                <c:pt idx="5">
                  <c:v>24</c:v>
                </c:pt>
                <c:pt idx="6">
                  <c:v>30</c:v>
                </c:pt>
                <c:pt idx="7">
                  <c:v>36</c:v>
                </c:pt>
                <c:pt idx="8">
                  <c:v>48</c:v>
                </c:pt>
                <c:pt idx="9">
                  <c:v>60</c:v>
                </c:pt>
              </c:strCache>
            </c:strRef>
          </c:cat>
          <c:val>
            <c:numRef>
              <c:f>Sheet1!$C$2:$C$11</c:f>
              <c:numCache>
                <c:formatCode>General</c:formatCode>
                <c:ptCount val="10"/>
                <c:pt idx="0">
                  <c:v>97.7</c:v>
                </c:pt>
                <c:pt idx="1">
                  <c:v>92.2</c:v>
                </c:pt>
                <c:pt idx="2">
                  <c:v>87.5</c:v>
                </c:pt>
                <c:pt idx="3">
                  <c:v>79.0</c:v>
                </c:pt>
                <c:pt idx="4">
                  <c:v>72.3</c:v>
                </c:pt>
                <c:pt idx="5">
                  <c:v>68.6</c:v>
                </c:pt>
                <c:pt idx="6">
                  <c:v>63.6</c:v>
                </c:pt>
                <c:pt idx="7">
                  <c:v>61.4</c:v>
                </c:pt>
                <c:pt idx="8">
                  <c:v>56.7</c:v>
                </c:pt>
                <c:pt idx="9">
                  <c:v>51.7</c:v>
                </c:pt>
              </c:numCache>
            </c:numRef>
          </c:val>
        </c:ser>
        <c:dLbls>
          <c:numFmt formatCode="0.0" sourceLinked="0"/>
          <c:txPr>
            <a:bodyPr/>
            <a:lstStyle/>
            <a:p>
              <a:pPr>
                <a:defRPr sz="900">
                  <a:solidFill>
                    <a:srgbClr val="1F2937"/>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5DBE3"/>
            </a:solidFill>
          </a:ln>
        </c:spPr>
        <c:txPr>
          <a:bodyPr/>
          <a:lstStyle/>
          <a:p>
            <a:pPr>
              <a:defRPr sz="1000">
                <a:solidFill>
                  <a:srgbClr val="1F2937"/>
                </a:solidFill>
              </a:defRPr>
            </a:pPr>
          </a:p>
        </c:txPr>
        <c:crossAx val="-2113994440"/>
        <c:crosses val="autoZero"/>
        <c:auto val="1"/>
        <c:lblAlgn val="ctr"/>
        <c:lblOffset val="100"/>
        <c:noMultiLvlLbl val="0"/>
      </c:catAx>
      <c:valAx>
        <c:axId val="-2113994440"/>
        <c:scaling/>
        <c:delete val="0"/>
        <c:axPos val="l"/>
        <c:majorGridlines>
          <c:spPr>
            <a:ln w="6350">
              <a:solidFill>
                <a:srgbClr val="D5DBE3"/>
              </a:solidFill>
            </a:ln>
          </c:spPr>
        </c:majorGridlines>
        <c:title>
          <c:tx>
            <c:rich>
              <a:bodyPr/>
              <a:lstStyle/>
              <a:p>
                <a:r>
                  <a:rPr sz="900">
                    <a:solidFill>
                      <a:srgbClr val="5B6B7F"/>
                    </a:solidFill>
                  </a:rPr>
                  <a:t>%</a:t>
                </a:r>
              </a:p>
            </c:rich>
          </c:tx>
          <c:layout/>
          <c:overlay val="0"/>
        </c:title>
        <c:numFmt formatCode="0.0" sourceLinked="0"/>
        <c:majorTickMark val="out"/>
        <c:minorTickMark val="none"/>
        <c:tickLblPos val="nextTo"/>
        <c:spPr>
          <a:ln>
            <a:noFill/>
          </a:ln>
        </c:spPr>
        <c:txPr>
          <a:bodyPr/>
          <a:lstStyle/>
          <a:p>
            <a:pPr>
              <a:defRPr sz="900">
                <a:solidFill>
                  <a:srgbClr val="5B6B7F"/>
                </a:solidFill>
              </a:defRPr>
            </a:pPr>
          </a:p>
        </c:txPr>
        <c:crossAx val="-2068027336"/>
        <c:crosses val="autoZero"/>
      </c:valAx>
    </c:plotArea>
    <c:legend>
      <c:legendPos val="b"/>
      <c:overlay val="0"/>
      <c:txPr>
        <a:bodyPr/>
        <a:lstStyle/>
        <a:p>
          <a:pPr>
            <a:defRPr sz="1000"/>
          </a:pPr>
        </a:p>
      </c:txPr>
    </c:legend>
    <c:dispBlanksAs val="gap"/>
  </c:chart>
  <c:txPr>
    <a:bodyPr/>
    <a:lstStyle/>
    <a:p>
      <a:pPr>
        <a:defRPr sz="1000">
          <a:solidFill>
            <a:srgbClr val="1F2937"/>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New logos</c:v>
                </c:pt>
              </c:strCache>
            </c:strRef>
          </c:tx>
          <c:spPr>
            <a:solidFill>
              <a:srgbClr val="14213D"/>
            </a:solidFill>
          </c:spPr>
          <c:cat>
            <c:strRef>
              <c:f>Sheet1!$A$2:$A$5</c:f>
              <c:strCache>
                <c:ptCount val="4"/>
                <c:pt idx="0">
                  <c:v>2022</c:v>
                </c:pt>
                <c:pt idx="1">
                  <c:v>2023</c:v>
                </c:pt>
                <c:pt idx="2">
                  <c:v>2024</c:v>
                </c:pt>
                <c:pt idx="3">
                  <c:v>2025</c:v>
                </c:pt>
              </c:strCache>
            </c:strRef>
          </c:cat>
          <c:val>
            <c:numRef>
              <c:f>Sheet1!$B$2:$B$5</c:f>
              <c:numCache>
                <c:formatCode>General</c:formatCode>
                <c:ptCount val="4"/>
                <c:pt idx="0">
                  <c:v>142.0</c:v>
                </c:pt>
                <c:pt idx="1">
                  <c:v>126.0</c:v>
                </c:pt>
                <c:pt idx="2">
                  <c:v>171.0</c:v>
                </c:pt>
                <c:pt idx="3">
                  <c:v>81.0</c:v>
                </c:pt>
              </c:numCache>
            </c:numRef>
          </c:val>
        </c:ser>
        <c:ser>
          <c:idx val="1"/>
          <c:order val="1"/>
          <c:tx>
            <c:strRef>
              <c:f>Sheet1!$C$1</c:f>
              <c:strCache>
                <c:ptCount val="1"/>
                <c:pt idx="0">
                  <c:v>Churned logos</c:v>
                </c:pt>
              </c:strCache>
            </c:strRef>
          </c:tx>
          <c:spPr>
            <a:solidFill>
              <a:srgbClr val="5E81AC"/>
            </a:solidFill>
          </c:spPr>
          <c:cat>
            <c:strRef>
              <c:f>Sheet1!$A$2:$A$5</c:f>
              <c:strCache>
                <c:ptCount val="4"/>
                <c:pt idx="0">
                  <c:v>2022</c:v>
                </c:pt>
                <c:pt idx="1">
                  <c:v>2023</c:v>
                </c:pt>
                <c:pt idx="2">
                  <c:v>2024</c:v>
                </c:pt>
                <c:pt idx="3">
                  <c:v>2025</c:v>
                </c:pt>
              </c:strCache>
            </c:strRef>
          </c:cat>
          <c:val>
            <c:numRef>
              <c:f>Sheet1!$C$2:$C$5</c:f>
              <c:numCache>
                <c:formatCode>General</c:formatCode>
                <c:ptCount val="4"/>
                <c:pt idx="0">
                  <c:v>3.0</c:v>
                </c:pt>
                <c:pt idx="1">
                  <c:v>31.0</c:v>
                </c:pt>
                <c:pt idx="2">
                  <c:v>35.0</c:v>
                </c:pt>
                <c:pt idx="3">
                  <c:v>48.0</c:v>
                </c:pt>
              </c:numCache>
            </c:numRef>
          </c:val>
        </c:ser>
        <c:dLbls>
          <c:numFmt formatCode="0.0" sourceLinked="0"/>
          <c:txPr>
            <a:bodyPr/>
            <a:lstStyle/>
            <a:p>
              <a:pPr>
                <a:defRPr sz="900">
                  <a:solidFill>
                    <a:srgbClr val="1F2937"/>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5DBE3"/>
            </a:solidFill>
          </a:ln>
        </c:spPr>
        <c:txPr>
          <a:bodyPr/>
          <a:lstStyle/>
          <a:p>
            <a:pPr>
              <a:defRPr sz="1000">
                <a:solidFill>
                  <a:srgbClr val="1F2937"/>
                </a:solidFill>
              </a:defRPr>
            </a:pPr>
          </a:p>
        </c:txPr>
        <c:crossAx val="-2113994440"/>
        <c:crosses val="autoZero"/>
        <c:auto val="1"/>
        <c:lblAlgn val="ctr"/>
        <c:lblOffset val="100"/>
        <c:noMultiLvlLbl val="0"/>
      </c:catAx>
      <c:valAx>
        <c:axId val="-2113994440"/>
        <c:scaling/>
        <c:delete val="0"/>
        <c:axPos val="l"/>
        <c:majorGridlines>
          <c:spPr>
            <a:ln w="6350">
              <a:solidFill>
                <a:srgbClr val="D5DBE3"/>
              </a:solidFill>
            </a:ln>
          </c:spPr>
        </c:majorGridlines>
        <c:title>
          <c:tx>
            <c:rich>
              <a:bodyPr/>
              <a:lstStyle/>
              <a:p>
                <a:r>
                  <a:rPr sz="900">
                    <a:solidFill>
                      <a:srgbClr val="5B6B7F"/>
                    </a:solidFill>
                  </a:rPr>
                  <a:t>logos</a:t>
                </a:r>
              </a:p>
            </c:rich>
          </c:tx>
          <c:layout/>
          <c:overlay val="0"/>
        </c:title>
        <c:numFmt formatCode="0.0" sourceLinked="0"/>
        <c:majorTickMark val="out"/>
        <c:minorTickMark val="none"/>
        <c:tickLblPos val="nextTo"/>
        <c:spPr>
          <a:ln>
            <a:noFill/>
          </a:ln>
        </c:spPr>
        <c:txPr>
          <a:bodyPr/>
          <a:lstStyle/>
          <a:p>
            <a:pPr>
              <a:defRPr sz="900">
                <a:solidFill>
                  <a:srgbClr val="5B6B7F"/>
                </a:solidFill>
              </a:defRPr>
            </a:pPr>
          </a:p>
        </c:txPr>
        <c:crossAx val="-2068027336"/>
        <c:crosses val="autoZero"/>
      </c:valAx>
    </c:plotArea>
    <c:legend>
      <c:legendPos val="b"/>
      <c:overlay val="0"/>
      <c:txPr>
        <a:bodyPr/>
        <a:lstStyle/>
        <a:p>
          <a:pPr>
            <a:defRPr sz="1000"/>
          </a:pPr>
        </a:p>
      </c:txPr>
    </c:legend>
    <c:dispBlanksAs val="gap"/>
  </c:chart>
  <c:txPr>
    <a:bodyPr/>
    <a:lstStyle/>
    <a:p>
      <a:pPr>
        <a:defRPr sz="1000">
          <a:solidFill>
            <a:srgbClr val="1F2937"/>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GRR</c:v>
                </c:pt>
              </c:strCache>
            </c:strRef>
          </c:tx>
          <c:spPr>
            <a:solidFill>
              <a:srgbClr val="14213D"/>
            </a:solidFill>
          </c:spPr>
          <c:cat>
            <c:strRef>
              <c:f>Sheet1!$A$2:$A$5</c:f>
              <c:strCache>
                <c:ptCount val="4"/>
                <c:pt idx="0">
                  <c:v>2022</c:v>
                </c:pt>
                <c:pt idx="1">
                  <c:v>2023</c:v>
                </c:pt>
                <c:pt idx="2">
                  <c:v>2024</c:v>
                </c:pt>
                <c:pt idx="3">
                  <c:v>2025</c:v>
                </c:pt>
              </c:strCache>
            </c:strRef>
          </c:cat>
          <c:val>
            <c:numRef>
              <c:f>Sheet1!$B$2:$B$5</c:f>
              <c:numCache>
                <c:formatCode>General</c:formatCode>
                <c:ptCount val="4"/>
                <c:pt idx="0">
                  <c:v>98.1</c:v>
                </c:pt>
                <c:pt idx="1">
                  <c:v>85.6</c:v>
                </c:pt>
                <c:pt idx="2">
                  <c:v>79.8</c:v>
                </c:pt>
                <c:pt idx="3">
                  <c:v>87.3</c:v>
                </c:pt>
              </c:numCache>
            </c:numRef>
          </c:val>
        </c:ser>
        <c:ser>
          <c:idx val="1"/>
          <c:order val="1"/>
          <c:tx>
            <c:strRef>
              <c:f>Sheet1!$C$1</c:f>
              <c:strCache>
                <c:ptCount val="1"/>
                <c:pt idx="0">
                  <c:v>NRR</c:v>
                </c:pt>
              </c:strCache>
            </c:strRef>
          </c:tx>
          <c:spPr>
            <a:solidFill>
              <a:srgbClr val="5E81AC"/>
            </a:solidFill>
          </c:spPr>
          <c:cat>
            <c:strRef>
              <c:f>Sheet1!$A$2:$A$5</c:f>
              <c:strCache>
                <c:ptCount val="4"/>
                <c:pt idx="0">
                  <c:v>2022</c:v>
                </c:pt>
                <c:pt idx="1">
                  <c:v>2023</c:v>
                </c:pt>
                <c:pt idx="2">
                  <c:v>2024</c:v>
                </c:pt>
                <c:pt idx="3">
                  <c:v>2025</c:v>
                </c:pt>
              </c:strCache>
            </c:strRef>
          </c:cat>
          <c:val>
            <c:numRef>
              <c:f>Sheet1!$C$2:$C$5</c:f>
              <c:numCache>
                <c:formatCode>General</c:formatCode>
                <c:ptCount val="4"/>
                <c:pt idx="0">
                  <c:v>196.0</c:v>
                </c:pt>
                <c:pt idx="1">
                  <c:v>124.5</c:v>
                </c:pt>
                <c:pt idx="2">
                  <c:v>102.4</c:v>
                </c:pt>
                <c:pt idx="3">
                  <c:v>106.6</c:v>
                </c:pt>
              </c:numCache>
            </c:numRef>
          </c:val>
        </c:ser>
        <c:dLbls>
          <c:numFmt formatCode="0.0" sourceLinked="0"/>
          <c:txPr>
            <a:bodyPr/>
            <a:lstStyle/>
            <a:p>
              <a:pPr>
                <a:defRPr sz="900">
                  <a:solidFill>
                    <a:srgbClr val="1F2937"/>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5DBE3"/>
            </a:solidFill>
          </a:ln>
        </c:spPr>
        <c:txPr>
          <a:bodyPr/>
          <a:lstStyle/>
          <a:p>
            <a:pPr>
              <a:defRPr sz="1000">
                <a:solidFill>
                  <a:srgbClr val="1F2937"/>
                </a:solidFill>
              </a:defRPr>
            </a:pPr>
          </a:p>
        </c:txPr>
        <c:crossAx val="-2113994440"/>
        <c:crosses val="autoZero"/>
        <c:auto val="1"/>
        <c:lblAlgn val="ctr"/>
        <c:lblOffset val="100"/>
        <c:noMultiLvlLbl val="0"/>
      </c:catAx>
      <c:valAx>
        <c:axId val="-2113994440"/>
        <c:scaling/>
        <c:delete val="0"/>
        <c:axPos val="l"/>
        <c:majorGridlines>
          <c:spPr>
            <a:ln w="6350">
              <a:solidFill>
                <a:srgbClr val="D5DBE3"/>
              </a:solidFill>
            </a:ln>
          </c:spPr>
        </c:majorGridlines>
        <c:title>
          <c:tx>
            <c:rich>
              <a:bodyPr/>
              <a:lstStyle/>
              <a:p>
                <a:r>
                  <a:rPr sz="900">
                    <a:solidFill>
                      <a:srgbClr val="5B6B7F"/>
                    </a:solidFill>
                  </a:rPr>
                  <a:t>%</a:t>
                </a:r>
              </a:p>
            </c:rich>
          </c:tx>
          <c:layout/>
          <c:overlay val="0"/>
        </c:title>
        <c:numFmt formatCode="0.0" sourceLinked="0"/>
        <c:majorTickMark val="out"/>
        <c:minorTickMark val="none"/>
        <c:tickLblPos val="nextTo"/>
        <c:spPr>
          <a:ln>
            <a:noFill/>
          </a:ln>
        </c:spPr>
        <c:txPr>
          <a:bodyPr/>
          <a:lstStyle/>
          <a:p>
            <a:pPr>
              <a:defRPr sz="900">
                <a:solidFill>
                  <a:srgbClr val="5B6B7F"/>
                </a:solidFill>
              </a:defRPr>
            </a:pPr>
          </a:p>
        </c:txPr>
        <c:crossAx val="-2068027336"/>
        <c:crosses val="autoZero"/>
      </c:valAx>
    </c:plotArea>
    <c:legend>
      <c:legendPos val="b"/>
      <c:overlay val="0"/>
      <c:txPr>
        <a:bodyPr/>
        <a:lstStyle/>
        <a:p>
          <a:pPr>
            <a:defRPr sz="1000"/>
          </a:pPr>
        </a:p>
      </c:txPr>
    </c:legend>
    <c:dispBlanksAs val="gap"/>
  </c:chart>
  <c:txPr>
    <a:bodyPr/>
    <a:lstStyle/>
    <a:p>
      <a:pPr>
        <a:defRPr sz="1000">
          <a:solidFill>
            <a:srgbClr val="1F2937"/>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S001_cover</a:t>
            </a:r>
          </a:p>
          <a:p>
            <a:r>
              <a:t>Kinds: FACT = sourced; CALC = calculated (†); VIEW = DiligenceIQ interpretation</a:t>
            </a:r>
          </a:p>
          <a:p/>
          <a:p>
            <a:r>
              <a:t>[report_title] FACT: Commercial Due Diligence: Compost Crew</a:t>
            </a:r>
          </a:p>
          <a:p>
            <a:r>
              <a:t>    &lt;- SCM-7: Accounts and workbooks outrank the CIM, and the CIM outranks agent outputs. Plan years are not results.</a:t>
            </a:r>
          </a:p>
          <a:p>
            <a:r>
              <a:t>[report_subtitle] FACT: Draft for discussion</a:t>
            </a:r>
          </a:p>
          <a:p>
            <a:r>
              <a:t>    &lt;- SCM-7: Accounts and workbooks outrank the CIM, and the CIM outranks agent outputs. Plan years are not results.</a:t>
            </a:r>
          </a:p>
          <a:p>
            <a:r>
              <a:t>[prepared_for] FACT: Prepared for DiligenceIQ</a:t>
            </a:r>
          </a:p>
          <a:p>
            <a:r>
              <a:t>    &lt;- SCM-7: Accounts and workbooks outrank the CIM, and the CIM outranks agent outputs. Plan years are not results.</a:t>
            </a:r>
          </a:p>
          <a:p>
            <a:r>
              <a:t>[report_date] FACT: October 2026</a:t>
            </a:r>
          </a:p>
          <a:p>
            <a:r>
              <a:t>    &lt;- SCM-7: Accounts and workbooks outrank the CIM, and the CIM outranks agent outputs. Plan years are not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S002_disclaimer</a:t>
            </a:r>
          </a:p>
          <a:p>
            <a:r>
              <a:t>Kinds: FACT = sourced; CALC = calculated (†); VIEW = DiligenceIQ interpretation</a:t>
            </a:r>
          </a:p>
          <a:p/>
          <a:p>
            <a:r>
              <a:t>[title] INTERPRETATION: Disclaimer &amp; reliance limitations</a:t>
            </a:r>
          </a:p>
          <a:p>
            <a:r>
              <a:t>    &lt;- SCM-7: Accounts and workbooks outrank the CIM, and the CIM outranks agent outputs. Plan years are not results.</a:t>
            </a:r>
          </a:p>
          <a:p>
            <a:r>
              <a:t>[subtitle] INTERPRETATION: This report is limited to the modules and data-room documents loaded for this deal.</a:t>
            </a:r>
          </a:p>
          <a:p>
            <a:r>
              <a:t>    &lt;- SCM-7: Accounts and workbooks outrank the CIM, and the CIM outranks agent outputs. Plan years are not results.</a:t>
            </a:r>
          </a:p>
          <a:p>
            <a:r>
              <a:t>[disclaimer_body] FACT: Prepared for discussion of Compost Crew. It is not a recommendation to invest. Accounts and workbooks outrank the CIM, and the CIM outranks </a:t>
            </a:r>
          </a:p>
          <a:p>
            <a:r>
              <a:t>    &lt;- SCM-7: Accounts and workbooks outrank the CIM, and the CIM outranks agent outputs. Plan years are not results.</a:t>
            </a:r>
          </a:p>
          <a:p>
            <a:r>
              <a:t>[data_notice] FACT: Evidence is limited to the diligence modules loaded for this deal. A module with no fact base is an open request, not a negative finding. Pl</a:t>
            </a:r>
          </a:p>
          <a:p>
            <a:r>
              <a:t>    &lt;- SCM-7: Accounts and workbooks outrank the CIM, and the CIM outranks agent outputs. Plan years are not results.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S003_engagement</a:t>
            </a:r>
          </a:p>
          <a:p>
            <a:r>
              <a:t>Kinds: FACT = sourced; CALC = calculated (†); VIEW = DiligenceIQ interpretation</a:t>
            </a:r>
          </a:p>
          <a:p/>
          <a:p>
            <a:r>
              <a:t>[title] INTERPRETATION: The mandate: test whether Compost Crew's trading, customers and market support the management plan</a:t>
            </a:r>
          </a:p>
          <a:p>
            <a:r>
              <a:t>    &lt;- SCM-7: Accounts and workbooks outrank the CIM, and the CIM outranks agent outputs. Plan years are not results.</a:t>
            </a:r>
          </a:p>
          <a:p>
            <a:r>
              <a:t>[subtitle] INTERPRETATION: Each finding is graded by the evidence behind it: established, indicated or asserted.</a:t>
            </a:r>
          </a:p>
          <a:p>
            <a:r>
              <a:t>    &lt;- SCM-7: Accounts and workbooks outrank the CIM, and the CIM outranks agent outputs. Plan years are not results.</a:t>
            </a:r>
          </a:p>
          <a:p>
            <a:r>
              <a:t>[lead] FACT: Commercial due diligence on Compost Crew using the data room and the diligence modules loaded for this deal.</a:t>
            </a:r>
          </a:p>
          <a:p>
            <a:r>
              <a:t>    &lt;- SCM-7: Accounts and workbooks outrank the CIM, and the CIM outranks agent outputs. Plan years are not results.</a:t>
            </a:r>
          </a:p>
          <a:p>
            <a:r>
              <a:t>[col1_body[1]] FACT: What has the business delivered?</a:t>
            </a:r>
          </a:p>
          <a:p>
            <a:r>
              <a:t>    &lt;- SCM-7: Accounts and workbooks outrank the CIM, and the CIM outranks agent outputs. Plan years are not results.</a:t>
            </a:r>
          </a:p>
          <a:p>
            <a:r>
              <a:t>[col1_body[2]] FACT: How do margins trend?</a:t>
            </a:r>
          </a:p>
          <a:p>
            <a:r>
              <a:t>    &lt;- SCM-7: Accounts and workbooks outrank the CIM, and the CIM outranks agent outputs. Plan years are not results.</a:t>
            </a:r>
          </a:p>
          <a:p>
            <a:r>
              <a:t>[col1_body[3]] FACT: What is contracted?</a:t>
            </a:r>
          </a:p>
          <a:p>
            <a:r>
              <a:t>    &lt;- SCM-7: Accounts and workbooks outrank the CIM, and the CIM outranks agent outputs. Plan years are not results.</a:t>
            </a:r>
          </a:p>
          <a:p>
            <a:r>
              <a:t>[col2_body[1]] FACT: How large is the serviceable market?</a:t>
            </a:r>
          </a:p>
          <a:p>
            <a:r>
              <a:t>    &lt;- SCM-7: Accounts and workbooks outrank the CIM, and the CIM outranks agent outputs. Plan years are not results.</a:t>
            </a:r>
          </a:p>
          <a:p>
            <a:r>
              <a:t>[col2_body[2]] FACT: Is the sizing method sound?</a:t>
            </a:r>
          </a:p>
          <a:p>
            <a:r>
              <a:t>    &lt;- SCM-7: Accounts and workbooks outrank the CIM, and the CIM outranks agent outputs. Plan years are not results.</a:t>
            </a:r>
          </a:p>
          <a:p>
            <a:r>
              <a:t>[col2_body[3]] FACT: Which geographies are next?</a:t>
            </a:r>
          </a:p>
          <a:p>
            <a:r>
              <a:t>    &lt;- SCM-7: Accounts and workbooks outrank the CIM, and the CIM outranks agent outputs. Plan years are not results.</a:t>
            </a:r>
          </a:p>
          <a:p>
            <a:r>
              <a:t>[col3_body[1]] FACT: How are customers retained?</a:t>
            </a:r>
          </a:p>
          <a:p>
            <a:r>
              <a:t>    &lt;- SCM-7: Accounts and workbooks outrank the CIM, and the CIM outranks agent outputs. Plan years are not results.</a:t>
            </a:r>
          </a:p>
          <a:p>
            <a:r>
              <a:t>[col3_body[2]] FACT: How concentrated is revenue?</a:t>
            </a:r>
          </a:p>
          <a:p>
            <a:r>
              <a:t>    &lt;- SCM-7: Accounts and workbooks outrank the CIM, and the CIM outranks agent outputs. Plan years are not results.</a:t>
            </a:r>
          </a:p>
          <a:p>
            <a:r>
              <a:t>[col3_body[3]] FACT: What is untested without research?</a:t>
            </a:r>
          </a:p>
          <a:p>
            <a:r>
              <a:t>    &lt;- SCM-7: Accounts and workbooks outrank the CIM, and the CIM outranks agent outputs. Plan years are not results.</a:t>
            </a:r>
          </a:p>
          <a:p>
            <a:r>
              <a:t>[col4_body[1]] FACT: Who competes for the same customers?</a:t>
            </a:r>
          </a:p>
          <a:p>
            <a:r>
              <a:t>    &lt;- SCM-7: Accounts and workbooks outrank the CIM, and the CIM outranks agent outputs. Plan years are not results.</a:t>
            </a:r>
          </a:p>
          <a:p>
            <a:r>
              <a:t>[col4_body[2]] FACT: Is price in line?</a:t>
            </a:r>
          </a:p>
          <a:p>
            <a:r>
              <a:t>    &lt;- SCM-7: Accounts and workbooks outrank the CIM, and the CIM outranks agent outputs. Plan years are not results.</a:t>
            </a:r>
          </a:p>
          <a:p>
            <a:r>
              <a:t>[col4_body[3]] FACT: Which differentiators hold?</a:t>
            </a:r>
          </a:p>
          <a:p>
            <a:r>
              <a:t>    &lt;- SCM-7: Accounts and workbooks outrank the CIM, and the CIM outranks agent outputs. Plan years are not results.</a:t>
            </a:r>
          </a:p>
          <a:p>
            <a:r>
              <a:t>[col5_body[1]] FACT: Which levers are in the plan?</a:t>
            </a:r>
          </a:p>
          <a:p>
            <a:r>
              <a:t>    &lt;- SCM-7: Accounts and workbooks outrank the CIM, and the CIM outranks agent outputs. Plan years are not results.</a:t>
            </a:r>
          </a:p>
          <a:p>
            <a:r>
              <a:t>[col5_body[2]] FACT: What must be true for each?</a:t>
            </a:r>
          </a:p>
          <a:p>
            <a:r>
              <a:t>    &lt;- SCM-7: Accounts and workbooks outrank the CIM, and the CIM outranks agent outputs. Plan years are not results.</a:t>
            </a:r>
          </a:p>
          <a:p>
            <a:r>
              <a:t>[col5_body[3]] FACT: What would change the view?</a:t>
            </a:r>
          </a:p>
          <a:p>
            <a:r>
              <a:t>    &lt;- SCM-7: Accounts and workbooks outrank the CIM, and the CIM outranks agent outputs. Plan years are not results.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S004_contents   (blueprint slide 4 - Engagement Overview)</a:t>
            </a:r>
          </a:p>
          <a:p>
            <a:r>
              <a:t>WORKING TITLE   Contents</a:t>
            </a:r>
          </a:p>
          <a:p>
            <a:r>
              <a:t>PURPOSE         Give the reader a two-level map of the report with page references.</a:t>
            </a:r>
          </a:p>
          <a:p/>
          <a:p>
            <a:r>
              <a:t>WHAT THIS SLIDE MUST CONTAIN</a:t>
            </a:r>
          </a:p>
          <a:p>
            <a:r>
              <a:t>  - Top-level sections in reading order: Engagement Overview · Business Introduction &amp; Market Primer ·</a:t>
            </a:r>
          </a:p>
          <a:p>
            <a:r>
              <a:t>    Investment Highlights · Detailed Findings · Appendix.</a:t>
            </a:r>
          </a:p>
          <a:p>
            <a:r>
              <a:t>  - Detailed Findings expanded into its four workstream chapters, each with its page number.</a:t>
            </a:r>
          </a:p>
          <a:p>
            <a:r>
              <a:t>  - Appendix expanded into its lettered parts (landscape, sizing methodology, case studies,</a:t>
            </a:r>
          </a:p>
          <a:p>
            <a:r>
              <a:t>    supplementary data).</a:t>
            </a:r>
          </a:p>
          <a:p>
            <a:r>
              <a:t>  - Page references verified against final pagination.</a:t>
            </a:r>
          </a:p>
          <a:p/>
          <a:p>
            <a:r>
              <a:t>SOURCES         Final deck pagination.</a:t>
            </a:r>
          </a:p>
          <a:p>
            <a:r>
              <a:t>ANALYSIS        None — navigation only.</a:t>
            </a:r>
          </a:p>
          <a:p>
            <a:r>
              <a:t>EXHIBIT         Two-level indented contents list with right-aligned page numbers.  (form: text_panel)</a:t>
            </a:r>
          </a:p>
          <a:p>
            <a:r>
              <a:t>QUALITY BAR     Section titles and page numbers must match the dividers and footers exactly.</a:t>
            </a:r>
          </a:p>
          <a:p/>
          <a:p>
            <a:r>
              <a:t>DILIGENCEIQ MAPPING</a:t>
            </a:r>
          </a:p>
          <a:p>
            <a:r>
              <a:t>  gate            derived</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S005_research_approach</a:t>
            </a:r>
          </a:p>
          <a:p>
            <a:r>
              <a:t>Kinds: FACT = sourced; CALC = calculated (†); VIEW = DiligenceIQ interpretation</a:t>
            </a:r>
          </a:p>
          <a:p/>
          <a:p>
            <a:r>
              <a:t>[title] INTERPRETATION: The findings rest on the data room first: accounts and workbooks outrank the CIM, and the CIM outranks the agent outputs</a:t>
            </a:r>
          </a:p>
          <a:p>
            <a:r>
              <a:t>    &lt;- SCM-7: Accounts and workbooks outrank the CIM, and the CIM outranks agent outputs. Plan years are not results.</a:t>
            </a:r>
          </a:p>
          <a:p>
            <a:r>
              <a:t>[subtitle] INTERPRETATION: Where they disagree, the data room is used and the agent finding is an exception.</a:t>
            </a:r>
          </a:p>
          <a:p>
            <a:r>
              <a:t>    &lt;- SCM-7: Accounts and workbooks outrank the CIM, and the CIM outranks agent outputs. Plan years are not results.</a:t>
            </a:r>
          </a:p>
          <a:p>
            <a:r>
              <a:t>[left row 1] refs: SCM-7</a:t>
            </a:r>
          </a:p>
          <a:p>
            <a:r>
              <a:t>[left row 2] refs: SCM-7</a:t>
            </a:r>
          </a:p>
          <a:p>
            <a:r>
              <a:t>[left row 3] refs: SCM-7</a:t>
            </a:r>
          </a:p>
          <a:p>
            <a:r>
              <a:t>[left row 4] refs: SCM-7</a:t>
            </a:r>
          </a:p>
          <a:p>
            <a:r>
              <a:t>[right[1]] FACT: No customer survey is assumed.</a:t>
            </a:r>
          </a:p>
          <a:p>
            <a:r>
              <a:t>    &lt;- SCM-7: Accounts and workbooks outrank the CIM, and the CIM outranks agent outputs. Plan years are not results.</a:t>
            </a:r>
          </a:p>
          <a:p>
            <a:r>
              <a:t>[right[2]] FACT: Plan years are marked P and are not results.</a:t>
            </a:r>
          </a:p>
          <a:p>
            <a:r>
              <a:t>    &lt;- SCM-7: Accounts and workbooks outrank the CIM, and the CIM outranks agent outputs. Plan years are not results.</a:t>
            </a:r>
          </a:p>
          <a:p>
            <a:r>
              <a:t>[right[3]] FACT: Pages without an exhibit are withheld.</a:t>
            </a:r>
          </a:p>
          <a:p>
            <a:r>
              <a:t>    &lt;- SCM-7: Accounts and workbooks outrank the CIM, and the CIM outranks agent outputs. Plan years are not results.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S007_glossary</a:t>
            </a:r>
          </a:p>
          <a:p>
            <a:r>
              <a:t>Kinds: FACT = sourced; CALC = calculated (†); VIEW = DiligenceIQ interpretation</a:t>
            </a:r>
          </a:p>
          <a:p/>
          <a:p>
            <a:r>
              <a:t>[title] FACT: Terms used in this report</a:t>
            </a:r>
          </a:p>
          <a:p>
            <a:r>
              <a:t>    &lt;- RUN:glossary: UNKNOWN REF</a:t>
            </a:r>
          </a:p>
          <a:p>
            <a:r>
              <a:t>[subtitle] FACT: A term is listed only when it appears in this report. Plan years carry a P suffix.</a:t>
            </a:r>
          </a:p>
          <a:p>
            <a:r>
              <a:t>    &lt;- RUN:glossary: UNKNOWN REF</a:t>
            </a:r>
          </a:p>
          <a:p>
            <a:r>
              <a:t>[table row 1] refs: RUN:glossary</a:t>
            </a:r>
          </a:p>
          <a:p>
            <a:r>
              <a:t>[table row 2] refs: RUN:glossary</a:t>
            </a:r>
          </a:p>
          <a:p>
            <a:r>
              <a:t>[table row 3] refs: RUN:glossary</a:t>
            </a:r>
          </a:p>
          <a:p>
            <a:r>
              <a:t>[table row 4] refs: RUN:glossary</a:t>
            </a:r>
          </a:p>
          <a:p>
            <a:r>
              <a:t>[table row 5] refs: RUN:glossary</a:t>
            </a:r>
          </a:p>
          <a:p>
            <a:r>
              <a:t>[table row 6] refs: RUN:glossary</a:t>
            </a:r>
          </a:p>
          <a:p>
            <a:r>
              <a:t>[table row 7] refs: RUN:glossary</a:t>
            </a:r>
          </a:p>
          <a:p>
            <a:r>
              <a:t>[table row 8] refs: RUN:glossary</a:t>
            </a:r>
          </a:p>
          <a:p>
            <a:r>
              <a:t>[table row 9] refs: RUN:glossary</a:t>
            </a:r>
          </a:p>
          <a:p>
            <a:r>
              <a:t>[table row 10] refs: RUN:glossary</a:t>
            </a:r>
          </a:p>
          <a:p>
            <a:r>
              <a:t>[takeaway] FACT: A term that does not appear in the report is not defined here.</a:t>
            </a:r>
          </a:p>
          <a:p>
            <a:r>
              <a:t>    &lt;- RUN:glossary: UNKNOWN REF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S008_div_business   (blueprint slide 8 - Business Introduction &amp; Market Primer)</a:t>
            </a:r>
          </a:p>
          <a:p>
            <a:r>
              <a:t>WORKING TITLE   Section Divider — Business Introduction &amp; Market Primer</a:t>
            </a:r>
          </a:p>
          <a:p>
            <a:r>
              <a:t>PURPOSE         Signal the start of the primer chapter with the standard divider design.</a:t>
            </a:r>
          </a:p>
          <a:p/>
          <a:p>
            <a:r>
              <a:t>WHAT THIS SLIDE MUST CONTAIN</a:t>
            </a:r>
          </a:p>
          <a:p>
            <a:r>
              <a:t>  - Section title only, on the firm's standard divider layout.</a:t>
            </a:r>
          </a:p>
          <a:p>
            <a:r>
              <a:t>  - Consistent branding (logo, tagline, copyright) identical across all dividers.</a:t>
            </a:r>
          </a:p>
          <a:p>
            <a:r>
              <a:t>  - No findings or data on divider pages.</a:t>
            </a:r>
          </a:p>
          <a:p/>
          <a:p>
            <a:r>
              <a:t>SOURCES         Deck template.</a:t>
            </a:r>
          </a:p>
          <a:p>
            <a:r>
              <a:t>ANALYSIS        None.</a:t>
            </a:r>
          </a:p>
          <a:p>
            <a:r>
              <a:t>EXHIBIT         Full-bleed branded section divider.  (form: divider)</a:t>
            </a:r>
          </a:p>
          <a:p>
            <a:r>
              <a:t>QUALITY BAR     Divider titles must match the contents page word-for-word.</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S009_company_snapshot</a:t>
            </a:r>
          </a:p>
          <a:p>
            <a:r>
              <a:t>Kinds: FACT = sourced; CALC = calculated (†); VIEW = DiligenceIQ interpretation</a:t>
            </a:r>
          </a:p>
          <a:p/>
          <a:p>
            <a:r>
              <a:t>[title] INTERPRETATION: Revenue was $11.9M in 2024 and $13.4M in 2025 (+13.0%)</a:t>
            </a:r>
          </a:p>
          <a:p>
            <a:r>
              <a:t>    &lt;- HPF-V90-R8: Total Revenues | 2023: $7.56M | 2024: $11.87M | 2025: $13.41M | 2026 YTD (Jul): $8.05M</a:t>
            </a:r>
          </a:p>
          <a:p>
            <a:r>
              <a:t>    &lt;- HPF-1: Revenue 2020 (actual): $10.42M</a:t>
            </a:r>
          </a:p>
          <a:p>
            <a:r>
              <a:t>    &lt;- HPF-6: EBITDA trough was FY2023 (USD M -0.722); returned to profit by FY2025 at USD M 0.572. Revenue FY2025 +13% YoY (same-basis). ( ).</a:t>
            </a:r>
          </a:p>
          <a:p>
            <a:r>
              <a:t>    &lt;- HPF-7: EBITDA trough was FY2023. QBO/workbook accounts extract. 8 period(s) from accounts. 0 CIM gap(s)</a:t>
            </a:r>
          </a:p>
          <a:p>
            <a:r>
              <a:t>[subtitle] INTERPRETATION: Actuals from the accounts extract. Plan years are not on this chart.</a:t>
            </a:r>
          </a:p>
          <a:p>
            <a:r>
              <a:t>    &lt;- HPF-V90-R8: Total Revenues | 2023: $7.56M | 2024: $11.87M | 2025: $13.41M | 2026 YTD (Jul): $8.05M</a:t>
            </a:r>
          </a:p>
          <a:p>
            <a:r>
              <a:t>    &lt;- HPF-1: Revenue 2020 (actual): $10.42M</a:t>
            </a:r>
          </a:p>
          <a:p>
            <a:r>
              <a:t>    &lt;- HPF-6: EBITDA trough was FY2023 (USD M -0.722); returned to profit by FY2025 at USD M 0.572. Revenue FY2025 +13% YoY (same-basis). ( ).</a:t>
            </a:r>
          </a:p>
          <a:p>
            <a:r>
              <a:t>    &lt;- HPF-7: EBITDA trough was FY2023. QBO/workbook accounts extract. 8 period(s) from accounts. 0 CIM gap(s)</a:t>
            </a:r>
          </a:p>
          <a:p>
            <a:r>
              <a:t>[kpis[1]] FACT: $7.6M</a:t>
            </a:r>
          </a:p>
          <a:p>
            <a:r>
              <a:t>    &lt;- HPF-V90-R8: Total Revenues | 2023: $7.56M | 2024: $11.87M | 2025: $13.41M | 2026 YTD (Jul): $8.05M</a:t>
            </a:r>
          </a:p>
          <a:p>
            <a:r>
              <a:t>[kpis[2]] FACT: $11.9M</a:t>
            </a:r>
          </a:p>
          <a:p>
            <a:r>
              <a:t>    &lt;- HPF-V90-R8: Total Revenues | 2023: $7.56M | 2024: $11.87M | 2025: $13.41M | 2026 YTD (Jul): $8.05M</a:t>
            </a:r>
          </a:p>
          <a:p>
            <a:r>
              <a:t>[kpis[3]] FACT: $13.4M</a:t>
            </a:r>
          </a:p>
          <a:p>
            <a:r>
              <a:t>    &lt;- HPF-V90-R8: Total Revenues | 2023: $7.56M | 2024: $11.87M | 2025: $13.41M | 2026 YTD (Jul): $8.05M</a:t>
            </a:r>
          </a:p>
          <a:p>
            <a:r>
              <a:t>[kpis[4]] FACT: $8.1M</a:t>
            </a:r>
          </a:p>
          <a:p>
            <a:r>
              <a:t>    &lt;- HPF-V90-R8: Total Revenues | 2023: $7.56M | 2024: $11.87M | 2025: $13.41M | 2026 YTD (Jul): $8.05M</a:t>
            </a:r>
          </a:p>
          <a:p>
            <a:r>
              <a:t>[kpis[5]] FACT: -9.5%</a:t>
            </a:r>
          </a:p>
          <a:p>
            <a:r>
              <a:t>    &lt;- HPF-17: EBITDA margin 2023 (actual): -9.5%</a:t>
            </a:r>
          </a:p>
          <a:p>
            <a:r>
              <a:t>[left[1]] FACT: EBITDA trough was FY2023 (USD M -0.722); returned to profit by FY2025 at USD M 0.572. Revenue FY2025 +13% YoY (same-basis).</a:t>
            </a:r>
          </a:p>
          <a:p>
            <a:r>
              <a:t>    &lt;- HPF-V90-R8: Total Revenues | 2023: $7.56M | 2024: $11.87M | 2025: $13.41M | 2026 YTD (Jul): $8.05M</a:t>
            </a:r>
          </a:p>
          <a:p>
            <a:r>
              <a:t>    &lt;- HPF-1: Revenue 2020 (actual): $10.42M</a:t>
            </a:r>
          </a:p>
          <a:p>
            <a:r>
              <a:t>    &lt;- HPF-6: EBITDA trough was FY2023 (USD M -0.722); returned to profit by FY2025 at USD M 0.572. Revenue FY2025 +13% YoY (same-basis). ( ).</a:t>
            </a:r>
          </a:p>
          <a:p>
            <a:r>
              <a:t>    &lt;- HPF-7: EBITDA trough was FY2023. QBO/workbook accounts extract. 8 period(s) from accounts. 0 CIM gap(s)</a:t>
            </a:r>
          </a:p>
          <a:p>
            <a:r>
              <a:t>[left[2]] FACT: EBITDA trough was FY2023. QBO/workbook accounts extract. 8 period(s) from accounts. 0 CIM gap(s)</a:t>
            </a:r>
          </a:p>
          <a:p>
            <a:r>
              <a:t>    &lt;- HPF-V90-R8: Total Revenues | 2023: $7.56M | 2024: $11.87M | 2025: $13.41M | 2026 YTD (Jul): $8.05M</a:t>
            </a:r>
          </a:p>
          <a:p>
            <a:r>
              <a:t>    &lt;- HPF-1: Revenue 2020 (actual): $10.42M</a:t>
            </a:r>
          </a:p>
          <a:p>
            <a:r>
              <a:t>    &lt;- HPF-6: EBITDA trough was FY2023 (USD M -0.722); returned to profit by FY2025 at USD M 0.572. Revenue FY2025 +13% YoY (same-basis). ( ).</a:t>
            </a:r>
          </a:p>
          <a:p>
            <a:r>
              <a:t>    &lt;- HPF-7: EBITDA trough was FY2023. QBO/workbook accounts extract. 8 period(s) from accounts. 0 CIM gap(s)</a:t>
            </a:r>
          </a:p>
          <a:p>
            <a:r>
              <a:t>[right] FACT: </a:t>
            </a:r>
          </a:p>
          <a:p>
            <a:r>
              <a:t>    &lt;- HPF-V90-R8: Total Revenues | 2023: $7.56M | 2024: $11.87M | 2025: $13.41M | 2026 YTD (Jul): $8.05M</a:t>
            </a:r>
          </a:p>
          <a:p>
            <a:r>
              <a:t>    &lt;- HPF-1: Revenue 2020 (actual): $10.42M</a:t>
            </a:r>
          </a:p>
          <a:p>
            <a:r>
              <a:t>    &lt;- HPF-6: EBITDA trough was FY2023 (USD M -0.722); returned to profit by FY2025 at USD M 0.572. Revenue FY2025 +13% YoY (same-basis). ( ).</a:t>
            </a:r>
          </a:p>
          <a:p>
            <a:r>
              <a:t>    &lt;- HPF-7: EBITDA trough was FY2023. QBO/workbook accounts extract. 8 period(s) from accounts. 0 CIM gap(s)</a:t>
            </a:r>
          </a:p>
          <a:p/>
          <a:p>
            <a:r>
              <a:t>CALCULATIONS</a:t>
            </a:r>
          </a:p>
          <a:p>
            <a:r>
              <a:t>CALC-YOY-2025: (later - earlier) / abs(earlier) * 100 | inputs: later=13.41 (HPF-V90-R8), earlier=11.87 (HPF-V90-R8) | output: 13.0 %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S010_platform_evolution</a:t>
            </a:r>
          </a:p>
          <a:p>
            <a:r>
              <a:t>Kinds: FACT = sourced; CALC = calculated (†); VIEW = DiligenceIQ interpretation</a:t>
            </a:r>
          </a:p>
          <a:p/>
          <a:p>
            <a:r>
              <a:t>[title] INTERPRETATION: How Compost Crew scaled, on the years the CIM table states</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[subtitle] INTERPRETATION: These are the CIM's figures. They are not a substitute for the accounts.</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[flow row 1] refs: CBG-7, CBG-8, CBG-9, CBG-7, CBG-8, CBG-9, CBG-7, CBG-8, CBG-9, CBG-7, CBG-8, CBG-9, CBG-7, CBG-8, CBG-9</a:t>
            </a:r>
          </a:p>
          <a:p>
            <a:r>
              <a:t>[flow row 2] refs: CBG-7, CBG-8, CBG-9, CBG-7, CBG-8, CBG-9, CBG-7, CBG-8, CBG-9, CBG-7, CBG-8, CBG-9, CBG-7, CBG-8, CBG-9</a:t>
            </a:r>
          </a:p>
          <a:p>
            <a:r>
              <a:t>[flow row 3] refs: CBG-7, CBG-8, CBG-9, CBG-7, CBG-8, CBG-9, CBG-7, CBG-8, CBG-9, CBG-7, CBG-8, CBG-9, CBG-7, CBG-8, CBG-9</a:t>
            </a:r>
          </a:p>
          <a:p>
            <a:r>
              <a:t>[flow row 4] refs: CBG-7, CBG-8, CBG-9, CBG-7, CBG-8, CBG-9, CBG-7, CBG-8, CBG-9, CBG-7, CBG-8, CBG-9, CBG-7, CBG-8, CBG-9</a:t>
            </a:r>
          </a:p>
          <a:p>
            <a:r>
              <a:t>[flow row 5] refs: CBG-7, CBG-8, CBG-9, CBG-7, CBG-8, CBG-9, CBG-7, CBG-8, CBG-9, CBG-7, CBG-8, CBG-9, CBG-7, CBG-8, CBG-9</a:t>
            </a:r>
          </a:p>
          <a:p>
            <a:r>
              <a:t>[right[1]] FACT: 2020: Active 5,000; ARR $2.3M; Tons 2,500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[right[2]] FACT: 2022: Active 8,000; ARR $5.9M; Tons 7,500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[right[3]] FACT: 2024: Active 23,000; ARR $12.1M; Tons 13,000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[right[4]] FACT: 2025: Active 24,000; ARR $12.9M; Tons 16,000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a:p>
            <a:r>
              <a:t>    &lt;- CBG-7: Active locations | 2020: 5,000 | 2022: 8,000 | 2024: 23,000 | 2025: 24,000 | 2030P: ~80,000</a:t>
            </a:r>
          </a:p>
          <a:p>
            <a:r>
              <a:t>    &lt;- CBG-8: ARR | 2020: $2.3M | 2022: $5.9M | 2024: $12.1M | 2025: $12.9M | 2030P: $49M</a:t>
            </a:r>
          </a:p>
          <a:p>
            <a:r>
              <a:t>    &lt;- CBG-9: Tons Collected | 2020: 2,500 | 2022: 7,500 | 2024: 13,000 | 2025: 16,000 | 2030P: ~53,000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S011_value_chain</a:t>
            </a:r>
          </a:p>
          <a:p>
            <a:r>
              <a:t>Kinds: FACT = sourced; CALC = calculated (†); VIEW = DiligenceIQ interpretation</a:t>
            </a:r>
          </a:p>
          <a:p/>
          <a:p>
            <a:r>
              <a:t>[title] INTERPRETATION: Labor and related benefits are 33.3% of 2025 revenue</a:t>
            </a:r>
          </a:p>
          <a:p>
            <a:r>
              <a:t>    &lt;- HPF-V90-R9: Labor &amp; related benefits | 2023: $3.29M | 2024: $3.77M | 2025: $4.47M | 2026 YTD (Jul): $2.50M</a:t>
            </a:r>
          </a:p>
          <a:p>
            <a:r>
              <a:t>    &lt;- HPF-V90-R8: Total Revenues | 2023: $7.56M | 2024: $11.87M | 2025: $13.41M | 2026 YTD (Jul): $8.05M</a:t>
            </a:r>
          </a:p>
          <a:p>
            <a:r>
              <a:t>    &lt;- HPF-V90-R18: Subcontractors | 2023: $0.36M | 2024: $1.16M | 2025: $1.18M | 2026 YTD (Jul): $0.79M</a:t>
            </a:r>
          </a:p>
          <a:p>
            <a:r>
              <a:t>    &lt;- HPF-V90-R8: Total Revenues | 2023: $7.56M | 2024: $11.87M | 2025: $13.41M | 2026 YTD (Jul): $8.05M</a:t>
            </a:r>
          </a:p>
          <a:p>
            <a:r>
              <a:t>    &lt;- HPF-V90-R17: Compost facility operating costs | 2023: $69,040 | 2024: $0.24M | 2025: $0.31M | 2026 YTD (Jul): $0.13M</a:t>
            </a:r>
          </a:p>
          <a:p>
            <a:r>
              <a:t>    &lt;- HPF-V90-R8: Total Revenues | 2023: $7.56M | 2024: $11.87M | 2025: $13.41M | 2026 YTD (Jul): $8.05M</a:t>
            </a:r>
          </a:p>
          <a:p>
            <a:r>
              <a:t>    &lt;- HPF-V90-R36: Total Selling, General, &amp; Adminsitrative | 2023: $2.80M | 2024: $3.27M | 2025: $4.23M | 2026 YTD (Jul): $2.50M</a:t>
            </a:r>
          </a:p>
          <a:p>
            <a:r>
              <a:t>    &lt;- HPF-V90-R8: Total Revenues | 2023: $7.56M | 2024: $11.87M | 2025: $13.41M | 2026 YTD (Jul): $8.05M</a:t>
            </a:r>
          </a:p>
          <a:p>
            <a:r>
              <a:t>    &lt;- HPF-V90-R12: Maintenance &amp; Repairs | 2023: $0.53M | 2024: $0.59M | 2025: $0.43M | 2026 YTD (Jul): $0.30M</a:t>
            </a:r>
          </a:p>
          <a:p>
            <a:r>
              <a:t>    &lt;- HPF-V90-R13: Fuel costs | 2023: $0.44M | 2024: $0.45M | 2025: $0.48M | 2026 YTD (Jul): $0.33M</a:t>
            </a:r>
          </a:p>
          <a:p>
            <a:r>
              <a:t>    &lt;- HPF-V90-R14: Risk management | 2023: $0.23M | 2024: $0.26M | 2025: $0.35M | 2026 YTD (Jul): $0.25M</a:t>
            </a:r>
          </a:p>
          <a:p>
            <a:r>
              <a:t>    &lt;- HPF-V90-R15: Other fleet and equipment costs | 2023: $0 | 2024: $0 | 2025: $88,339 | 2026 YTD (Jul): $84,125</a:t>
            </a:r>
          </a:p>
          <a:p>
            <a:r>
              <a:t>    &lt;- HPF-V90-R8: Total Revenues | 2023: $7.56M | 2024: $11.87M | 2025: $13.41M | 2026 YTD (Jul): $8.05M</a:t>
            </a:r>
          </a:p>
          <a:p>
            <a:r>
              <a:t>[subtitle] INTERPRETATION: Each share is that line divided by total revenue for the same year. Plan years are not used.</a:t>
            </a:r>
          </a:p>
          <a:p>
            <a:r>
              <a:t>    &lt;- HPF-V90-R9: Labor &amp; related benefits | 2023: $3.29M | 2024: $3.77M | 2025: $4.47M | 2026 YTD (Jul): $2.50M</a:t>
            </a:r>
          </a:p>
          <a:p>
            <a:r>
              <a:t>    &lt;- HPF-V90-R8: Total Revenues | 2023: $7.56M | 2024: $11.87M | 2025: $13.41M | 2026 YTD (Jul): $8.05M</a:t>
            </a:r>
          </a:p>
          <a:p>
            <a:r>
              <a:t>    &lt;- HPF-V90-R18: Subcontractors | 2023: $0.36M | 2024: $1.16M | 2025: $1.18M | 2026 YTD (Jul): $0.79M</a:t>
            </a:r>
          </a:p>
          <a:p>
            <a:r>
              <a:t>    &lt;- HPF-V90-R8: Total Revenues | 2023: $7.56M | 2024: $11.87M | 2025: $13.41M | 2026 YTD (Jul): $8.05M</a:t>
            </a:r>
          </a:p>
          <a:p>
            <a:r>
              <a:t>    &lt;- HPF-V90-R17: Compost facility operating costs | 2023: $69,040 | 2024: $0.24M | 2025: $0.31M | 2026 YTD (Jul): $0.13M</a:t>
            </a:r>
          </a:p>
          <a:p>
            <a:r>
              <a:t>    &lt;- HPF-V90-R8: Total Revenues | 2023: $7.56M | 2024: $11.87M | 2025: $13.41M | 2026 YTD (Jul): $8.05M</a:t>
            </a:r>
          </a:p>
          <a:p>
            <a:r>
              <a:t>    &lt;- HPF-V90-R36: Total Selling, General, &amp; Adminsitrative | 2023: $2.80M | 2024: $3.27M | 2025: $4.23M | 2026 YTD (Jul): $2.50M</a:t>
            </a:r>
          </a:p>
          <a:p>
            <a:r>
              <a:t>    &lt;- HPF-V90-R8: Total Revenues | 2023: $7.56M | 2024: $11.87M | 2025: $13.41M | 2026 YTD (Jul): $8.05M</a:t>
            </a:r>
          </a:p>
          <a:p>
            <a:r>
              <a:t>    &lt;- HPF-V90-R12: Maintenance &amp; Repairs | 2023: $0.53M | 2024: $0.59M | 2025: $0.43M | 2026 YTD (Jul): $0.30M</a:t>
            </a:r>
          </a:p>
          <a:p>
            <a:r>
              <a:t>    &lt;- HPF-V90-R13: Fuel costs | 2023: $0.44M | 2024: $0.45M | 2025: $0.48M | 2026 YTD (Jul): $0.33M</a:t>
            </a:r>
          </a:p>
          <a:p>
            <a:r>
              <a:t>    &lt;- HPF-V90-R14: Risk management | 2023: $0.23M | 2024: $0.26M | 2025: $0.35M | 2026 YTD (Jul): $0.25M</a:t>
            </a:r>
          </a:p>
          <a:p>
            <a:r>
              <a:t>    &lt;- HPF-V90-R15: Other fleet and equipment costs | 2023: $0 | 2024: $0 | 2025: $88,339 | 2026 YTD (Jul): $84,125</a:t>
            </a:r>
          </a:p>
          <a:p>
            <a:r>
              <a:t>    &lt;- HPF-V90-R8: Total Revenues | 2023: $7.56M | 2024: $11.87M | 2025: $13.41M | 2026 YTD (Jul): $8.05M</a:t>
            </a:r>
          </a:p>
          <a:p>
            <a:r>
              <a:t>[table row 1] refs: HPF-V90-R9, HPF-V90-R8, HPF-V90-R18, HPF-V90-R8, HPF-V90-R17, HPF-V90-R8, HPF-V90-R36, HPF-V90-R8, HPF-V90-R12, HPF-V90-R13, HPF-V90-R14, HPF-V90-R15, HPF-V90-R8</a:t>
            </a:r>
          </a:p>
          <a:p>
            <a:r>
              <a:t>[table row 2] refs: HPF-V90-R9, HPF-V90-R8, HPF-V90-R18, HPF-V90-R8, HPF-V90-R17, HPF-V90-R8, HPF-V90-R36, HPF-V90-R8, HPF-V90-R12, HPF-V90-R13, HPF-V90-R14, HPF-V90-R15, HPF-V90-R8</a:t>
            </a:r>
          </a:p>
          <a:p>
            <a:r>
              <a:t>[table row 3] refs: HPF-V90-R9, HPF-V90-R8, HPF-V90-R18, HPF-V90-R8, HPF-V90-R17, HPF-V90-R8, HPF-V90-R36, HPF-V90-R8, HPF-V90-R12, HPF-V90-R13, HPF-V90-R14, HPF-V90-R15, HPF-V90-R8</a:t>
            </a:r>
          </a:p>
          <a:p>
            <a:r>
              <a:t>[table row 4] refs: HPF-V90-R9, HPF-V90-R8, HPF-V90-R18, HPF-V90-R8, HPF-V90-R17, HPF-V90-R8, HPF-V90-R36, HPF-V90-R8, HPF-V90-R12, HPF-V90-R13, HPF-V90-R14, HPF-V90-R15, HPF-V90-R8</a:t>
            </a:r>
          </a:p>
          <a:p>
            <a:r>
              <a:t>[table row 5] refs: HPF-V90-R9, HPF-V90-R8, HPF-V90-R18, HPF-V90-R8, HPF-V90-R17, HPF-V90-R8, HPF-V90-R36, HPF-V90-R8, HPF-V90-R12, HPF-V90-R13, HPF-V90-R14, HPF-V90-R15, HPF-V90-R8</a:t>
            </a:r>
          </a:p>
          <a:p>
            <a:r>
              <a:t>[takeaway] FACT: A cost without an amount is not on this page.</a:t>
            </a:r>
          </a:p>
          <a:p>
            <a:r>
              <a:t>    &lt;- HPF-V90-R9: Labor &amp; related benefits | 2023: $3.29M | 2024: $3.77M | 2025: $4.47M | 2026 YTD (Jul): $2.50M</a:t>
            </a:r>
          </a:p>
          <a:p>
            <a:r>
              <a:t>    &lt;- HPF-V90-R8: Total Revenues | 2023: $7.56M | 2024: $11.87M | 2025: $13.41M | 2026 YTD (Jul): $8.05M</a:t>
            </a:r>
          </a:p>
          <a:p>
            <a:r>
              <a:t>    &lt;- HPF-V90-R18: Subcontractors | 2023: $0.36M | 2024: $1.16M | 2025: $1.18M | 2026 YTD (Jul): $0.79M</a:t>
            </a:r>
          </a:p>
          <a:p>
            <a:r>
              <a:t>    &lt;- HPF-V90-R8: Total Revenues | 2023: $7.56M | 2024: $11.87M | 2025: $13.41M | 2026 YTD (Jul): $8.05M</a:t>
            </a:r>
          </a:p>
          <a:p>
            <a:r>
              <a:t>    &lt;- HPF-V90-R17: Compost facility operating costs | 2023: $69,040 | 2024: $0.24M | 2025: $0.31M | 2026 YTD (Jul): $0.13M</a:t>
            </a:r>
          </a:p>
          <a:p>
            <a:r>
              <a:t>    &lt;- HPF-V90-R8: Total Revenues | 2023: $7.56M | 2024: $11.87M | 2025: $13.41M | 2026 YTD (Jul): $8.05M</a:t>
            </a:r>
          </a:p>
          <a:p>
            <a:r>
              <a:t>    &lt;- HPF-V90-R36: Total Selling, General, &amp; Adminsitrative | 2023: $2.80M | 2024: $3.27M | 2025: $4.23M | 2026 YTD (Jul): $2.50M</a:t>
            </a:r>
          </a:p>
          <a:p>
            <a:r>
              <a:t>    &lt;- HPF-V90-R8: Total Revenues | 2023: $7.56M | 2024: $11.87M | 2025: $13.41M | 2026 YTD (Jul): $8.05M</a:t>
            </a:r>
          </a:p>
          <a:p>
            <a:r>
              <a:t>    &lt;- HPF-V90-R12: Maintenance &amp; Repairs | 2023: $0.53M | 2024: $0.59M | 2025: $0.43M | 2026 YTD (Jul): $0.30M</a:t>
            </a:r>
          </a:p>
          <a:p>
            <a:r>
              <a:t>    &lt;- HPF-V90-R13: Fuel costs | 2023: $0.44M | 2024: $0.45M | 2025: $0.48M | 2026 YTD (Jul): $0.33M</a:t>
            </a:r>
          </a:p>
          <a:p>
            <a:r>
              <a:t>    &lt;- HPF-V90-R14: Risk management | 2023: $0.23M | 2024: $0.26M | 2025: $0.35M | 2026 YTD (Jul): $0.25M</a:t>
            </a:r>
          </a:p>
          <a:p>
            <a:r>
              <a:t>    &lt;- HPF-V90-R15: Other fleet and equipment costs | 2023: $0 | 2024: $0 | 2025: $88,339 | 2026 YTD (Jul): $84,125</a:t>
            </a:r>
          </a:p>
          <a:p>
            <a:r>
              <a:t>    &lt;- HPF-V90-R8: Total Revenues | 2023: $7.56M | 2024: $11.87M | 2025: $13.41M | 2026 YTD (Jul): $8.05M</a:t>
            </a:r>
          </a:p>
          <a:p/>
          <a:p>
            <a:r>
              <a:t>CALCULATIONS</a:t>
            </a:r>
          </a:p>
          <a:p>
            <a:r>
              <a:t>CALC-FLEET: a + b + c + (d / 1000000) | inputs: a=0.43 (HPF-V90-R12), b=0.48 (HPF-V90-R13), c=0.35 (HPF-V90-R14), d=88339.0 (HPF-V90-R15) | output: 1.35 $M</a:t>
            </a:r>
          </a:p>
          <a:p>
            <a:r>
              <a:t>CALC-COST-SHARE-1: cost / revenue * 100 | inputs: cost=4.47 (HPF-V90-R9), revenue=13.41 (HPF-V90-R8) | output: 33.3 %</a:t>
            </a:r>
          </a:p>
          <a:p>
            <a:r>
              <a:t>CALC-COST-SHARE-2: cost / revenue * 100 | inputs: cost=1.18 (HPF-V90-R18), revenue=13.41 (HPF-V90-R8) | output: 8.8 %</a:t>
            </a:r>
          </a:p>
          <a:p>
            <a:r>
              <a:t>CALC-COST-SHARE-3: cost / revenue * 100 | inputs: cost=0.31 (HPF-V90-R17), revenue=13.41 (HPF-V90-R8) | output: 2.3 %</a:t>
            </a:r>
          </a:p>
          <a:p>
            <a:r>
              <a:t>CALC-COST-SHARE-4: cost / revenue * 100 | inputs: cost=4.23 (HPF-V90-R36), revenue=13.41 (HPF-V90-R8) | output: 31.5 %</a:t>
            </a:r>
          </a:p>
          <a:p>
            <a:r>
              <a:t>CALC-COST-SHARE-5: cost / revenue * 100 | inputs: cost=1.35 (CALC), revenue=13.41 (HPF-V90-R8) | output: 10.1 %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S013_business_model_comparison</a:t>
            </a:r>
          </a:p>
          <a:p>
            <a:r>
              <a:t>Kinds: FACT = sourced; CALC = calculated (†); VIEW = DiligenceIQ interpretation</a:t>
            </a:r>
          </a:p>
          <a:p/>
          <a:p>
            <a:r>
              <a:t>[title] INTERPRETATION: Gross retention 90.9% on the model basis and 87.3% on the cohort basis.</a:t>
            </a:r>
          </a:p>
          <a:p>
            <a:r>
              <a:t>    &lt;- CST-V91-R1: Active locations [Customer base at 30-jun-2026] | Commercial: 856 | Municipal: 19,195 | Residential: 5,495 | Total: 25,546</a:t>
            </a:r>
          </a:p>
          <a:p>
            <a:r>
              <a:t>    &lt;- CST-V91-R2: ARR ($mn) [Customer base at 30-jun-2026] | Commercial: $5.81M | Municipal: $5.72M | Residential: $1.93M | Total: $13.46M</a:t>
            </a:r>
          </a:p>
          <a:p>
            <a:r>
              <a:t>    &lt;- CST-V91-R3: ARPA / ARPU, existing book ($ per month) [Customer base at 30-jun-2026] | Commercial: $566 | Municipal: $24.84 | Residential: $29.19 | Total: $43.91</a:t>
            </a:r>
          </a:p>
          <a:p>
            <a:r>
              <a:t>    &lt;- CST-V91-R6: Annual gross dollar retention [Retention, model basis (2026)] | Commercial: 90.9% | Municipal: 95.1% | Residential: 88.2%</a:t>
            </a:r>
          </a:p>
          <a:p>
            <a:r>
              <a:t>    &lt;- CST-V91-R9: Gross dollar retention [Retention, actual cohort basis (2025)] | Commercial: 87.3% | Residential: 84.6%</a:t>
            </a:r>
          </a:p>
          <a:p>
            <a:r>
              <a:t>    &lt;- CST-V91-R10: Net dollar retention [Retention, actual cohort basis (2025)] | Commercial: 106.6% | Residential: 84.7%</a:t>
            </a:r>
          </a:p>
          <a:p>
            <a:r>
              <a:t>[subtitle] INTERPRETATION: Residential price on the existing book is $29.19 a month. No third-party local price was in the loaded files.</a:t>
            </a:r>
          </a:p>
          <a:p>
            <a:r>
              <a:t>    &lt;- CST-V91-R1: Active locations [Customer base at 30-jun-2026] | Commercial: 856 | Municipal: 19,195 | Residential: 5,495 | Total: 25,546</a:t>
            </a:r>
          </a:p>
          <a:p>
            <a:r>
              <a:t>    &lt;- CST-V91-R2: ARR ($mn) [Customer base at 30-jun-2026] | Commercial: $5.81M | Municipal: $5.72M | Residential: $1.93M | Total: $13.46M</a:t>
            </a:r>
          </a:p>
          <a:p>
            <a:r>
              <a:t>    &lt;- CST-V91-R3: ARPA / ARPU, existing book ($ per month) [Customer base at 30-jun-2026] | Commercial: $566 | Municipal: $24.84 | Residential: $29.19 | Total: $43.91</a:t>
            </a:r>
          </a:p>
          <a:p>
            <a:r>
              <a:t>    &lt;- CST-V91-R6: Annual gross dollar retention [Retention, model basis (2026)] | Commercial: 90.9% | Municipal: 95.1% | Residential: 88.2%</a:t>
            </a:r>
          </a:p>
          <a:p>
            <a:r>
              <a:t>    &lt;- CST-V91-R9: Gross dollar retention [Retention, actual cohort basis (2025)] | Commercial: 87.3% | Residential: 84.6%</a:t>
            </a:r>
          </a:p>
          <a:p>
            <a:r>
              <a:t>    &lt;- CST-V91-R10: Net dollar retention [Retention, actual cohort basis (2025)] | Commercial: 106.6% | Residential: 84.7%</a:t>
            </a:r>
          </a:p>
          <a:p>
            <a:r>
              <a:t>[table row 1] refs: CST-V91-R1, CST-V91-R2, CST-V91-R3, CST-V91-R6, CST-V91-R9, CST-V91-R10</a:t>
            </a:r>
          </a:p>
          <a:p>
            <a:r>
              <a:t>[table row 2] refs: CST-V91-R1, CST-V91-R2, CST-V91-R3, CST-V91-R6, CST-V91-R9, CST-V91-R10</a:t>
            </a:r>
          </a:p>
          <a:p>
            <a:r>
              <a:t>[table row 3] refs: CST-V91-R1, CST-V91-R2, CST-V91-R3, CST-V91-R6, CST-V91-R9, CST-V91-R10</a:t>
            </a:r>
          </a:p>
          <a:p>
            <a:r>
              <a:t>[table row 4] refs: CST-V91-R1, CST-V91-R2, CST-V91-R3, CST-V91-R6, CST-V91-R9, CST-V91-R10</a:t>
            </a:r>
          </a:p>
          <a:p>
            <a:r>
              <a:t>[table row 5] refs: CST-V91-R1, CST-V91-R2, CST-V91-R3, CST-V91-R6, CST-V91-R9, CST-V91-R10</a:t>
            </a:r>
          </a:p>
          <a:p>
            <a:r>
              <a:t>[table row 6] refs: CST-V91-R1, CST-V91-R2, CST-V91-R3, CST-V91-R6, CST-V91-R9, CST-V91-R10</a:t>
            </a:r>
          </a:p>
          <a:p>
            <a:r>
              <a:t>[takeaway] FACT: The results pages use the actual cohort basis. The model basis is shown beside it.</a:t>
            </a:r>
          </a:p>
          <a:p>
            <a:r>
              <a:t>    &lt;- CST-V91-R1: Active locations [Customer base at 30-jun-2026] | Commercial: 856 | Municipal: 19,195 | Residential: 5,495 | Total: 25,546</a:t>
            </a:r>
          </a:p>
          <a:p>
            <a:r>
              <a:t>    &lt;- CST-V91-R2: ARR ($mn) [Customer base at 30-jun-2026] | Commercial: $5.81M | Municipal: $5.72M | Residential: $1.93M | Total: $13.46M</a:t>
            </a:r>
          </a:p>
          <a:p>
            <a:r>
              <a:t>    &lt;- CST-V91-R3: ARPA / ARPU, existing book ($ per month) [Customer base at 30-jun-2026] | Commercial: $566 | Municipal: $24.84 | Residential: $29.19 | Total: $43.91</a:t>
            </a:r>
          </a:p>
          <a:p>
            <a:r>
              <a:t>    &lt;- CST-V91-R6: Annual gross dollar retention [Retention, model basis (2026)] | Commercial: 90.9% | Municipal: 95.1% | Residential: 88.2%</a:t>
            </a:r>
          </a:p>
          <a:p>
            <a:r>
              <a:t>    &lt;- CST-V91-R9: Gross dollar retention [Retention, actual cohort basis (2025)] | Commercial: 87.3% | Residential: 84.6%</a:t>
            </a:r>
          </a:p>
          <a:p>
            <a:r>
              <a:t>    &lt;- CST-V91-R10: Net dollar retention [Retention, actual cohort basis (2025)] | Commercial: 106.6% | Residential: 84.7%</a:t>
            </a:r>
          </a:p>
          <a:p/>
          <a:p>
            <a:r>
              <a:t>EXCEPTIONS AFFECTING THIS SLIDE</a:t>
            </a:r>
          </a:p>
          <a:p>
            <a:r>
              <a:t>[HIGH] Gross retention 90.9% on the model basis and 87.3% on the cohort basis. -&gt; The results pages use the actual cohort basis. The model basis is shown beside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S015_barriers</a:t>
            </a:r>
          </a:p>
          <a:p>
            <a:r>
              <a:t>Kinds: FACT = sourced; CALC = calculated (†); VIEW = DiligenceIQ interpretation</a:t>
            </a:r>
          </a:p>
          <a:p/>
          <a:p>
            <a:r>
              <a:t>[title] INTERPRETATION: The CIM names a leadership team. No biography file was loaded.</a:t>
            </a:r>
          </a:p>
          <a:p>
            <a:r>
              <a:t>    &lt;- CBG-12: The CIM leadership page names Ben Parry, CEO; Rick Moore, Chief Revenue Officer; Kristie Blumer, Sr. Director of Composting; Jon Anthony Korn, Vice President of</a:t>
            </a:r>
          </a:p>
          <a:p>
            <a:r>
              <a:t>[subtitle] INTERPRETATION: The names below are the CIM's wording. They were not interviewed.</a:t>
            </a:r>
          </a:p>
          <a:p>
            <a:r>
              <a:t>    &lt;- CBG-12: The CIM leadership page names Ben Parry, CEO; Rick Moore, Chief Revenue Officer; Kristie Blumer, Sr. Director of Composting; Jon Anthony Korn, Vice President of</a:t>
            </a:r>
          </a:p>
          <a:p>
            <a:r>
              <a:t>[left[1]] FACT: Ben Parry, CEO</a:t>
            </a:r>
          </a:p>
          <a:p>
            <a:r>
              <a:t>    &lt;- CBG-12: The CIM leadership page names Ben Parry, CEO; Rick Moore, Chief Revenue Officer; Kristie Blumer, Sr. Director of Composting; Jon Anthony Korn, Vice President of</a:t>
            </a:r>
          </a:p>
          <a:p>
            <a:r>
              <a:t>[left[2]] FACT: Rick Moore, Chief Revenue Officer</a:t>
            </a:r>
          </a:p>
          <a:p>
            <a:r>
              <a:t>    &lt;- CBG-12: The CIM leadership page names Ben Parry, CEO; Rick Moore, Chief Revenue Officer; Kristie Blumer, Sr. Director of Composting; Jon Anthony Korn, Vice President of</a:t>
            </a:r>
          </a:p>
          <a:p>
            <a:r>
              <a:t>[left[3]] FACT: Kristie Blumer, Sr. Director of Composting</a:t>
            </a:r>
          </a:p>
          <a:p>
            <a:r>
              <a:t>    &lt;- CBG-12: The CIM leadership page names Ben Parry, CEO; Rick Moore, Chief Revenue Officer; Kristie Blumer, Sr. Director of Composting; Jon Anthony Korn, Vice President of</a:t>
            </a:r>
          </a:p>
          <a:p>
            <a:r>
              <a:t>[left[4]] FACT: Jon Anthony Korn, Vice President of Operations</a:t>
            </a:r>
          </a:p>
          <a:p>
            <a:r>
              <a:t>    &lt;- CBG-12: The CIM leadership page names Ben Parry, CEO; Rick Moore, Chief Revenue Officer; Kristie Blumer, Sr. Director of Composting; Jon Anthony Korn, Vice President of</a:t>
            </a:r>
          </a:p>
          <a:p>
            <a:r>
              <a:t>[right[1]] FACT: No biography or interview file was loaded for these names.</a:t>
            </a:r>
          </a:p>
          <a:p>
            <a:r>
              <a:t>    &lt;- CBG-12: The CIM leadership page names Ben Parry, CEO; Rick Moore, Chief Revenue Officer; Kristie Blumer, Sr. Director of Composting; Jon Anthony Korn, Vice President of</a:t>
            </a:r>
          </a:p>
          <a:p>
            <a:r>
              <a:t>[right[2]] FACT: The management module did not return a named executive.</a:t>
            </a:r>
          </a:p>
          <a:p>
            <a:r>
              <a:t>    &lt;- CBG-12: The CIM leadership page names Ben Parry, CEO; Rick Moore, Chief Revenue Officer; Kristie Blumer, Sr. Director of Composting; Jon Anthony Korn, Vice President of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S016_pain_points</a:t>
            </a:r>
          </a:p>
          <a:p>
            <a:r>
              <a:t>Kinds: FACT = sourced; CALC = calculated (†); VIEW = DiligenceIQ interpretation</a:t>
            </a:r>
          </a:p>
          <a:p/>
          <a:p>
            <a:r>
              <a:t>[title] INTERPRETATION: Logo retention by cohort for Compost Crew</a:t>
            </a:r>
          </a:p>
          <a:p>
            <a:r>
              <a:t>    &lt;- CST-V93-R1: 2021 cohort | Accounts: 260 | 2021: 100.0% | 2022: 98.8% | 2023: 89.6% | 2024: 83.1% | 2025: 75.4% | 2026H1: 66.9%</a:t>
            </a:r>
          </a:p>
          <a:p>
            <a:r>
              <a:t>    &lt;- CST-V93-R2: 2022 cohort | Accounts: 142 | 2022: 100.0% | 2023: 95.1% | 2024: 88.0% | 2025: 79.6% | 2026H1: 64.8%</a:t>
            </a:r>
          </a:p>
          <a:p>
            <a:r>
              <a:t>    &lt;- CST-V93-R3: 2023 cohort | Accounts: 126 | 2023: 100.0% | 2024: 97.6% | 2025: 88.1% | 2026H1: 80.2%</a:t>
            </a:r>
          </a:p>
          <a:p>
            <a:r>
              <a:t>    &lt;- CST-V93-R4: 2024 cohort | Accounts: 166 | 2024: 100.0% | 2025: 97.6% | 2026H1: 84.9%</a:t>
            </a:r>
          </a:p>
          <a:p>
            <a:r>
              <a:t>    &lt;- CST-V93-R5: 2025 cohort | Accounts: 81 | 2025: 100.0% | 2026H1: 97.5%</a:t>
            </a:r>
          </a:p>
          <a:p>
            <a:r>
              <a:t>[subtitle] INTERPRETATION: Each cell is the workbook's retention for that cohort in that year. Revenue cohorts are not mixed in.</a:t>
            </a:r>
          </a:p>
          <a:p>
            <a:r>
              <a:t>    &lt;- CST-V93-R1: 2021 cohort | Accounts: 260 | 2021: 100.0% | 2022: 98.8% | 2023: 89.6% | 2024: 83.1% | 2025: 75.4% | 2026H1: 66.9%</a:t>
            </a:r>
          </a:p>
          <a:p>
            <a:r>
              <a:t>    &lt;- CST-V93-R2: 2022 cohort | Accounts: 142 | 2022: 100.0% | 2023: 95.1% | 2024: 88.0% | 2025: 79.6% | 2026H1: 64.8%</a:t>
            </a:r>
          </a:p>
          <a:p>
            <a:r>
              <a:t>    &lt;- CST-V93-R3: 2023 cohort | Accounts: 126 | 2023: 100.0% | 2024: 97.6% | 2025: 88.1% | 2026H1: 80.2%</a:t>
            </a:r>
          </a:p>
          <a:p>
            <a:r>
              <a:t>    &lt;- CST-V93-R4: 2024 cohort | Accounts: 166 | 2024: 100.0% | 2025: 97.6% | 2026H1: 84.9%</a:t>
            </a:r>
          </a:p>
          <a:p>
            <a:r>
              <a:t>    &lt;- CST-V93-R5: 2025 cohort | Accounts: 81 | 2025: 100.0% | 2026H1: 97.5%</a:t>
            </a:r>
          </a:p>
          <a:p>
            <a:r>
              <a:t>[left row 1] refs: CST-V93-R1, CST-V93-R2, CST-V93-R3, CST-V93-R4, CST-V93-R5</a:t>
            </a:r>
          </a:p>
          <a:p>
            <a:r>
              <a:t>[left row 2] refs: CST-V93-R1, CST-V93-R2, CST-V93-R3, CST-V93-R4, CST-V93-R5</a:t>
            </a:r>
          </a:p>
          <a:p>
            <a:r>
              <a:t>[left row 3] refs: CST-V93-R1, CST-V93-R2, CST-V93-R3, CST-V93-R4, CST-V93-R5</a:t>
            </a:r>
          </a:p>
          <a:p>
            <a:r>
              <a:t>[left row 4] refs: CST-V93-R1, CST-V93-R2, CST-V93-R3, CST-V93-R4, CST-V93-R5</a:t>
            </a:r>
          </a:p>
          <a:p>
            <a:r>
              <a:t>[left row 5] refs: CST-V93-R1, CST-V93-R2, CST-V93-R3, CST-V93-R4, CST-V93-R5</a:t>
            </a:r>
          </a:p>
          <a:p>
            <a:r>
              <a:t>[right[1]] FACT: 2021 cohort is 66.9% by 2026H1.</a:t>
            </a:r>
          </a:p>
          <a:p>
            <a:r>
              <a:t>    &lt;- CST-V93-R1: 2021 cohort | Accounts: 260 | 2021: 100.0% | 2022: 98.8% | 2023: 89.6% | 2024: 83.1% | 2025: 75.4% | 2026H1: 66.9%</a:t>
            </a:r>
          </a:p>
          <a:p>
            <a:r>
              <a:t>    &lt;- CST-V93-R2: 2022 cohort | Accounts: 142 | 2022: 100.0% | 2023: 95.1% | 2024: 88.0% | 2025: 79.6% | 2026H1: 64.8%</a:t>
            </a:r>
          </a:p>
          <a:p>
            <a:r>
              <a:t>    &lt;- CST-V93-R3: 2023 cohort | Accounts: 126 | 2023: 100.0% | 2024: 97.6% | 2025: 88.1% | 2026H1: 80.2%</a:t>
            </a:r>
          </a:p>
          <a:p>
            <a:r>
              <a:t>    &lt;- CST-V93-R4: 2024 cohort | Accounts: 166 | 2024: 100.0% | 2025: 97.6% | 2026H1: 84.9%</a:t>
            </a:r>
          </a:p>
          <a:p>
            <a:r>
              <a:t>    &lt;- CST-V93-R5: 2025 cohort | Accounts: 81 | 2025: 100.0% | 2026H1: 97.5%</a:t>
            </a:r>
          </a:p>
          <a:p>
            <a:r>
              <a:t>[right[2]] FACT: The accounts column is the cohort's opening count. It is not the new-logo count for that year.</a:t>
            </a:r>
          </a:p>
          <a:p>
            <a:r>
              <a:t>    &lt;- CST-V93-R1: 2021 cohort | Accounts: 260 | 2021: 100.0% | 2022: 98.8% | 2023: 89.6% | 2024: 83.1% | 2025: 75.4% | 2026H1: 66.9%</a:t>
            </a:r>
          </a:p>
          <a:p>
            <a:r>
              <a:t>    &lt;- CST-V93-R2: 2022 cohort | Accounts: 142 | 2022: 100.0% | 2023: 95.1% | 2024: 88.0% | 2025: 79.6% | 2026H1: 64.8%</a:t>
            </a:r>
          </a:p>
          <a:p>
            <a:r>
              <a:t>    &lt;- CST-V93-R3: 2023 cohort | Accounts: 126 | 2023: 100.0% | 2024: 97.6% | 2025: 88.1% | 2026H1: 80.2%</a:t>
            </a:r>
          </a:p>
          <a:p>
            <a:r>
              <a:t>    &lt;- CST-V93-R4: 2024 cohort | Accounts: 166 | 2024: 100.0% | 2025: 97.6% | 2026H1: 84.9%</a:t>
            </a:r>
          </a:p>
          <a:p>
            <a:r>
              <a:t>    &lt;- CST-V93-R5: 2025 cohort | Accounts: 81 | 2025: 100.0% | 2026H1: 97.5%</a:t>
            </a:r>
          </a:p>
          <a:p>
            <a:r>
              <a:t>[right[3]] FACT: A later cohort is not assumed to follow an earlier one.</a:t>
            </a:r>
          </a:p>
          <a:p>
            <a:r>
              <a:t>    &lt;- CST-V93-R1: 2021 cohort | Accounts: 260 | 2021: 100.0% | 2022: 98.8% | 2023: 89.6% | 2024: 83.1% | 2025: 75.4% | 2026H1: 66.9%</a:t>
            </a:r>
          </a:p>
          <a:p>
            <a:r>
              <a:t>    &lt;- CST-V93-R2: 2022 cohort | Accounts: 142 | 2022: 100.0% | 2023: 95.1% | 2024: 88.0% | 2025: 79.6% | 2026H1: 64.8%</a:t>
            </a:r>
          </a:p>
          <a:p>
            <a:r>
              <a:t>    &lt;- CST-V93-R3: 2023 cohort | Accounts: 126 | 2023: 100.0% | 2024: 97.6% | 2025: 88.1% | 2026H1: 80.2%</a:t>
            </a:r>
          </a:p>
          <a:p>
            <a:r>
              <a:t>    &lt;- CST-V93-R4: 2024 cohort | Accounts: 166 | 2024: 100.0% | 2025: 97.6% | 2026H1: 84.9%</a:t>
            </a:r>
          </a:p>
          <a:p>
            <a:r>
              <a:t>    &lt;- CST-V93-R5: 2025 cohort | Accounts: 81 | 2025: 100.0% | 2026H1: 97.5%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S019_div_highlights   (blueprint slide 19 - Investment Highlights)</a:t>
            </a:r>
          </a:p>
          <a:p>
            <a:r>
              <a:t>WORKING TITLE   Section Divider — Investment Highlights</a:t>
            </a:r>
          </a:p>
          <a:p>
            <a:r>
              <a:t>PURPOSE         Signal the synthesis chapter — the case the IC can stop after.</a:t>
            </a:r>
          </a:p>
          <a:p/>
          <a:p>
            <a:r>
              <a:t>WHAT THIS SLIDE MUST CONTAIN</a:t>
            </a:r>
          </a:p>
          <a:p>
            <a:r>
              <a:t>  - Section title only, on the standard divider layout.</a:t>
            </a:r>
          </a:p>
          <a:p>
            <a:r>
              <a:t>  - Consistent branding identical to other dividers.</a:t>
            </a:r>
          </a:p>
          <a:p/>
          <a:p>
            <a:r>
              <a:t>SOURCES         Deck template.</a:t>
            </a:r>
          </a:p>
          <a:p>
            <a:r>
              <a:t>ANALYSIS        None.</a:t>
            </a:r>
          </a:p>
          <a:p>
            <a:r>
              <a:t>EXHIBIT         Full-bleed branded section divider.  (form: divider)</a:t>
            </a:r>
          </a:p>
          <a:p>
            <a:r>
              <a:t>QUALITY BAR     Divider title matches the contents page word-for-word.</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S020_highlights_summary</a:t>
            </a:r>
          </a:p>
          <a:p>
            <a:r>
              <a:t>Kinds: FACT = sourced; CALC = calculated (†); VIEW = DiligenceIQ interpretation</a:t>
            </a:r>
          </a:p>
          <a:p/>
          <a:p>
            <a:r>
              <a:t>[title] INTERPRETATION: Management accounts and the company workbook do not tie on revenue</a:t>
            </a:r>
          </a:p>
          <a:p>
            <a:r>
              <a:t>    &lt;- HPF-V90-R8: Total Revenues | 2023: $7.56M | 2024: $11.87M | 2025: $13.41M | 2026 YTD (Jul): $8.05M</a:t>
            </a:r>
          </a:p>
          <a:p>
            <a:r>
              <a:t>    &lt;- HPF-V91-R1: Revenue | 2023: $7.53M | 2024: $11.74M | 2025: $13.28M | 2026P: $14.30M | 2027P: $18.07M | 2028P: $24.48M | 2029P: $36.01M | 2030P: $50.17M | '25-'30 CAGR: 30.4</a:t>
            </a:r>
          </a:p>
          <a:p>
            <a:r>
              <a:t>    &lt;- CBG-V98-R1: Revenue 2023 | CIM page(s): 8, 34, 60 | Value in the CIM: $7.5mn | Support: $7.528mn | Where the support lives: Financial Summary</a:t>
            </a:r>
          </a:p>
          <a:p>
            <a:r>
              <a:t>    &lt;- CBG-V98-R2: Revenue 2024 | CIM page(s): 8, 34, 60 | Value in the CIM: $11.7mn | Support: $11.741mn | Where the support lives: Financial Summary</a:t>
            </a:r>
          </a:p>
          <a:p>
            <a:r>
              <a:t>    &lt;- CBG-V98-R3: Revenue 2025 | CIM page(s): 8, 34, 60 | Value in the CIM: $13.3mn | Support: $13.282mn | Where the support lives: Financial Summary</a:t>
            </a:r>
          </a:p>
          <a:p>
            <a:r>
              <a:t>[subtitle] INTERPRETATION: 2025 accounts $13.41M, workbook $13.28M, CIM $13.3mn.</a:t>
            </a:r>
          </a:p>
          <a:p>
            <a:r>
              <a:t>    &lt;- HPF-V90-R8: Total Revenues | 2023: $7.56M | 2024: $11.87M | 2025: $13.41M | 2026 YTD (Jul): $8.05M</a:t>
            </a:r>
          </a:p>
          <a:p>
            <a:r>
              <a:t>    &lt;- HPF-V91-R1: Revenue | 2023: $7.53M | 2024: $11.74M | 2025: $13.28M | 2026P: $14.30M | 2027P: $18.07M | 2028P: $24.48M | 2029P: $36.01M | 2030P: $50.17M | '25-'30 CAGR: 30.4</a:t>
            </a:r>
          </a:p>
          <a:p>
            <a:r>
              <a:t>    &lt;- CBG-V98-R1: Revenue 2023 | CIM page(s): 8, 34, 60 | Value in the CIM: $7.5mn | Support: $7.528mn | Where the support lives: Financial Summary</a:t>
            </a:r>
          </a:p>
          <a:p>
            <a:r>
              <a:t>    &lt;- CBG-V98-R2: Revenue 2024 | CIM page(s): 8, 34, 60 | Value in the CIM: $11.7mn | Support: $11.741mn | Where the support lives: Financial Summary</a:t>
            </a:r>
          </a:p>
          <a:p>
            <a:r>
              <a:t>    &lt;- CBG-V98-R3: Revenue 2025 | CIM page(s): 8, 34, 60 | Value in the CIM: $13.3mn | Support: $13.282mn | Where the support lives: Financial Summary</a:t>
            </a:r>
          </a:p>
          <a:p/>
          <a:p>
            <a:r>
              <a:t>EXCEPTIONS AFFECTING THIS SLIDE</a:t>
            </a:r>
          </a:p>
          <a:p>
            <a:r>
              <a:t>[HIGH] 2025 accounts $13.41M, workbook $13.28M, CIM $13.3mn. -&gt; The accounts figure is the one used on the results pages. The others stay visible here.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S021_h1_market_size</a:t>
            </a:r>
          </a:p>
          <a:p>
            <a:r>
              <a:t>Kinds: FACT = sourced; CALC = calculated (†); VIEW = DiligenceIQ interpretation</a:t>
            </a:r>
          </a:p>
          <a:p/>
          <a:p>
            <a:r>
              <a:t>[title] INTERPRETATION: On the evidenced model the market for Compost Crew is TAM $1,546.2M, SAM $463.9M, SOM $139.2M</a:t>
            </a:r>
          </a:p>
          <a:p>
            <a:r>
              <a:t>    &lt;- MVG-1: TAM: 1546.2 million</a:t>
            </a:r>
          </a:p>
          <a:p>
            <a:r>
              <a:t>    &lt;- MVG-2: SAM: 463.9 million</a:t>
            </a:r>
          </a:p>
          <a:p>
            <a:r>
              <a:t>    &lt;- MVG-3: SOM: 139.2 million</a:t>
            </a:r>
          </a:p>
          <a:p>
            <a:r>
              <a:t>[subtitle] INTERPRETATION: TAM, SAM and SOM from the market-volume module.</a:t>
            </a:r>
          </a:p>
          <a:p>
            <a:r>
              <a:t>    &lt;- MVG-1: TAM: 1546.2 million</a:t>
            </a:r>
          </a:p>
          <a:p>
            <a:r>
              <a:t>    &lt;- MVG-2: SAM: 463.9 million</a:t>
            </a:r>
          </a:p>
          <a:p>
            <a:r>
              <a:t>    &lt;- MVG-3: SOM: 139.2 million</a:t>
            </a:r>
          </a:p>
          <a:p>
            <a:r>
              <a:t>[chart] FACT: </a:t>
            </a:r>
          </a:p>
          <a:p>
            <a:r>
              <a:t>    &lt;- MVG-1: TAM: 1546.2 million</a:t>
            </a:r>
          </a:p>
          <a:p>
            <a:r>
              <a:t>    &lt;- MVG-2: SAM: 463.9 million</a:t>
            </a:r>
          </a:p>
          <a:p>
            <a:r>
              <a:t>    &lt;- MVG-3: SOM: 139.2 million</a:t>
            </a:r>
          </a:p>
          <a:p>
            <a:r>
              <a:t>[right[1]] FACT: TAM $1,546.2M</a:t>
            </a:r>
          </a:p>
          <a:p>
            <a:r>
              <a:t>    &lt;- MVG-1: TAM: 1546.2 million</a:t>
            </a:r>
          </a:p>
          <a:p>
            <a:r>
              <a:t>    &lt;- MVG-2: SAM: 463.9 million</a:t>
            </a:r>
          </a:p>
          <a:p>
            <a:r>
              <a:t>    &lt;- MVG-3: SOM: 139.2 million</a:t>
            </a:r>
          </a:p>
          <a:p>
            <a:r>
              <a:t>[right[2]] FACT: SAM $463.9M</a:t>
            </a:r>
          </a:p>
          <a:p>
            <a:r>
              <a:t>    &lt;- MVG-1: TAM: 1546.2 million</a:t>
            </a:r>
          </a:p>
          <a:p>
            <a:r>
              <a:t>    &lt;- MVG-2: SAM: 463.9 million</a:t>
            </a:r>
          </a:p>
          <a:p>
            <a:r>
              <a:t>    &lt;- MVG-3: SOM: 139.2 million</a:t>
            </a:r>
          </a:p>
          <a:p>
            <a:r>
              <a:t>[right[3]] FACT: SOM $139.2M</a:t>
            </a:r>
          </a:p>
          <a:p>
            <a:r>
              <a:t>    &lt;- MVG-1: TAM: 1546.2 million</a:t>
            </a:r>
          </a:p>
          <a:p>
            <a:r>
              <a:t>    &lt;- MVG-2: SAM: 463.9 million</a:t>
            </a:r>
          </a:p>
          <a:p>
            <a:r>
              <a:t>    &lt;- MVG-3: SOM: 139.2 million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S023_h1_growth_drivers</a:t>
            </a:r>
          </a:p>
          <a:p>
            <a:r>
              <a:t>Kinds: FACT = sourced; CALC = calculated (†); VIEW = DiligenceIQ interpretation</a:t>
            </a:r>
          </a:p>
          <a:p/>
          <a:p>
            <a:r>
              <a:t>[title] INTERPRETATION: Revenue moved +1.54 million from 2024 to 2025 (+13.0%)</a:t>
            </a:r>
          </a:p>
          <a:p>
            <a:r>
              <a:t>    &lt;- HPF-V90-R8: Total Revenues | 2023: $7.56M | 2024: $11.87M | 2025: $13.41M | 2026 YTD (Jul): $8.05M</a:t>
            </a:r>
          </a:p>
          <a:p>
            <a:r>
              <a:t>    &lt;- HPF-1: Revenue 2020 (actual): $10.42M</a:t>
            </a:r>
          </a:p>
          <a:p>
            <a:r>
              <a:t>[subtitle] INTERPRETATION: Each change is later actual revenue minus the prior actual. Plan years are excluded.</a:t>
            </a:r>
          </a:p>
          <a:p>
            <a:r>
              <a:t>    &lt;- HPF-V90-R8: Total Revenues | 2023: $7.56M | 2024: $11.87M | 2025: $13.41M | 2026 YTD (Jul): $8.05M</a:t>
            </a:r>
          </a:p>
          <a:p>
            <a:r>
              <a:t>    &lt;- HPF-1: Revenue 2020 (actual): $10.42M</a:t>
            </a:r>
          </a:p>
          <a:p>
            <a:r>
              <a:t>[left row 1] refs: HPF-V90-R8, HPF-1</a:t>
            </a:r>
          </a:p>
          <a:p>
            <a:r>
              <a:t>[left row 2] refs: HPF-V90-R8, HPF-1</a:t>
            </a:r>
          </a:p>
          <a:p>
            <a:r>
              <a:t>[right[1]] FACT: 2023 to 2024: +4.31 million, +57.0%.</a:t>
            </a:r>
          </a:p>
          <a:p>
            <a:r>
              <a:t>    &lt;- HPF-V90-R8: Total Revenues | 2023: $7.56M | 2024: $11.87M | 2025: $13.41M | 2026 YTD (Jul): $8.05M</a:t>
            </a:r>
          </a:p>
          <a:p>
            <a:r>
              <a:t>    &lt;- HPF-1: Revenue 2020 (actual): $10.42M</a:t>
            </a:r>
          </a:p>
          <a:p>
            <a:r>
              <a:t>[right[2]] FACT: 2024 to 2025: +1.54 million, +13.0%.</a:t>
            </a:r>
          </a:p>
          <a:p>
            <a:r>
              <a:t>    &lt;- HPF-V90-R8: Total Revenues | 2023: $7.56M | 2024: $11.87M | 2025: $13.41M | 2026 YTD (Jul): $8.05M</a:t>
            </a:r>
          </a:p>
          <a:p>
            <a:r>
              <a:t>    &lt;- HPF-1: Revenue 2020 (actual): $10.42M</a:t>
            </a:r>
          </a:p>
          <a:p/>
          <a:p>
            <a:r>
              <a:t>CALCULATIONS</a:t>
            </a:r>
          </a:p>
          <a:p>
            <a:r>
              <a:t>CALC-DELTA-2024: later - earlier | inputs: later=11.87 (HPF-V90-R8), earlier=7.56 (HPF-V90-R8) | output: 4.31 $M</a:t>
            </a:r>
          </a:p>
          <a:p>
            <a:r>
              <a:t>CALC-YOY-2024: (later - earlier) / abs(earlier) * 100 | inputs: later=11.87 (HPF-V90-R8), earlier=7.56 (HPF-V90-R8) | output: 57.0 %</a:t>
            </a:r>
          </a:p>
          <a:p>
            <a:r>
              <a:t>CALC-DELTA-2025: later - earlier | inputs: later=13.41 (HPF-V90-R8), earlier=11.87 (HPF-V90-R8) | output: 1.54 $M</a:t>
            </a:r>
          </a:p>
          <a:p>
            <a:r>
              <a:t>CALC-YOY-2025: (later - earlier) / abs(earlier) * 100 | inputs: later=13.41 (HPF-V90-R8), earlier=11.87 (HPF-V90-R8) | output: 13.0 %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S029_h4_differentiation</a:t>
            </a:r>
          </a:p>
          <a:p>
            <a:r>
              <a:t>Kinds: FACT = sourced; CALC = calculated (†); VIEW = DiligenceIQ interpretation</a:t>
            </a:r>
          </a:p>
          <a:p/>
          <a:p>
            <a:r>
              <a:t>[title] INTERPRETATION: The CIM states 99.5% on-time and a 70 NPS. No survey file tests either.</a:t>
            </a:r>
          </a:p>
          <a:p>
            <a:r>
              <a:t>    &lt;- CBG-10: The CIM states 99.5% on-time and a 70 NPS score.</a:t>
            </a:r>
          </a:p>
          <a:p>
            <a:r>
              <a:t>    &lt;- CBG-10: The CIM states 99.5% on-time and a 70 NPS score.</a:t>
            </a:r>
          </a:p>
          <a:p>
            <a:r>
              <a:t>    &lt;- CBG-11: The CIM states the DC contract is about 12,000 of the municipal locations, and that rates step up about 2.6% a year from 2027.</a:t>
            </a:r>
          </a:p>
          <a:p>
            <a:r>
              <a:t>    &lt;- CBG-11: The CIM states the DC contract is about 12,000 of the municipal locations, and that rates step up about 2.6% a year from 2027.</a:t>
            </a:r>
          </a:p>
          <a:p>
            <a:r>
              <a:t>[subtitle] INTERPRETATION: Each row is a sentence in the CIM. None of them is a survey result.</a:t>
            </a:r>
          </a:p>
          <a:p>
            <a:r>
              <a:t>    &lt;- CBG-10: The CIM states 99.5% on-time and a 70 NPS score.</a:t>
            </a:r>
          </a:p>
          <a:p>
            <a:r>
              <a:t>    &lt;- CBG-10: The CIM states 99.5% on-time and a 70 NPS score.</a:t>
            </a:r>
          </a:p>
          <a:p>
            <a:r>
              <a:t>    &lt;- CBG-11: The CIM states the DC contract is about 12,000 of the municipal locations, and that rates step up about 2.6% a year from 2027.</a:t>
            </a:r>
          </a:p>
          <a:p>
            <a:r>
              <a:t>    &lt;- CBG-11: The CIM states the DC contract is about 12,000 of the municipal locations, and that rates step up about 2.6% a year from 2027.</a:t>
            </a:r>
          </a:p>
          <a:p>
            <a:r>
              <a:t>[table row 1] refs: CBG-10, CBG-10, CBG-11, CBG-11</a:t>
            </a:r>
          </a:p>
          <a:p>
            <a:r>
              <a:t>[table row 2] refs: CBG-10, CBG-10, CBG-11, CBG-11</a:t>
            </a:r>
          </a:p>
          <a:p>
            <a:r>
              <a:t>[table row 3] refs: CBG-10, CBG-10, CBG-11, CBG-11</a:t>
            </a:r>
          </a:p>
          <a:p>
            <a:r>
              <a:t>[table row 4] refs: CBG-10, CBG-10, CBG-11, CBG-11</a:t>
            </a:r>
          </a:p>
          <a:p>
            <a:r>
              <a:t>[takeaway] FACT: These are statements in the CIM. They are not results of a survey or an interview.</a:t>
            </a:r>
          </a:p>
          <a:p>
            <a:r>
              <a:t>    &lt;- CBG-10: The CIM states 99.5% on-time and a 70 NPS score.</a:t>
            </a:r>
          </a:p>
          <a:p>
            <a:r>
              <a:t>    &lt;- CBG-10: The CIM states 99.5% on-time and a 70 NPS score.</a:t>
            </a:r>
          </a:p>
          <a:p>
            <a:r>
              <a:t>    &lt;- CBG-11: The CIM states the DC contract is about 12,000 of the municipal locations, and that rates step up about 2.6% a year from 2027.</a:t>
            </a:r>
          </a:p>
          <a:p>
            <a:r>
              <a:t>    &lt;- CBG-11: The CIM states the DC contract is about 12,000 of the municipal locations, and that rates step up about 2.6% a year from 2027.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S032_div_market   (blueprint slide 32 - Market Dynamics &amp; Opportunity)</a:t>
            </a:r>
          </a:p>
          <a:p>
            <a:r>
              <a:t>WORKING TITLE   Section Divider — Detailed Findings</a:t>
            </a:r>
          </a:p>
          <a:p>
            <a:r>
              <a:t>PURPOSE         Open the findings section and list its four chapters.</a:t>
            </a:r>
          </a:p>
          <a:p/>
          <a:p>
            <a:r>
              <a:t>WHAT THIS SLIDE MUST CONTAIN</a:t>
            </a:r>
          </a:p>
          <a:p>
            <a:r>
              <a:t>  - Section title with the four workstream chapters listed: Market Dynamics &amp; Opportunity · Decision-</a:t>
            </a:r>
          </a:p>
          <a:p>
            <a:r>
              <a:t>    Making Dynamics · Competitive Landscape · Growth Opportunities.</a:t>
            </a:r>
          </a:p>
          <a:p>
            <a:r>
              <a:t>  - Standard divider branding; repeated before each chapter with the current chapter highlighted.</a:t>
            </a:r>
          </a:p>
          <a:p/>
          <a:p>
            <a:r>
              <a:t>SOURCES         Deck template.</a:t>
            </a:r>
          </a:p>
          <a:p>
            <a:r>
              <a:t>ANALYSIS        None.</a:t>
            </a:r>
          </a:p>
          <a:p>
            <a:r>
              <a:t>EXHIBIT         Branded divider with chapter list.  (form: divider)</a:t>
            </a:r>
          </a:p>
          <a:p>
            <a:r>
              <a:t>QUALITY BAR     Chapter list matches the contents page exactly.</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S100_source_register</a:t>
            </a:r>
          </a:p>
          <a:p>
            <a:r>
              <a:t>Kinds: FACT = sourced; CALC = calculated (†); VIEW = DiligenceIQ interpretation</a:t>
            </a:r>
          </a:p>
          <a:p/>
          <a:p>
            <a:r>
              <a:t>[title] INTERPRETATION: Sources the report rests on, read from the room or only cited</a:t>
            </a:r>
          </a:p>
          <a:p>
            <a:r>
              <a:t>    &lt;- SCM-21: Source file documents__CC - Depreciation Schedule as on 07_31_2026.xlsx. How used: Read.</a:t>
            </a:r>
          </a:p>
          <a:p>
            <a:r>
              <a:t>    &lt;- SCM-22: Source file documents__CC_Investor_Workbook_EXTERNAL.xlsx. How used: Read.</a:t>
            </a:r>
          </a:p>
          <a:p>
            <a:r>
              <a:t>    &lt;- SCM-23: Source file documents__Completed 2c2i Baseline Metrics Compost Crew.xlsx. How used: Read.</a:t>
            </a:r>
          </a:p>
          <a:p>
            <a:r>
              <a:t>    &lt;- SCM-24: Source file documents__Compost Crew Impact Metric -2024.xlsx. How used: Read.</a:t>
            </a:r>
          </a:p>
          <a:p>
            <a:r>
              <a:t>    &lt;- SCM-25: Source file documents__Compost Crew Monthly Financials 23YTD26.xlsx. How used: Read.</a:t>
            </a:r>
          </a:p>
          <a:p>
            <a:r>
              <a:t>    &lt;- SCM-26: Source file documents__MD_NOVA_ZIP Expansion Analysis_Final_10_22_2025.xlsx. How used: Read.</a:t>
            </a:r>
          </a:p>
          <a:p>
            <a:r>
              <a:t>    &lt;- SCM-27: Source file documents__OG Loan Schedules.xlsx. How used: Read.</a:t>
            </a:r>
          </a:p>
          <a:p>
            <a:r>
              <a:t>    &lt;- SCM-28: Source file documents__TAM_SAM_ SOM Data.xlsx. How used: Read.</a:t>
            </a:r>
          </a:p>
          <a:p>
            <a:r>
              <a:t>    &lt;- SCM-29: Source file documents__CC_CIM_JPC_FINAL_090126.pptx. How used: Read.</a:t>
            </a:r>
          </a:p>
          <a:p>
            <a:r>
              <a:t>    &lt;- SCM-30: Source file 2_2_1 Revenue by Service Line__Please see Investor Workbook.txt. How used: Cited only.</a:t>
            </a:r>
          </a:p>
          <a:p>
            <a:r>
              <a:t>    &lt;- SCM-31: Source file 2_3_1 Financial Projections__Please see Investor Workbook.txt. How used: Cited only.</a:t>
            </a:r>
          </a:p>
          <a:p>
            <a:r>
              <a:t>    &lt;- SCM-32: Source file Compost Crew Monthly Financials 23YTD26.xlsx. How used: Cited only.</a:t>
            </a:r>
          </a:p>
          <a:p>
            <a:r>
              <a:t>    &lt;- SCM-33: Source file Please see 2_1_1 Financial Statements for BS.txt. How used: Cited only.</a:t>
            </a:r>
          </a:p>
          <a:p>
            <a:r>
              <a:t>    &lt;- SCM-34: Source file Please see 2_1_1 Financial Statements for Cash Flow Statements.txt. How used: Cited only.</a:t>
            </a:r>
          </a:p>
          <a:p>
            <a:r>
              <a:t>    &lt;- SCM-35: Source file Please see 2_1_1 Financial Statements.txt. How used: Cited only.</a:t>
            </a:r>
          </a:p>
          <a:p>
            <a:r>
              <a:t>    &lt;- SCM-36: Source file TAM_SAM_ SOM Data.xlsx. How used: Cited only.</a:t>
            </a:r>
          </a:p>
          <a:p>
            <a:r>
              <a:t>    &lt;- SCM-37: Source file 2026-08-31_summary_cap_intermediate_cap_detailed_cap.xlsx. How used: Cited only.</a:t>
            </a:r>
          </a:p>
          <a:p>
            <a:r>
              <a:t>    &lt;- SCM-38: Source file 2_3_2 Assumption Supporting Projections__Please see Investor Workbook.txt. How used: Cited only.</a:t>
            </a:r>
          </a:p>
          <a:p>
            <a:r>
              <a:t>    &lt;- SCM-39: Source file 4_2_2 Equipment List__Please see CIM P46.txt. How used: Cited only.</a:t>
            </a:r>
          </a:p>
          <a:p>
            <a:r>
              <a:t>    &lt;- SCM-40: Source file CC - 12354 Parking Lease.pdf. How used: Cited only.</a:t>
            </a:r>
          </a:p>
          <a:p>
            <a:r>
              <a:t>    &lt;- SCM-41: Source file CC - Depreciation Schedule as on 07_31_2026.xlsx. How used: Cited only.</a:t>
            </a:r>
          </a:p>
          <a:p>
            <a:r>
              <a:t>    &lt;- SCM-42: Source file 2026 Commercial Sales Proposal.pptx. How used: Cited only.</a:t>
            </a:r>
          </a:p>
          <a:p>
            <a:r>
              <a:t>    &lt;- SCM-43: Source file 4280-2 Compost Crew FY25 FPEP.pdf. How used: Cited only.</a:t>
            </a:r>
          </a:p>
          <a:p>
            <a:r>
              <a:t>    &lt;- SCM-44: Source file CC_Investor_Workbook_EXTERNAL.xlsx. How used: Cited only.</a:t>
            </a:r>
          </a:p>
          <a:p>
            <a:r>
              <a:t>[subtitle] INTERPRETATION: Read means the workbook was extracted. Cited only means a module named the file.</a:t>
            </a:r>
          </a:p>
          <a:p>
            <a:r>
              <a:t>    &lt;- SCM-21: Source file documents__CC - Depreciation Schedule as on 07_31_2026.xlsx. How used: Read.</a:t>
            </a:r>
          </a:p>
          <a:p>
            <a:r>
              <a:t>    &lt;- SCM-22: Source file documents__CC_Investor_Workbook_EXTERNAL.xlsx. How used: Read.</a:t>
            </a:r>
          </a:p>
          <a:p>
            <a:r>
              <a:t>    &lt;- SCM-23: Source file documents__Completed 2c2i Baseline Metrics Compost Crew.xlsx. How used: Read.</a:t>
            </a:r>
          </a:p>
          <a:p>
            <a:r>
              <a:t>    &lt;- SCM-24: Source file documents__Compost Crew Impact Metric -2024.xlsx. How used: Read.</a:t>
            </a:r>
          </a:p>
          <a:p>
            <a:r>
              <a:t>    &lt;- SCM-25: Source file documents__Compost Crew Monthly Financials 23YTD26.xlsx. How used: Read.</a:t>
            </a:r>
          </a:p>
          <a:p>
            <a:r>
              <a:t>    &lt;- SCM-26: Source file documents__MD_NOVA_ZIP Expansion Analysis_Final_10_22_2025.xlsx. How used: Read.</a:t>
            </a:r>
          </a:p>
          <a:p>
            <a:r>
              <a:t>    &lt;- SCM-27: Source file documents__OG Loan Schedules.xlsx. How used: Read.</a:t>
            </a:r>
          </a:p>
          <a:p>
            <a:r>
              <a:t>    &lt;- SCM-28: Source file documents__TAM_SAM_ SOM Data.xlsx. How used: Read.</a:t>
            </a:r>
          </a:p>
          <a:p>
            <a:r>
              <a:t>    &lt;- SCM-29: Source file documents__CC_CIM_JPC_FINAL_090126.pptx. How used: Read.</a:t>
            </a:r>
          </a:p>
          <a:p>
            <a:r>
              <a:t>    &lt;- SCM-30: Source file 2_2_1 Revenue by Service Line__Please see Investor Workbook.txt. How used: Cited only.</a:t>
            </a:r>
          </a:p>
          <a:p>
            <a:r>
              <a:t>    &lt;- SCM-31: Source file 2_3_1 Financial Projections__Please see Investor Workbook.txt. How used: Cited only.</a:t>
            </a:r>
          </a:p>
          <a:p>
            <a:r>
              <a:t>    &lt;- SCM-32: Source file Compost Crew Monthly Financials 23YTD26.xlsx. How used: Cited only.</a:t>
            </a:r>
          </a:p>
          <a:p>
            <a:r>
              <a:t>    &lt;- SCM-33: Source file Please see 2_1_1 Financial Statements for BS.txt. How used: Cited only.</a:t>
            </a:r>
          </a:p>
          <a:p>
            <a:r>
              <a:t>    &lt;- SCM-34: Source file Please see 2_1_1 Financial Statements for Cash Flow Statements.txt. How used: Cited only.</a:t>
            </a:r>
          </a:p>
          <a:p>
            <a:r>
              <a:t>    &lt;- SCM-35: Source file Please see 2_1_1 Financial Statements.txt. How used: Cited only.</a:t>
            </a:r>
          </a:p>
          <a:p>
            <a:r>
              <a:t>    &lt;- SCM-36: Source file TAM_SAM_ SOM Data.xlsx. How used: Cited only.</a:t>
            </a:r>
          </a:p>
          <a:p>
            <a:r>
              <a:t>    &lt;- SCM-37: Source file 2026-08-31_summary_cap_intermediate_cap_detailed_cap.xlsx. How used: Cited only.</a:t>
            </a:r>
          </a:p>
          <a:p>
            <a:r>
              <a:t>    &lt;- SCM-38: Source file 2_3_2 Assumption Supporting Projections__Please see Investor Workbook.txt. How used: Cited only.</a:t>
            </a:r>
          </a:p>
          <a:p>
            <a:r>
              <a:t>    &lt;- SCM-39: Source file 4_2_2 Equipment List__Please see CIM P46.txt. How used: Cited only.</a:t>
            </a:r>
          </a:p>
          <a:p>
            <a:r>
              <a:t>    &lt;- SCM-40: Source file CC - 12354 Parking Lease.pdf. How used: Cited only.</a:t>
            </a:r>
          </a:p>
          <a:p>
            <a:r>
              <a:t>    &lt;- SCM-41: Source file CC - Depreciation Schedule as on 07_31_2026.xlsx. How used: Cited only.</a:t>
            </a:r>
          </a:p>
          <a:p>
            <a:r>
              <a:t>    &lt;- SCM-42: Source file 2026 Commercial Sales Proposal.pptx. How used: Cited only.</a:t>
            </a:r>
          </a:p>
          <a:p>
            <a:r>
              <a:t>    &lt;- SCM-43: Source file 4280-2 Compost Crew FY25 FPEP.pdf. How used: Cited only.</a:t>
            </a:r>
          </a:p>
          <a:p>
            <a:r>
              <a:t>    &lt;- SCM-44: Source file CC_Investor_Workbook_EXTERNAL.xlsx. How used: Cited only.</a:t>
            </a:r>
          </a:p>
          <a:p>
            <a:r>
              <a:t>[table row 1] refs: SCM-29</a:t>
            </a:r>
          </a:p>
          <a:p>
            <a:r>
              <a:t>[table row 2] refs: SCM-30</a:t>
            </a:r>
          </a:p>
          <a:p>
            <a:r>
              <a:t>[table row 3] refs: SCM-31</a:t>
            </a:r>
          </a:p>
          <a:p>
            <a:r>
              <a:t>[table row 4] refs: SCM-32</a:t>
            </a:r>
          </a:p>
          <a:p>
            <a:r>
              <a:t>[table row 5] refs: SCM-33</a:t>
            </a:r>
          </a:p>
          <a:p>
            <a:r>
              <a:t>[table row 6] refs: SCM-34</a:t>
            </a:r>
          </a:p>
          <a:p>
            <a:r>
              <a:t>[table row 7] refs: SCM-35</a:t>
            </a:r>
          </a:p>
          <a:p>
            <a:r>
              <a:t>[table row 8] refs: SCM-36</a:t>
            </a:r>
          </a:p>
          <a:p>
            <a:r>
              <a:t>[takeaway] FACT: Read means the workbook was extracted into the evidence register. Cited only means the file was named by a module and was not read as a work</a:t>
            </a:r>
          </a:p>
          <a:p>
            <a:r>
              <a:t>    &lt;- SCM-21: Source file documents__CC - Depreciation Schedule as on 07_31_2026.xlsx. How used: Read.</a:t>
            </a:r>
          </a:p>
          <a:p>
            <a:r>
              <a:t>    &lt;- SCM-22: Source file documents__CC_Investor_Workbook_EXTERNAL.xlsx. How used: Read.</a:t>
            </a:r>
          </a:p>
          <a:p>
            <a:r>
              <a:t>    &lt;- SCM-23: Source file documents__Completed 2c2i Baseline Metrics Compost Crew.xlsx. How used: Read.</a:t>
            </a:r>
          </a:p>
          <a:p>
            <a:r>
              <a:t>    &lt;- SCM-24: Source file documents__Compost Crew Impact Metric -2024.xlsx. How used: Read.</a:t>
            </a:r>
          </a:p>
          <a:p>
            <a:r>
              <a:t>    &lt;- SCM-25: Source file documents__Compost Crew Monthly Financials 23YTD26.xlsx. How used: Read.</a:t>
            </a:r>
          </a:p>
          <a:p>
            <a:r>
              <a:t>    &lt;- SCM-26: Source file documents__MD_NOVA_ZIP Expansion Analysis_Final_10_22_2025.xlsx. How used: Read.</a:t>
            </a:r>
          </a:p>
          <a:p>
            <a:r>
              <a:t>    &lt;- SCM-27: Source file documents__OG Loan Schedules.xlsx. How used: Read.</a:t>
            </a:r>
          </a:p>
          <a:p>
            <a:r>
              <a:t>    &lt;- SCM-28: Source file documents__TAM_SAM_ SOM Data.xlsx. How used: Read.</a:t>
            </a:r>
          </a:p>
          <a:p>
            <a:r>
              <a:t>    &lt;- SCM-29: Source file documents__CC_CIM_JPC_FINAL_090126.pptx. How used: Read.</a:t>
            </a:r>
          </a:p>
          <a:p>
            <a:r>
              <a:t>    &lt;- SCM-30: Source file 2_2_1 Revenue by Service Line__Please see Investor Workbook.txt. How used: Cited only.</a:t>
            </a:r>
          </a:p>
          <a:p>
            <a:r>
              <a:t>    &lt;- SCM-31: Source file 2_3_1 Financial Projections__Please see Investor Workbook.txt. How used: Cited only.</a:t>
            </a:r>
          </a:p>
          <a:p>
            <a:r>
              <a:t>    &lt;- SCM-32: Source file Compost Crew Monthly Financials 23YTD26.xlsx. How used: Cited only.</a:t>
            </a:r>
          </a:p>
          <a:p>
            <a:r>
              <a:t>    &lt;- SCM-33: Source file Please see 2_1_1 Financial Statements for BS.txt. How used: Cited only.</a:t>
            </a:r>
          </a:p>
          <a:p>
            <a:r>
              <a:t>    &lt;- SCM-34: Source file Please see 2_1_1 Financial Statements for Cash Flow Statements.txt. How used: Cited only.</a:t>
            </a:r>
          </a:p>
          <a:p>
            <a:r>
              <a:t>    &lt;- SCM-35: Source file Please see 2_1_1 Financial Statements.txt. How used: Cited only.</a:t>
            </a:r>
          </a:p>
          <a:p>
            <a:r>
              <a:t>    &lt;- SCM-36: Source file TAM_SAM_ SOM Data.xlsx. How used: Cited only.</a:t>
            </a:r>
          </a:p>
          <a:p>
            <a:r>
              <a:t>    &lt;- SCM-37: Source file 2026-08-31_summary_cap_intermediate_cap_detailed_cap.xlsx. How used: Cited only.</a:t>
            </a:r>
          </a:p>
          <a:p>
            <a:r>
              <a:t>    &lt;- SCM-38: Source file 2_3_2 Assumption Supporting Projections__Please see Investor Workbook.txt. How used: Cited only.</a:t>
            </a:r>
          </a:p>
          <a:p>
            <a:r>
              <a:t>    &lt;- SCM-39: Source file 4_2_2 Equipment List__Please see CIM P46.txt. How used: Cited only.</a:t>
            </a:r>
          </a:p>
          <a:p>
            <a:r>
              <a:t>    &lt;- SCM-40: Source file CC - 12354 Parking Lease.pdf. How used: Cited only.</a:t>
            </a:r>
          </a:p>
          <a:p>
            <a:r>
              <a:t>    &lt;- SCM-41: Source file CC - Depreciation Schedule as on 07_31_2026.xlsx. How used: Cited only.</a:t>
            </a:r>
          </a:p>
          <a:p>
            <a:r>
              <a:t>    &lt;- SCM-42: Source file 2026 Commercial Sales Proposal.pptx. How used: Cited only.</a:t>
            </a:r>
          </a:p>
          <a:p>
            <a:r>
              <a:t>    &lt;- SCM-43: Source file 4280-2 Compost Crew FY25 FPEP.pdf. How used: Cited only.</a:t>
            </a:r>
          </a:p>
          <a:p>
            <a:r>
              <a:t>    &lt;- SCM-44: Source file CC_Investor_Workbook_EXTERNAL.xlsx. How used: Cited only.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S042_gf2_mix_shift</a:t>
            </a:r>
          </a:p>
          <a:p>
            <a:r>
              <a:t>Kinds: FACT = sourced; CALC = calculated (†); VIEW = DiligenceIQ interpretation</a:t>
            </a:r>
          </a:p>
          <a:p/>
          <a:p>
            <a:r>
              <a:t>[title] INTERPRETATION: Segment mix for Compost Crew, calculated from segment revenue</a:t>
            </a:r>
          </a:p>
          <a:p>
            <a:r>
              <a:t>    &lt;- SCM-7: Accounts and workbooks outrank the CIM, and the CIM outranks agent outputs. Plan years are not results.</a:t>
            </a:r>
          </a:p>
          <a:p>
            <a:r>
              <a:t>[subtitle] INTERPRETATION: Shares calculated from segment revenue divided by the total.</a:t>
            </a:r>
          </a:p>
          <a:p>
            <a:r>
              <a:t>    &lt;- SCM-7: Accounts and workbooks outrank the CIM, and the CIM outranks agent outputs. Plan years are not results.</a:t>
            </a:r>
          </a:p>
          <a:p>
            <a:r>
              <a:t>[chart] CALC: </a:t>
            </a:r>
          </a:p>
          <a:p>
            <a:r>
              <a:t>    &lt;- SCM-7: Accounts and workbooks outrank the CIM, and the CIM outranks agent outputs. Plan years are not results.</a:t>
            </a:r>
          </a:p>
          <a:p>
            <a:r>
              <a:t>[right[1]] FACT: Commercial: 42.4% of the total</a:t>
            </a:r>
          </a:p>
          <a:p>
            <a:r>
              <a:t>    &lt;- SCM-7: Accounts and workbooks outrank the CIM, and the CIM outranks agent outputs. Plan years are not results.</a:t>
            </a:r>
          </a:p>
          <a:p>
            <a:r>
              <a:t>[right[2]] FACT: Municipal (ex-DC): 13.5% of the total</a:t>
            </a:r>
          </a:p>
          <a:p>
            <a:r>
              <a:t>    &lt;- SCM-7: Accounts and workbooks outrank the CIM, and the CIM outranks agent outputs. Plan years are not results.</a:t>
            </a:r>
          </a:p>
          <a:p>
            <a:r>
              <a:t>[right[3]] FACT: Municipal - DC: 22.6% of the total</a:t>
            </a:r>
          </a:p>
          <a:p>
            <a:r>
              <a:t>    &lt;- SCM-7: Accounts and workbooks outrank the CIM, and the CIM outranks agent outputs. Plan years are not results.</a:t>
            </a:r>
          </a:p>
          <a:p>
            <a:r>
              <a:t>[right[4]] FACT: Residential (Non-Gov): 14.9% of the total</a:t>
            </a:r>
          </a:p>
          <a:p>
            <a:r>
              <a:t>    &lt;- SCM-7: Accounts and workbooks outrank the CIM, and the CIM outranks agent outputs. Plan years are not results.</a:t>
            </a:r>
          </a:p>
          <a:p>
            <a:r>
              <a:t>[right[5]] FACT: Key Compostables: 5.2% of the total</a:t>
            </a:r>
          </a:p>
          <a:p>
            <a:r>
              <a:t>    &lt;- SCM-7: Accounts and workbooks outrank the CIM, and the CIM outranks agent outputs. Plan years are not results.</a:t>
            </a:r>
          </a:p>
          <a:p/>
          <a:p>
            <a:r>
              <a:t>CALCULATIONS</a:t>
            </a:r>
          </a:p>
          <a:p>
            <a:r>
              <a:t>CALC-MIX-TOTAL: s0 + s1 + s2 + s3 + s4 + s5 + s6 | inputs: s0=5.62 (RVQ-V91-R1), s1=1.79 (RVQ-V91-R2), s2=3.0 (RVQ-V91-R3), s3=1.98 (RVQ-V91-R4), s4=0.69 (RVQ-V91-R6), s5=0.18 (RVQ-V91-R7), s6=0.01 (RVQ-V91-R8) | output: 13.27 $M</a:t>
            </a:r>
          </a:p>
          <a:p>
            <a:r>
              <a:t>CALC-MIX-1: s0 / total * 100 | inputs: s0=5.62 (RVQ-V91-R1), total=13.27 (CALC) | output: 42.4 %</a:t>
            </a:r>
          </a:p>
          <a:p>
            <a:r>
              <a:t>CALC-MIX-2: s1 / total * 100 | inputs: s1=1.79 (RVQ-V91-R2), total=13.27 (CALC) | output: 13.5 %</a:t>
            </a:r>
          </a:p>
          <a:p>
            <a:r>
              <a:t>CALC-MIX-3: s2 / total * 100 | inputs: s2=3.0 (RVQ-V91-R3), total=13.27 (CALC) | output: 22.6 %</a:t>
            </a:r>
          </a:p>
          <a:p>
            <a:r>
              <a:t>CALC-MIX-4: s3 / total * 100 | inputs: s3=1.98 (RVQ-V91-R4), total=13.27 (CALC) | output: 14.9 %</a:t>
            </a:r>
          </a:p>
          <a:p>
            <a:r>
              <a:t>CALC-MIX-5: s4 / total * 100 | inputs: s4=0.69 (RVQ-V91-R6), total=13.27 (CALC) | output: 5.2 %</a:t>
            </a:r>
          </a:p>
          <a:p>
            <a:r>
              <a:t>CALC-MIX-6: s5 / total * 100 | inputs: s5=0.18 (RVQ-V91-R7), total=13.27 (CALC) | output: 1.4 %</a:t>
            </a:r>
          </a:p>
          <a:p>
            <a:r>
              <a:t>CALC-MIX-7: s6 / total * 100 | inputs: s6=0.01 (RVQ-V91-R8), total=13.27 (CALC) | output: 0.1 %</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S099_module_verdicts</a:t>
            </a:r>
          </a:p>
          <a:p>
            <a:r>
              <a:t>Kinds: FACT = sourced; CALC = calculated (†); VIEW = DiligenceIQ interpretation</a:t>
            </a:r>
          </a:p>
          <a:p/>
          <a:p>
            <a:r>
              <a:t>[title] INTERPRETATION: Module verdicts restated at the grade the facts support</a:t>
            </a:r>
          </a:p>
          <a:p>
            <a:r>
              <a:t>    &lt;- SCM-8: Verdict 23 modules. Stated BLOCKED. Adjusted Blocked. Findings from a blocked module are not relied on.</a:t>
            </a:r>
          </a:p>
          <a:p>
            <a:r>
              <a:t>    &lt;- SCM-9: Verdict Scope &amp; Methodology. Stated PASS / BLOCKED. Adjusted Not produced. No facts were loaded for this module.</a:t>
            </a:r>
          </a:p>
          <a:p>
            <a:r>
              <a:t>    &lt;- SCM-10: Verdict Cash Flow. Stated PASS / LIMITED. Adjusted Limited. The lower stated grade is used.</a:t>
            </a:r>
          </a:p>
          <a:p>
            <a:r>
              <a:t>    &lt;- SCM-11: Verdict Company Background. Stated PASS / LIMITED. Adjusted Limited. The lower stated grade is used.</a:t>
            </a:r>
          </a:p>
          <a:p>
            <a:r>
              <a:t>    &lt;- SCM-12: Verdict Cost Structure. Stated REWORK / LIMITED. Adjusted Limited. The lower stated grade is used.</a:t>
            </a:r>
          </a:p>
          <a:p>
            <a:r>
              <a:t>    &lt;- SCM-13: Verdict Deal Context And Objectives. Stated PASS / LIMITED. Adjusted Limited. The lower stated grade is used.</a:t>
            </a:r>
          </a:p>
          <a:p>
            <a:r>
              <a:t>    &lt;- SCM-14: Verdict Internal Risk. Stated REWORK / LIMITED. Adjusted Limited. The lower stated grade is used.</a:t>
            </a:r>
          </a:p>
          <a:p>
            <a:r>
              <a:t>    &lt;- SCM-15: Verdict Ip And Technology. Stated PASS / LIMITED. Adjusted Limited. The lower stated grade is used.</a:t>
            </a:r>
          </a:p>
          <a:p>
            <a:r>
              <a:t>    &lt;- SCM-16: Verdict Market Definition. Stated PASS / LIMITED. Adjusted Limited. The lower stated grade is used.</a:t>
            </a:r>
          </a:p>
          <a:p>
            <a:r>
              <a:t>    &lt;- SCM-17: Verdict Valuation Modeling. Stated REWORK / LIMITED. Adjusted Limited. The lower stated grade is used.</a:t>
            </a:r>
          </a:p>
          <a:p>
            <a:r>
              <a:t>    &lt;- SCM-18: Verdict Appendices. Stated PASS / READY. Adjusted Indicated. Lowered to the facts on file.</a:t>
            </a:r>
          </a:p>
          <a:p>
            <a:r>
              <a:t>    &lt;- SCM-19: Verdict Historical Performance. Stated PASS / READY. Adjusted Established. The stated grade matches the facts.</a:t>
            </a:r>
          </a:p>
          <a:p>
            <a:r>
              <a:t>    &lt;- SCM-20: Verdict Market Intel Deck. Stated —. Adjusted Indicated. No verdict was stated, so the facts set the grade.</a:t>
            </a:r>
          </a:p>
          <a:p>
            <a:r>
              <a:t>[subtitle] INTERPRETATION: A stated pass is lowered when the facts are thinner than the module claimed.</a:t>
            </a:r>
          </a:p>
          <a:p>
            <a:r>
              <a:t>    &lt;- SCM-8: Verdict 23 modules. Stated BLOCKED. Adjusted Blocked. Findings from a blocked module are not relied on.</a:t>
            </a:r>
          </a:p>
          <a:p>
            <a:r>
              <a:t>    &lt;- SCM-9: Verdict Scope &amp; Methodology. Stated PASS / BLOCKED. Adjusted Not produced. No facts were loaded for this module.</a:t>
            </a:r>
          </a:p>
          <a:p>
            <a:r>
              <a:t>    &lt;- SCM-10: Verdict Cash Flow. Stated PASS / LIMITED. Adjusted Limited. The lower stated grade is used.</a:t>
            </a:r>
          </a:p>
          <a:p>
            <a:r>
              <a:t>    &lt;- SCM-11: Verdict Company Background. Stated PASS / LIMITED. Adjusted Limited. The lower stated grade is used.</a:t>
            </a:r>
          </a:p>
          <a:p>
            <a:r>
              <a:t>    &lt;- SCM-12: Verdict Cost Structure. Stated REWORK / LIMITED. Adjusted Limited. The lower stated grade is used.</a:t>
            </a:r>
          </a:p>
          <a:p>
            <a:r>
              <a:t>    &lt;- SCM-13: Verdict Deal Context And Objectives. Stated PASS / LIMITED. Adjusted Limited. The lower stated grade is used.</a:t>
            </a:r>
          </a:p>
          <a:p>
            <a:r>
              <a:t>    &lt;- SCM-14: Verdict Internal Risk. Stated REWORK / LIMITED. Adjusted Limited. The lower stated grade is used.</a:t>
            </a:r>
          </a:p>
          <a:p>
            <a:r>
              <a:t>    &lt;- SCM-15: Verdict Ip And Technology. Stated PASS / LIMITED. Adjusted Limited. The lower stated grade is used.</a:t>
            </a:r>
          </a:p>
          <a:p>
            <a:r>
              <a:t>    &lt;- SCM-16: Verdict Market Definition. Stated PASS / LIMITED. Adjusted Limited. The lower stated grade is used.</a:t>
            </a:r>
          </a:p>
          <a:p>
            <a:r>
              <a:t>    &lt;- SCM-17: Verdict Valuation Modeling. Stated REWORK / LIMITED. Adjusted Limited. The lower stated grade is used.</a:t>
            </a:r>
          </a:p>
          <a:p>
            <a:r>
              <a:t>    &lt;- SCM-18: Verdict Appendices. Stated PASS / READY. Adjusted Indicated. Lowered to the facts on file.</a:t>
            </a:r>
          </a:p>
          <a:p>
            <a:r>
              <a:t>    &lt;- SCM-19: Verdict Historical Performance. Stated PASS / READY. Adjusted Established. The stated grade matches the facts.</a:t>
            </a:r>
          </a:p>
          <a:p>
            <a:r>
              <a:t>    &lt;- SCM-20: Verdict Market Intel Deck. Stated —. Adjusted Indicated. No verdict was stated, so the facts set the grade.</a:t>
            </a:r>
          </a:p>
          <a:p>
            <a:r>
              <a:t>[table row 1] refs: SCM-8, SCM-9, SCM-10, SCM-11, SCM-12, SCM-13, SCM-14, SCM-15, SCM-16, SCM-17, SCM-18, SCM-19, SCM-20</a:t>
            </a:r>
          </a:p>
          <a:p>
            <a:r>
              <a:t>[table row 2] refs: SCM-8, SCM-9, SCM-10, SCM-11, SCM-12, SCM-13, SCM-14, SCM-15, SCM-16, SCM-17, SCM-18, SCM-19, SCM-20</a:t>
            </a:r>
          </a:p>
          <a:p>
            <a:r>
              <a:t>[table row 3] refs: SCM-8, SCM-9, SCM-10, SCM-11, SCM-12, SCM-13, SCM-14, SCM-15, SCM-16, SCM-17, SCM-18, SCM-19, SCM-20</a:t>
            </a:r>
          </a:p>
          <a:p>
            <a:r>
              <a:t>[table row 4] refs: SCM-8, SCM-9, SCM-10, SCM-11, SCM-12, SCM-13, SCM-14, SCM-15, SCM-16, SCM-17, SCM-18, SCM-19, SCM-20</a:t>
            </a:r>
          </a:p>
          <a:p>
            <a:r>
              <a:t>[table row 5] refs: SCM-8, SCM-9, SCM-10, SCM-11, SCM-12, SCM-13, SCM-14, SCM-15, SCM-16, SCM-17, SCM-18, SCM-19, SCM-20</a:t>
            </a:r>
          </a:p>
          <a:p>
            <a:r>
              <a:t>[takeaway] FACT: The adjusted grade is the one this report uses. It is not raised above the facts.</a:t>
            </a:r>
          </a:p>
          <a:p>
            <a:r>
              <a:t>    &lt;- SCM-8: Verdict 23 modules. Stated BLOCKED. Adjusted Blocked. Findings from a blocked module are not relied on.</a:t>
            </a:r>
          </a:p>
          <a:p>
            <a:r>
              <a:t>    &lt;- SCM-9: Verdict Scope &amp; Methodology. Stated PASS / BLOCKED. Adjusted Not produced. No facts were loaded for this module.</a:t>
            </a:r>
          </a:p>
          <a:p>
            <a:r>
              <a:t>    &lt;- SCM-10: Verdict Cash Flow. Stated PASS / LIMITED. Adjusted Limited. The lower stated grade is used.</a:t>
            </a:r>
          </a:p>
          <a:p>
            <a:r>
              <a:t>    &lt;- SCM-11: Verdict Company Background. Stated PASS / LIMITED. Adjusted Limited. The lower stated grade is used.</a:t>
            </a:r>
          </a:p>
          <a:p>
            <a:r>
              <a:t>    &lt;- SCM-12: Verdict Cost Structure. Stated REWORK / LIMITED. Adjusted Limited. The lower stated grade is used.</a:t>
            </a:r>
          </a:p>
          <a:p>
            <a:r>
              <a:t>    &lt;- SCM-13: Verdict Deal Context And Objectives. Stated PASS / LIMITED. Adjusted Limited. The lower stated grade is used.</a:t>
            </a:r>
          </a:p>
          <a:p>
            <a:r>
              <a:t>    &lt;- SCM-14: Verdict Internal Risk. Stated REWORK / LIMITED. Adjusted Limited. The lower stated grade is used.</a:t>
            </a:r>
          </a:p>
          <a:p>
            <a:r>
              <a:t>    &lt;- SCM-15: Verdict Ip And Technology. Stated PASS / LIMITED. Adjusted Limited. The lower stated grade is used.</a:t>
            </a:r>
          </a:p>
          <a:p>
            <a:r>
              <a:t>    &lt;- SCM-16: Verdict Market Definition. Stated PASS / LIMITED. Adjusted Limited. The lower stated grade is used.</a:t>
            </a:r>
          </a:p>
          <a:p>
            <a:r>
              <a:t>    &lt;- SCM-17: Verdict Valuation Modeling. Stated REWORK / LIMITED. Adjusted Limited. The lower stated grade is used.</a:t>
            </a:r>
          </a:p>
          <a:p>
            <a:r>
              <a:t>    &lt;- SCM-18: Verdict Appendices. Stated PASS / READY. Adjusted Indicated. Lowered to the facts on file.</a:t>
            </a:r>
          </a:p>
          <a:p>
            <a:r>
              <a:t>    &lt;- SCM-19: Verdict Historical Performance. Stated PASS / READY. Adjusted Established. The stated grade matches the facts.</a:t>
            </a:r>
          </a:p>
          <a:p>
            <a:r>
              <a:t>    &lt;- SCM-20: Verdict Market Intel Deck. Stated —. Adjusted Indicated. No verdict was stated, so the facts set the grade.</a:t>
            </a:r>
          </a:p>
          <a:p/>
          <a:p>
            <a:r>
              <a:t>EXCEPTIONS AFFECTING THIS SLIDE</a:t>
            </a:r>
          </a:p>
          <a:p>
            <a:r>
              <a:t>[HIGH] 26 modules are marked blocked. -&gt; Findings from a blocked module are not relied 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S007_glossary</a:t>
            </a:r>
          </a:p>
          <a:p>
            <a:r>
              <a:t>Kinds: FACT = sourced; CALC = calculated (†); VIEW = DiligenceIQ interpretation</a:t>
            </a:r>
          </a:p>
          <a:p/>
          <a:p>
            <a:r>
              <a:t>[title] FACT: Terms used in this report</a:t>
            </a:r>
          </a:p>
          <a:p>
            <a:r>
              <a:t>    &lt;- RUN:glossary: UNKNOWN REF</a:t>
            </a:r>
          </a:p>
          <a:p>
            <a:r>
              <a:t>[subtitle] FACT: A term is listed only when it appears in this report. Plan years carry a P suffix.</a:t>
            </a:r>
          </a:p>
          <a:p>
            <a:r>
              <a:t>    &lt;- RUN:glossary: UNKNOWN REF</a:t>
            </a:r>
          </a:p>
          <a:p>
            <a:r>
              <a:t>[table row 1] refs: RUN:glossary</a:t>
            </a:r>
          </a:p>
          <a:p>
            <a:r>
              <a:t>[table row 2] refs: RUN:glossary</a:t>
            </a:r>
          </a:p>
          <a:p>
            <a:r>
              <a:t>[table row 3] refs: RUN:glossary</a:t>
            </a:r>
          </a:p>
          <a:p>
            <a:r>
              <a:t>[takeaway] FACT: A term that does not appear in the report is not defined here.</a:t>
            </a:r>
          </a:p>
          <a:p>
            <a:r>
              <a:t>    &lt;- RUN:glossary: UNKNOWN REF</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S045_gf4_pricing_stability</a:t>
            </a:r>
          </a:p>
          <a:p>
            <a:r>
              <a:t>Kinds: FACT = sourced; CALC = calculated (†); VIEW = DiligenceIQ interpretation</a:t>
            </a:r>
          </a:p>
          <a:p/>
          <a:p>
            <a:r>
              <a:t>[title] INTERPRETATION: Margin on record is 4.3% in 2025</a:t>
            </a:r>
          </a:p>
          <a:p>
            <a:r>
              <a:t>    &lt;- HPF-14: Gross margin 2023 (actual): 20.4%</a:t>
            </a:r>
          </a:p>
          <a:p>
            <a:r>
              <a:t>    &lt;- HPF-15: Gross margin 2024 (actual): 31.8%</a:t>
            </a:r>
          </a:p>
          <a:p>
            <a:r>
              <a:t>    &lt;- HPF-16: Gross margin 2025 (actual): 30.4%</a:t>
            </a:r>
          </a:p>
          <a:p>
            <a:r>
              <a:t>    &lt;- HPF-17: EBITDA margin 2023 (actual): -9.5%</a:t>
            </a:r>
          </a:p>
          <a:p>
            <a:r>
              <a:t>    &lt;- HPF-18: EBITDA margin 2024 (actual): 9.6%</a:t>
            </a:r>
          </a:p>
          <a:p>
            <a:r>
              <a:t>    &lt;- HPF-19: EBITDA margin 2025 (actual): 4.3%</a:t>
            </a:r>
          </a:p>
          <a:p>
            <a:r>
              <a:t>[subtitle] INTERPRETATION: Actual and year-to-date margins only. A plan margin is not on this chart.</a:t>
            </a:r>
          </a:p>
          <a:p>
            <a:r>
              <a:t>    &lt;- HPF-14: Gross margin 2023 (actual): 20.4%</a:t>
            </a:r>
          </a:p>
          <a:p>
            <a:r>
              <a:t>    &lt;- HPF-15: Gross margin 2024 (actual): 31.8%</a:t>
            </a:r>
          </a:p>
          <a:p>
            <a:r>
              <a:t>    &lt;- HPF-16: Gross margin 2025 (actual): 30.4%</a:t>
            </a:r>
          </a:p>
          <a:p>
            <a:r>
              <a:t>    &lt;- HPF-17: EBITDA margin 2023 (actual): -9.5%</a:t>
            </a:r>
          </a:p>
          <a:p>
            <a:r>
              <a:t>    &lt;- HPF-18: EBITDA margin 2024 (actual): 9.6%</a:t>
            </a:r>
          </a:p>
          <a:p>
            <a:r>
              <a:t>    &lt;- HPF-19: EBITDA margin 2025 (actual): 4.3%</a:t>
            </a:r>
          </a:p>
          <a:p>
            <a:r>
              <a:t>[chart] FACT: </a:t>
            </a:r>
          </a:p>
          <a:p>
            <a:r>
              <a:t>    &lt;- HPF-14: Gross margin 2023 (actual): 20.4%</a:t>
            </a:r>
          </a:p>
          <a:p>
            <a:r>
              <a:t>    &lt;- HPF-15: Gross margin 2024 (actual): 31.8%</a:t>
            </a:r>
          </a:p>
          <a:p>
            <a:r>
              <a:t>    &lt;- HPF-16: Gross margin 2025 (actual): 30.4%</a:t>
            </a:r>
          </a:p>
          <a:p>
            <a:r>
              <a:t>    &lt;- HPF-17: EBITDA margin 2023 (actual): -9.5%</a:t>
            </a:r>
          </a:p>
          <a:p>
            <a:r>
              <a:t>    &lt;- HPF-18: EBITDA margin 2024 (actual): 9.6%</a:t>
            </a:r>
          </a:p>
          <a:p>
            <a:r>
              <a:t>    &lt;- HPF-19: EBITDA margin 2025 (actual): 4.3%</a:t>
            </a:r>
          </a:p>
          <a:p>
            <a:r>
              <a:t>[right[1]] FACT: Gross margin 2023: 20.4%</a:t>
            </a:r>
          </a:p>
          <a:p>
            <a:r>
              <a:t>    &lt;- HPF-14: Gross margin 2023 (actual): 20.4%</a:t>
            </a:r>
          </a:p>
          <a:p>
            <a:r>
              <a:t>    &lt;- HPF-15: Gross margin 2024 (actual): 31.8%</a:t>
            </a:r>
          </a:p>
          <a:p>
            <a:r>
              <a:t>    &lt;- HPF-16: Gross margin 2025 (actual): 30.4%</a:t>
            </a:r>
          </a:p>
          <a:p>
            <a:r>
              <a:t>    &lt;- HPF-17: EBITDA margin 2023 (actual): -9.5%</a:t>
            </a:r>
          </a:p>
          <a:p>
            <a:r>
              <a:t>    &lt;- HPF-18: EBITDA margin 2024 (actual): 9.6%</a:t>
            </a:r>
          </a:p>
          <a:p>
            <a:r>
              <a:t>    &lt;- HPF-19: EBITDA margin 2025 (actual): 4.3%</a:t>
            </a:r>
          </a:p>
          <a:p>
            <a:r>
              <a:t>[right[2]] FACT: Gross margin 2024: 31.8%</a:t>
            </a:r>
          </a:p>
          <a:p>
            <a:r>
              <a:t>    &lt;- HPF-14: Gross margin 2023 (actual): 20.4%</a:t>
            </a:r>
          </a:p>
          <a:p>
            <a:r>
              <a:t>    &lt;- HPF-15: Gross margin 2024 (actual): 31.8%</a:t>
            </a:r>
          </a:p>
          <a:p>
            <a:r>
              <a:t>    &lt;- HPF-16: Gross margin 2025 (actual): 30.4%</a:t>
            </a:r>
          </a:p>
          <a:p>
            <a:r>
              <a:t>    &lt;- HPF-17: EBITDA margin 2023 (actual): -9.5%</a:t>
            </a:r>
          </a:p>
          <a:p>
            <a:r>
              <a:t>    &lt;- HPF-18: EBITDA margin 2024 (actual): 9.6%</a:t>
            </a:r>
          </a:p>
          <a:p>
            <a:r>
              <a:t>    &lt;- HPF-19: EBITDA margin 2025 (actual): 4.3%</a:t>
            </a:r>
          </a:p>
          <a:p>
            <a:r>
              <a:t>[right[3]] FACT: Gross margin 2025: 30.4%</a:t>
            </a:r>
          </a:p>
          <a:p>
            <a:r>
              <a:t>    &lt;- HPF-14: Gross margin 2023 (actual): 20.4%</a:t>
            </a:r>
          </a:p>
          <a:p>
            <a:r>
              <a:t>    &lt;- HPF-15: Gross margin 2024 (actual): 31.8%</a:t>
            </a:r>
          </a:p>
          <a:p>
            <a:r>
              <a:t>    &lt;- HPF-16: Gross margin 2025 (actual): 30.4%</a:t>
            </a:r>
          </a:p>
          <a:p>
            <a:r>
              <a:t>    &lt;- HPF-17: EBITDA margin 2023 (actual): -9.5%</a:t>
            </a:r>
          </a:p>
          <a:p>
            <a:r>
              <a:t>    &lt;- HPF-18: EBITDA margin 2024 (actual): 9.6%</a:t>
            </a:r>
          </a:p>
          <a:p>
            <a:r>
              <a:t>    &lt;- HPF-19: EBITDA margin 2025 (actual): 4.3%</a:t>
            </a:r>
          </a:p>
          <a:p>
            <a:r>
              <a:t>[right[4]] FACT: EBITDA margin 2023: -9.5%</a:t>
            </a:r>
          </a:p>
          <a:p>
            <a:r>
              <a:t>    &lt;- HPF-14: Gross margin 2023 (actual): 20.4%</a:t>
            </a:r>
          </a:p>
          <a:p>
            <a:r>
              <a:t>    &lt;- HPF-15: Gross margin 2024 (actual): 31.8%</a:t>
            </a:r>
          </a:p>
          <a:p>
            <a:r>
              <a:t>    &lt;- HPF-16: Gross margin 2025 (actual): 30.4%</a:t>
            </a:r>
          </a:p>
          <a:p>
            <a:r>
              <a:t>    &lt;- HPF-17: EBITDA margin 2023 (actual): -9.5%</a:t>
            </a:r>
          </a:p>
          <a:p>
            <a:r>
              <a:t>    &lt;- HPF-18: EBITDA margin 2024 (actual): 9.6%</a:t>
            </a:r>
          </a:p>
          <a:p>
            <a:r>
              <a:t>    &lt;- HPF-19: EBITDA margin 2025 (actual): 4.3%</a:t>
            </a:r>
          </a:p>
          <a:p>
            <a:r>
              <a:t>[right[5]] FACT: EBITDA margin 2024: 9.6%</a:t>
            </a:r>
          </a:p>
          <a:p>
            <a:r>
              <a:t>    &lt;- HPF-14: Gross margin 2023 (actual): 20.4%</a:t>
            </a:r>
          </a:p>
          <a:p>
            <a:r>
              <a:t>    &lt;- HPF-15: Gross margin 2024 (actual): 31.8%</a:t>
            </a:r>
          </a:p>
          <a:p>
            <a:r>
              <a:t>    &lt;- HPF-16: Gross margin 2025 (actual): 30.4%</a:t>
            </a:r>
          </a:p>
          <a:p>
            <a:r>
              <a:t>    &lt;- HPF-17: EBITDA margin 2023 (actual): -9.5%</a:t>
            </a:r>
          </a:p>
          <a:p>
            <a:r>
              <a:t>    &lt;- HPF-18: EBITDA margin 2024 (actual): 9.6%</a:t>
            </a:r>
          </a:p>
          <a:p>
            <a:r>
              <a:t>    &lt;- HPF-19: EBITDA margin 2025 (actual): 4.3%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S046_sam_growth_build</a:t>
            </a:r>
          </a:p>
          <a:p>
            <a:r>
              <a:t>Kinds: FACT = sourced; CALC = calculated (†); VIEW = DiligenceIQ interpretation</a:t>
            </a:r>
          </a:p>
          <a:p/>
          <a:p>
            <a:r>
              <a:t>[title] INTERPRETATION: The plan at 2030P is 3.74x 2025 revenue, a bridge of +36.76 million</a:t>
            </a:r>
          </a:p>
          <a:p>
            <a:r>
              <a:t>    &lt;- HPF-V90-R8: Total Revenues | 2023: $7.56M | 2024: $11.87M | 2025: $13.41M | 2026 YTD (Jul): $8.05M</a:t>
            </a:r>
          </a:p>
          <a:p>
            <a:r>
              <a:t>    &lt;- HPF-V91-R1: Revenue | 2023: $7.53M | 2024: $11.74M | 2025: $13.28M | 2026P: $14.30M | 2027P: $18.07M | 2028P: $24.48M | 2029P: $36.01M | 2030P: $50.17M | '25-'30 CAGR: 30.4</a:t>
            </a:r>
          </a:p>
          <a:p>
            <a:r>
              <a:t>[subtitle] INTERPRETATION: The bridge is plan revenue minus the latest actual. It is not a result.</a:t>
            </a:r>
          </a:p>
          <a:p>
            <a:r>
              <a:t>    &lt;- HPF-V90-R8: Total Revenues | 2023: $7.56M | 2024: $11.87M | 2025: $13.41M | 2026 YTD (Jul): $8.05M</a:t>
            </a:r>
          </a:p>
          <a:p>
            <a:r>
              <a:t>    &lt;- HPF-V91-R1: Revenue | 2023: $7.53M | 2024: $11.74M | 2025: $13.28M | 2026P: $14.30M | 2027P: $18.07M | 2028P: $24.48M | 2029P: $36.01M | 2030P: $50.17M | '25-'30 CAGR: 30.4</a:t>
            </a:r>
          </a:p>
          <a:p>
            <a:r>
              <a:t>[left row 1] refs: HPF-V90-R8, HPF-V91-R1</a:t>
            </a:r>
          </a:p>
          <a:p>
            <a:r>
              <a:t>[left row 2] refs: HPF-V90-R8, HPF-V91-R1</a:t>
            </a:r>
          </a:p>
          <a:p>
            <a:r>
              <a:t>[left row 3] refs: HPF-V90-R8, HPF-V91-R1</a:t>
            </a:r>
          </a:p>
          <a:p>
            <a:r>
              <a:t>[left row 4] refs: HPF-V90-R8, HPF-V91-R1</a:t>
            </a:r>
          </a:p>
          <a:p>
            <a:r>
              <a:t>[right] FACT: </a:t>
            </a:r>
          </a:p>
          <a:p>
            <a:r>
              <a:t>    &lt;- HPF-V90-R8: Total Revenues | 2023: $7.56M | 2024: $11.87M | 2025: $13.41M | 2026 YTD (Jul): $8.05M</a:t>
            </a:r>
          </a:p>
          <a:p>
            <a:r>
              <a:t>    &lt;- HPF-V91-R1: Revenue | 2023: $7.53M | 2024: $11.74M | 2025: $13.28M | 2026P: $14.30M | 2027P: $18.07M | 2028P: $24.48M | 2029P: $36.01M | 2030P: $50.17M | '25-'30 CAGR: 30.4</a:t>
            </a:r>
          </a:p>
          <a:p>
            <a:r>
              <a:t>[takeaway] FACT: Multiple 3.74x is plan divided by the latest actual.</a:t>
            </a:r>
          </a:p>
          <a:p>
            <a:r>
              <a:t>    &lt;- HPF-V90-R8: Total Revenues | 2023: $7.56M | 2024: $11.87M | 2025: $13.41M | 2026 YTD (Jul): $8.05M</a:t>
            </a:r>
          </a:p>
          <a:p>
            <a:r>
              <a:t>    &lt;- HPF-V91-R1: Revenue | 2023: $7.53M | 2024: $11.74M | 2025: $13.28M | 2026P: $14.30M | 2027P: $18.07M | 2028P: $24.48M | 2029P: $36.01M | 2030P: $50.17M | '25-'30 CAGR: 30.4</a:t>
            </a:r>
          </a:p>
          <a:p/>
          <a:p>
            <a:r>
              <a:t>CALCULATIONS</a:t>
            </a:r>
          </a:p>
          <a:p>
            <a:r>
              <a:t>CALC-BRIDGE-DELTA: plan - actual | inputs: plan=50.17 (HPF-V91-R1), actual=13.41 (HPF-V90-R8) | output: 36.76 $M</a:t>
            </a:r>
          </a:p>
          <a:p>
            <a:r>
              <a:t>CALC-BRIDGE-MULTIPLE: plan / actual | inputs: plan=50.17 (HPF-V91-R1), actual=13.41 (HPF-V90-R8) | output: 3.74 x</a:t>
            </a:r>
          </a:p>
          <a:p/>
          <a:p>
            <a:r>
              <a:t>EXCEPTIONS AFFECTING THIS SLIDE</a:t>
            </a:r>
          </a:p>
          <a:p>
            <a:r>
              <a:t>[MEDIUM] Plan years are in the file and are not results. -&gt; They carry a P suffix and stay off the actuals chart.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S047_scenario_analysis</a:t>
            </a:r>
          </a:p>
          <a:p>
            <a:r>
              <a:t>Kinds: FACT = sourced; CALC = calculated (†); VIEW = DiligenceIQ interpretation</a:t>
            </a:r>
          </a:p>
          <a:p/>
          <a:p>
            <a:r>
              <a:t>[title] INTERPRETATION: Recent trading points to 15.50 to 24.68 million by 2030P</a:t>
            </a:r>
          </a:p>
          <a:p>
            <a:r>
              <a:t>    &lt;- HPF-21: Trading case 24.68 million by 2030P, carrying the latest actual growth forward.</a:t>
            </a:r>
          </a:p>
          <a:p>
            <a:r>
              <a:t>    &lt;- HPF-V91-R1: Revenue | 2023: $7.53M | 2024: $11.74M | 2025: $13.28M | 2026P: $14.30M | 2027P: $18.07M | 2028P: $24.48M | 2029P: $36.01M | 2030P: $50.17M | '25-'30 CAGR: 30.4</a:t>
            </a:r>
          </a:p>
          <a:p>
            <a:r>
              <a:t>    &lt;- HPF-20: The first 7 months of 2025 total $7.82M. The first 7 months of 2026 total $8.05M. Year-to-date growth is 2.9%. Carried forward, that pace is 15.50 million by 20</a:t>
            </a:r>
          </a:p>
          <a:p>
            <a:r>
              <a:t>[subtitle] INTERPRETATION: The low case carries year-to-date growth forward. The high case carries the latest full-year growth forward.</a:t>
            </a:r>
          </a:p>
          <a:p>
            <a:r>
              <a:t>    &lt;- HPF-21: Trading case 24.68 million by 2030P, carrying the latest actual growth forward.</a:t>
            </a:r>
          </a:p>
          <a:p>
            <a:r>
              <a:t>    &lt;- HPF-V91-R1: Revenue | 2023: $7.53M | 2024: $11.74M | 2025: $13.28M | 2026P: $14.30M | 2027P: $18.07M | 2028P: $24.48M | 2029P: $36.01M | 2030P: $50.17M | '25-'30 CAGR: 30.4</a:t>
            </a:r>
          </a:p>
          <a:p>
            <a:r>
              <a:t>    &lt;- HPF-20: The first 7 months of 2025 total $7.82M. The first 7 months of 2026 total $8.05M. Year-to-date growth is 2.9%. Carried forward, that pace is 15.50 million by 20</a:t>
            </a:r>
          </a:p>
          <a:p>
            <a:r>
              <a:t>[table row 1] refs: HPF-21, HPF-V91-R1, HPF-20</a:t>
            </a:r>
          </a:p>
          <a:p>
            <a:r>
              <a:t>[table row 2] refs: HPF-21, HPF-V91-R1, HPF-20</a:t>
            </a:r>
          </a:p>
          <a:p>
            <a:r>
              <a:t>[table row 3] refs: HPF-21, HPF-V91-R1, HPF-20</a:t>
            </a:r>
          </a:p>
          <a:p>
            <a:r>
              <a:t>[takeaway] FACT: Each case is a calculation from figures already on the record. None of them is a result.</a:t>
            </a:r>
          </a:p>
          <a:p>
            <a:r>
              <a:t>    &lt;- HPF-21: Trading case 24.68 million by 2030P, carrying the latest actual growth forward.</a:t>
            </a:r>
          </a:p>
          <a:p>
            <a:r>
              <a:t>    &lt;- HPF-V91-R1: Revenue | 2023: $7.53M | 2024: $11.74M | 2025: $13.28M | 2026P: $14.30M | 2027P: $18.07M | 2028P: $24.48M | 2029P: $36.01M | 2030P: $50.17M | '25-'30 CAGR: 30.4</a:t>
            </a:r>
          </a:p>
          <a:p>
            <a:r>
              <a:t>    &lt;- HPF-20: The first 7 months of 2025 total $7.82M. The first 7 months of 2026 total $8.05M. Year-to-date growth is 2.9%. Carried forward, that pace is 15.50 million by 20</a:t>
            </a:r>
          </a:p>
          <a:p/>
          <a:p>
            <a:r>
              <a:t>CALCULATIONS</a:t>
            </a:r>
          </a:p>
          <a:p>
            <a:r>
              <a:t>CALC-BRIDGE-DELTA: plan - actual | inputs: plan=50.17 (HPF-V91-R1), actual=13.41 (HPF-V90-R8) | output: 36.76 $M</a:t>
            </a:r>
          </a:p>
          <a:p>
            <a:r>
              <a:t>CALC-TRADING: later * (later / earlier) ** (plan_year - actual_year) | inputs: later=13.41 (HPF-V90-R8), earlier=11.87 (HPF-V90-R8), plan_year=2030.0 (HPF-V91-R1), actual_year=2025.0 (HPF-V90-R8) | output: 24.68 $M</a:t>
            </a:r>
          </a:p>
          <a:p>
            <a:r>
              <a:t>CALC-YTD-RATE: (ytd_later / ytd_earlier - 1) * 100 | inputs: ytd_later=8.05 (HPF-20), ytd_earlier=7.82 (HPF-20) | output: 2.9 %</a:t>
            </a:r>
          </a:p>
          <a:p>
            <a:r>
              <a:t>CALC-YTD-PACE: actual * (ytd_later / ytd_earlier) ** (plan_year - actual_year) | inputs: actual=13.41 (HPF-V90-R8), ytd_later=8.05 (HPF-20), ytd_earlier=7.82 (HPF-20), plan_year=2030.0 (HPF-V91-R1), actual_year=2025.0 (HPF-V90-R8) | output: 15.5 $M</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S048_downturn_resilience</a:t>
            </a:r>
          </a:p>
          <a:p>
            <a:r>
              <a:t>Kinds: FACT = sourced; CALC = calculated (†); VIEW = DiligenceIQ interpretation</a:t>
            </a:r>
          </a:p>
          <a:p/>
          <a:p>
            <a:r>
              <a:t>[title] INTERPRETATION: Subscriber retention and revenue retention for Compost Crew diverge as the book ages</a:t>
            </a:r>
          </a:p>
          <a:p>
            <a:r>
              <a:t>    &lt;- CST-V92-R1: 0 | Subscriber retention: 97.9% | Revenue retention: 97.7%</a:t>
            </a:r>
          </a:p>
          <a:p>
            <a:r>
              <a:t>    &lt;- CST-V92-R2: 3 | Subscriber retention: 93.1% | Revenue retention: 92.2%</a:t>
            </a:r>
          </a:p>
          <a:p>
            <a:r>
              <a:t>    &lt;- CST-V92-R3: 6 | Subscriber retention: 89.0% | Revenue retention: 87.5%</a:t>
            </a:r>
          </a:p>
          <a:p>
            <a:r>
              <a:t>    &lt;- CST-V92-R4: 12 | Subscriber retention: 81.2% | Revenue retention: 79.0%</a:t>
            </a:r>
          </a:p>
          <a:p>
            <a:r>
              <a:t>    &lt;- CST-V92-R5: 18 | Subscriber retention: 74.2% | Revenue retention: 72.3%</a:t>
            </a:r>
          </a:p>
          <a:p>
            <a:r>
              <a:t>    &lt;- CST-V92-R6: 24 | Subscriber retention: 70.0% | Revenue retention: 68.6%</a:t>
            </a:r>
          </a:p>
          <a:p>
            <a:r>
              <a:t>    &lt;- CST-V92-R7: 30 | Subscriber retention: 64.0% | Revenue retention: 63.6%</a:t>
            </a:r>
          </a:p>
          <a:p>
            <a:r>
              <a:t>    &lt;- CST-V92-R8: 36 | Subscriber retention: 61.8% | Revenue retention: 61.4%</a:t>
            </a:r>
          </a:p>
          <a:p>
            <a:r>
              <a:t>    &lt;- CST-V92-R9: 48 | Subscriber retention: 56.7% | Revenue retention: 56.7%</a:t>
            </a:r>
          </a:p>
          <a:p>
            <a:r>
              <a:t>    &lt;- CST-V92-R10: 60 | Subscriber retention: 51.5% | Revenue retention: 51.7%</a:t>
            </a:r>
          </a:p>
          <a:p>
            <a:r>
              <a:t>[subtitle] INTERPRETATION: Both series are the retention curve in the workbook. One is not converted into the other.</a:t>
            </a:r>
          </a:p>
          <a:p>
            <a:r>
              <a:t>    &lt;- CST-V92-R1: 0 | Subscriber retention: 97.9% | Revenue retention: 97.7%</a:t>
            </a:r>
          </a:p>
          <a:p>
            <a:r>
              <a:t>    &lt;- CST-V92-R2: 3 | Subscriber retention: 93.1% | Revenue retention: 92.2%</a:t>
            </a:r>
          </a:p>
          <a:p>
            <a:r>
              <a:t>    &lt;- CST-V92-R3: 6 | Subscriber retention: 89.0% | Revenue retention: 87.5%</a:t>
            </a:r>
          </a:p>
          <a:p>
            <a:r>
              <a:t>    &lt;- CST-V92-R4: 12 | Subscriber retention: 81.2% | Revenue retention: 79.0%</a:t>
            </a:r>
          </a:p>
          <a:p>
            <a:r>
              <a:t>    &lt;- CST-V92-R5: 18 | Subscriber retention: 74.2% | Revenue retention: 72.3%</a:t>
            </a:r>
          </a:p>
          <a:p>
            <a:r>
              <a:t>    &lt;- CST-V92-R6: 24 | Subscriber retention: 70.0% | Revenue retention: 68.6%</a:t>
            </a:r>
          </a:p>
          <a:p>
            <a:r>
              <a:t>    &lt;- CST-V92-R7: 30 | Subscriber retention: 64.0% | Revenue retention: 63.6%</a:t>
            </a:r>
          </a:p>
          <a:p>
            <a:r>
              <a:t>    &lt;- CST-V92-R8: 36 | Subscriber retention: 61.8% | Revenue retention: 61.4%</a:t>
            </a:r>
          </a:p>
          <a:p>
            <a:r>
              <a:t>    &lt;- CST-V92-R9: 48 | Subscriber retention: 56.7% | Revenue retention: 56.7%</a:t>
            </a:r>
          </a:p>
          <a:p>
            <a:r>
              <a:t>    &lt;- CST-V92-R10: 60 | Subscriber retention: 51.5% | Revenue retention: 51.7%</a:t>
            </a:r>
          </a:p>
          <a:p>
            <a:r>
              <a:t>[chart] FACT: </a:t>
            </a:r>
          </a:p>
          <a:p>
            <a:r>
              <a:t>    &lt;- CST-V92-R1: 0 | Subscriber retention: 97.9% | Revenue retention: 97.7%</a:t>
            </a:r>
          </a:p>
          <a:p>
            <a:r>
              <a:t>    &lt;- CST-V92-R2: 3 | Subscriber retention: 93.1% | Revenue retention: 92.2%</a:t>
            </a:r>
          </a:p>
          <a:p>
            <a:r>
              <a:t>    &lt;- CST-V92-R3: 6 | Subscriber retention: 89.0% | Revenue retention: 87.5%</a:t>
            </a:r>
          </a:p>
          <a:p>
            <a:r>
              <a:t>    &lt;- CST-V92-R4: 12 | Subscriber retention: 81.2% | Revenue retention: 79.0%</a:t>
            </a:r>
          </a:p>
          <a:p>
            <a:r>
              <a:t>    &lt;- CST-V92-R5: 18 | Subscriber retention: 74.2% | Revenue retention: 72.3%</a:t>
            </a:r>
          </a:p>
          <a:p>
            <a:r>
              <a:t>    &lt;- CST-V92-R6: 24 | Subscriber retention: 70.0% | Revenue retention: 68.6%</a:t>
            </a:r>
          </a:p>
          <a:p>
            <a:r>
              <a:t>    &lt;- CST-V92-R7: 30 | Subscriber retention: 64.0% | Revenue retention: 63.6%</a:t>
            </a:r>
          </a:p>
          <a:p>
            <a:r>
              <a:t>    &lt;- CST-V92-R8: 36 | Subscriber retention: 61.8% | Revenue retention: 61.4%</a:t>
            </a:r>
          </a:p>
          <a:p>
            <a:r>
              <a:t>    &lt;- CST-V92-R9: 48 | Subscriber retention: 56.7% | Revenue retention: 56.7%</a:t>
            </a:r>
          </a:p>
          <a:p>
            <a:r>
              <a:t>    &lt;- CST-V92-R10: 60 | Subscriber retention: 51.5% | Revenue retention: 51.7%</a:t>
            </a:r>
          </a:p>
          <a:p>
            <a:r>
              <a:t>[right[1]] FACT: The month label is the age of the book on that row.</a:t>
            </a:r>
          </a:p>
          <a:p>
            <a:r>
              <a:t>    &lt;- CST-V92-R1: 0 | Subscriber retention: 97.9% | Revenue retention: 97.7%</a:t>
            </a:r>
          </a:p>
          <a:p>
            <a:r>
              <a:t>    &lt;- CST-V92-R2: 3 | Subscriber retention: 93.1% | Revenue retention: 92.2%</a:t>
            </a:r>
          </a:p>
          <a:p>
            <a:r>
              <a:t>    &lt;- CST-V92-R3: 6 | Subscriber retention: 89.0% | Revenue retention: 87.5%</a:t>
            </a:r>
          </a:p>
          <a:p>
            <a:r>
              <a:t>    &lt;- CST-V92-R4: 12 | Subscriber retention: 81.2% | Revenue retention: 79.0%</a:t>
            </a:r>
          </a:p>
          <a:p>
            <a:r>
              <a:t>    &lt;- CST-V92-R5: 18 | Subscriber retention: 74.2% | Revenue retention: 72.3%</a:t>
            </a:r>
          </a:p>
          <a:p>
            <a:r>
              <a:t>    &lt;- CST-V92-R6: 24 | Subscriber retention: 70.0% | Revenue retention: 68.6%</a:t>
            </a:r>
          </a:p>
          <a:p>
            <a:r>
              <a:t>    &lt;- CST-V92-R7: 30 | Subscriber retention: 64.0% | Revenue retention: 63.6%</a:t>
            </a:r>
          </a:p>
          <a:p>
            <a:r>
              <a:t>    &lt;- CST-V92-R8: 36 | Subscriber retention: 61.8% | Revenue retention: 61.4%</a:t>
            </a:r>
          </a:p>
          <a:p>
            <a:r>
              <a:t>    &lt;- CST-V92-R9: 48 | Subscriber retention: 56.7% | Revenue retention: 56.7%</a:t>
            </a:r>
          </a:p>
          <a:p>
            <a:r>
              <a:t>    &lt;- CST-V92-R10: 60 | Subscriber retention: 51.5% | Revenue retention: 51.7%</a:t>
            </a:r>
          </a:p>
          <a:p>
            <a:r>
              <a:t>[right[2]] FACT: A missing month is not interpolated.</a:t>
            </a:r>
          </a:p>
          <a:p>
            <a:r>
              <a:t>    &lt;- CST-V92-R1: 0 | Subscriber retention: 97.9% | Revenue retention: 97.7%</a:t>
            </a:r>
          </a:p>
          <a:p>
            <a:r>
              <a:t>    &lt;- CST-V92-R2: 3 | Subscriber retention: 93.1% | Revenue retention: 92.2%</a:t>
            </a:r>
          </a:p>
          <a:p>
            <a:r>
              <a:t>    &lt;- CST-V92-R3: 6 | Subscriber retention: 89.0% | Revenue retention: 87.5%</a:t>
            </a:r>
          </a:p>
          <a:p>
            <a:r>
              <a:t>    &lt;- CST-V92-R4: 12 | Subscriber retention: 81.2% | Revenue retention: 79.0%</a:t>
            </a:r>
          </a:p>
          <a:p>
            <a:r>
              <a:t>    &lt;- CST-V92-R5: 18 | Subscriber retention: 74.2% | Revenue retention: 72.3%</a:t>
            </a:r>
          </a:p>
          <a:p>
            <a:r>
              <a:t>    &lt;- CST-V92-R6: 24 | Subscriber retention: 70.0% | Revenue retention: 68.6%</a:t>
            </a:r>
          </a:p>
          <a:p>
            <a:r>
              <a:t>    &lt;- CST-V92-R7: 30 | Subscriber retention: 64.0% | Revenue retention: 63.6%</a:t>
            </a:r>
          </a:p>
          <a:p>
            <a:r>
              <a:t>    &lt;- CST-V92-R8: 36 | Subscriber retention: 61.8% | Revenue retention: 61.4%</a:t>
            </a:r>
          </a:p>
          <a:p>
            <a:r>
              <a:t>    &lt;- CST-V92-R9: 48 | Subscriber retention: 56.7% | Revenue retention: 56.7%</a:t>
            </a:r>
          </a:p>
          <a:p>
            <a:r>
              <a:t>    &lt;- CST-V92-R10: 60 | Subscriber retention: 51.5% | Revenue retention: 51.7%</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S049_risk_assessment</a:t>
            </a:r>
          </a:p>
          <a:p>
            <a:r>
              <a:t>Kinds: FACT = sourced; CALC = calculated (†); VIEW = DiligenceIQ interpretation</a:t>
            </a:r>
          </a:p>
          <a:p/>
          <a:p>
            <a:r>
              <a:t>[title] INTERPRETATION: The plan at 50.17 million sits above both trading cases</a:t>
            </a:r>
          </a:p>
          <a:p>
            <a:r>
              <a:t>    &lt;- HPF-22: Year-to-date pace 15.50 million and full-year pace 24.68 million, against a plan of 50.17 million by 2030P. Municipal - DC is $3.00M in 2025, 22.6% of that work</a:t>
            </a:r>
          </a:p>
          <a:p>
            <a:r>
              <a:t>[subtitle] INTERPRETATION: Municipal - DC is 22.6% of 2025 workbook revenue.</a:t>
            </a:r>
          </a:p>
          <a:p>
            <a:r>
              <a:t>    &lt;- HPF-22: Year-to-date pace 15.50 million and full-year pace 24.68 million, against a plan of 50.17 million by 2030P. Municipal - DC is $3.00M in 2025, 22.6% of that work</a:t>
            </a:r>
          </a:p>
          <a:p>
            <a:r>
              <a:t>[left row 1] refs: HPF-22</a:t>
            </a:r>
          </a:p>
          <a:p>
            <a:r>
              <a:t>[left row 2] refs: HPF-22</a:t>
            </a:r>
          </a:p>
          <a:p>
            <a:r>
              <a:t>[right[1]] FACT: The low case uses the opening months of the latest year against the same months a year earlier.</a:t>
            </a:r>
          </a:p>
          <a:p>
            <a:r>
              <a:t>    &lt;- HPF-22: Year-to-date pace 15.50 million and full-year pace 24.68 million, against a plan of 50.17 million by 2030P. Municipal - DC is $3.00M in 2025, 22.6% of that work</a:t>
            </a:r>
          </a:p>
          <a:p>
            <a:r>
              <a:t>[right[2]] FACT: The full-year case carries the latest actual growth forward.</a:t>
            </a:r>
          </a:p>
          <a:p>
            <a:r>
              <a:t>    &lt;- HPF-22: Year-to-date pace 15.50 million and full-year pace 24.68 million, against a plan of 50.17 million by 2030P. Municipal - DC is $3.00M in 2025, 22.6% of that work</a:t>
            </a:r>
          </a:p>
          <a:p>
            <a:r>
              <a:t>[right[3]] FACT: The contract sheet's largest row keeps the workbook's own name.</a:t>
            </a:r>
          </a:p>
          <a:p>
            <a:r>
              <a:t>    &lt;- HPF-22: Year-to-date pace 15.50 million and full-year pace 24.68 million, against a plan of 50.17 million by 2030P. Municipal - DC is $3.00M in 2025, 22.6% of that work</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S100_source_register</a:t>
            </a:r>
          </a:p>
          <a:p>
            <a:r>
              <a:t>Kinds: FACT = sourced; CALC = calculated (†); VIEW = DiligenceIQ interpretation</a:t>
            </a:r>
          </a:p>
          <a:p/>
          <a:p>
            <a:r>
              <a:t>[title] INTERPRETATION: Sources the report rests on, read from the room or only cited</a:t>
            </a:r>
          </a:p>
          <a:p>
            <a:r>
              <a:t>    &lt;- SCM-21: Source file documents__CC - Depreciation Schedule as on 07_31_2026.xlsx. How used: Read.</a:t>
            </a:r>
          </a:p>
          <a:p>
            <a:r>
              <a:t>    &lt;- SCM-22: Source file documents__CC_Investor_Workbook_EXTERNAL.xlsx. How used: Read.</a:t>
            </a:r>
          </a:p>
          <a:p>
            <a:r>
              <a:t>    &lt;- SCM-23: Source file documents__Completed 2c2i Baseline Metrics Compost Crew.xlsx. How used: Read.</a:t>
            </a:r>
          </a:p>
          <a:p>
            <a:r>
              <a:t>    &lt;- SCM-24: Source file documents__Compost Crew Impact Metric -2024.xlsx. How used: Read.</a:t>
            </a:r>
          </a:p>
          <a:p>
            <a:r>
              <a:t>    &lt;- SCM-25: Source file documents__Compost Crew Monthly Financials 23YTD26.xlsx. How used: Read.</a:t>
            </a:r>
          </a:p>
          <a:p>
            <a:r>
              <a:t>    &lt;- SCM-26: Source file documents__MD_NOVA_ZIP Expansion Analysis_Final_10_22_2025.xlsx. How used: Read.</a:t>
            </a:r>
          </a:p>
          <a:p>
            <a:r>
              <a:t>    &lt;- SCM-27: Source file documents__OG Loan Schedules.xlsx. How used: Read.</a:t>
            </a:r>
          </a:p>
          <a:p>
            <a:r>
              <a:t>    &lt;- SCM-28: Source file documents__TAM_SAM_ SOM Data.xlsx. How used: Read.</a:t>
            </a:r>
          </a:p>
          <a:p>
            <a:r>
              <a:t>    &lt;- SCM-29: Source file documents__CC_CIM_JPC_FINAL_090126.pptx. How used: Read.</a:t>
            </a:r>
          </a:p>
          <a:p>
            <a:r>
              <a:t>    &lt;- SCM-30: Source file 2_2_1 Revenue by Service Line__Please see Investor Workbook.txt. How used: Cited only.</a:t>
            </a:r>
          </a:p>
          <a:p>
            <a:r>
              <a:t>    &lt;- SCM-31: Source file 2_3_1 Financial Projections__Please see Investor Workbook.txt. How used: Cited only.</a:t>
            </a:r>
          </a:p>
          <a:p>
            <a:r>
              <a:t>    &lt;- SCM-32: Source file Compost Crew Monthly Financials 23YTD26.xlsx. How used: Cited only.</a:t>
            </a:r>
          </a:p>
          <a:p>
            <a:r>
              <a:t>    &lt;- SCM-33: Source file Please see 2_1_1 Financial Statements for BS.txt. How used: Cited only.</a:t>
            </a:r>
          </a:p>
          <a:p>
            <a:r>
              <a:t>    &lt;- SCM-34: Source file Please see 2_1_1 Financial Statements for Cash Flow Statements.txt. How used: Cited only.</a:t>
            </a:r>
          </a:p>
          <a:p>
            <a:r>
              <a:t>    &lt;- SCM-35: Source file Please see 2_1_1 Financial Statements.txt. How used: Cited only.</a:t>
            </a:r>
          </a:p>
          <a:p>
            <a:r>
              <a:t>    &lt;- SCM-36: Source file TAM_SAM_ SOM Data.xlsx. How used: Cited only.</a:t>
            </a:r>
          </a:p>
          <a:p>
            <a:r>
              <a:t>    &lt;- SCM-37: Source file 2026-08-31_summary_cap_intermediate_cap_detailed_cap.xlsx. How used: Cited only.</a:t>
            </a:r>
          </a:p>
          <a:p>
            <a:r>
              <a:t>    &lt;- SCM-38: Source file 2_3_2 Assumption Supporting Projections__Please see Investor Workbook.txt. How used: Cited only.</a:t>
            </a:r>
          </a:p>
          <a:p>
            <a:r>
              <a:t>    &lt;- SCM-39: Source file 4_2_2 Equipment List__Please see CIM P46.txt. How used: Cited only.</a:t>
            </a:r>
          </a:p>
          <a:p>
            <a:r>
              <a:t>    &lt;- SCM-40: Source file CC - 12354 Parking Lease.pdf. How used: Cited only.</a:t>
            </a:r>
          </a:p>
          <a:p>
            <a:r>
              <a:t>    &lt;- SCM-41: Source file CC - Depreciation Schedule as on 07_31_2026.xlsx. How used: Cited only.</a:t>
            </a:r>
          </a:p>
          <a:p>
            <a:r>
              <a:t>    &lt;- SCM-42: Source file 2026 Commercial Sales Proposal.pptx. How used: Cited only.</a:t>
            </a:r>
          </a:p>
          <a:p>
            <a:r>
              <a:t>    &lt;- SCM-43: Source file 4280-2 Compost Crew FY25 FPEP.pdf. How used: Cited only.</a:t>
            </a:r>
          </a:p>
          <a:p>
            <a:r>
              <a:t>    &lt;- SCM-44: Source file CC_Investor_Workbook_EXTERNAL.xlsx. How used: Cited only.</a:t>
            </a:r>
          </a:p>
          <a:p>
            <a:r>
              <a:t>[subtitle] INTERPRETATION: Read means the workbook was extracted. Cited only means a module named the file.</a:t>
            </a:r>
          </a:p>
          <a:p>
            <a:r>
              <a:t>    &lt;- SCM-21: Source file documents__CC - Depreciation Schedule as on 07_31_2026.xlsx. How used: Read.</a:t>
            </a:r>
          </a:p>
          <a:p>
            <a:r>
              <a:t>    &lt;- SCM-22: Source file documents__CC_Investor_Workbook_EXTERNAL.xlsx. How used: Read.</a:t>
            </a:r>
          </a:p>
          <a:p>
            <a:r>
              <a:t>    &lt;- SCM-23: Source file documents__Completed 2c2i Baseline Metrics Compost Crew.xlsx. How used: Read.</a:t>
            </a:r>
          </a:p>
          <a:p>
            <a:r>
              <a:t>    &lt;- SCM-24: Source file documents__Compost Crew Impact Metric -2024.xlsx. How used: Read.</a:t>
            </a:r>
          </a:p>
          <a:p>
            <a:r>
              <a:t>    &lt;- SCM-25: Source file documents__Compost Crew Monthly Financials 23YTD26.xlsx. How used: Read.</a:t>
            </a:r>
          </a:p>
          <a:p>
            <a:r>
              <a:t>    &lt;- SCM-26: Source file documents__MD_NOVA_ZIP Expansion Analysis_Final_10_22_2025.xlsx. How used: Read.</a:t>
            </a:r>
          </a:p>
          <a:p>
            <a:r>
              <a:t>    &lt;- SCM-27: Source file documents__OG Loan Schedules.xlsx. How used: Read.</a:t>
            </a:r>
          </a:p>
          <a:p>
            <a:r>
              <a:t>    &lt;- SCM-28: Source file documents__TAM_SAM_ SOM Data.xlsx. How used: Read.</a:t>
            </a:r>
          </a:p>
          <a:p>
            <a:r>
              <a:t>    &lt;- SCM-29: Source file documents__CC_CIM_JPC_FINAL_090126.pptx. How used: Read.</a:t>
            </a:r>
          </a:p>
          <a:p>
            <a:r>
              <a:t>    &lt;- SCM-30: Source file 2_2_1 Revenue by Service Line__Please see Investor Workbook.txt. How used: Cited only.</a:t>
            </a:r>
          </a:p>
          <a:p>
            <a:r>
              <a:t>    &lt;- SCM-31: Source file 2_3_1 Financial Projections__Please see Investor Workbook.txt. How used: Cited only.</a:t>
            </a:r>
          </a:p>
          <a:p>
            <a:r>
              <a:t>    &lt;- SCM-32: Source file Compost Crew Monthly Financials 23YTD26.xlsx. How used: Cited only.</a:t>
            </a:r>
          </a:p>
          <a:p>
            <a:r>
              <a:t>    &lt;- SCM-33: Source file Please see 2_1_1 Financial Statements for BS.txt. How used: Cited only.</a:t>
            </a:r>
          </a:p>
          <a:p>
            <a:r>
              <a:t>    &lt;- SCM-34: Source file Please see 2_1_1 Financial Statements for Cash Flow Statements.txt. How used: Cited only.</a:t>
            </a:r>
          </a:p>
          <a:p>
            <a:r>
              <a:t>    &lt;- SCM-35: Source file Please see 2_1_1 Financial Statements.txt. How used: Cited only.</a:t>
            </a:r>
          </a:p>
          <a:p>
            <a:r>
              <a:t>    &lt;- SCM-36: Source file TAM_SAM_ SOM Data.xlsx. How used: Cited only.</a:t>
            </a:r>
          </a:p>
          <a:p>
            <a:r>
              <a:t>    &lt;- SCM-37: Source file 2026-08-31_summary_cap_intermediate_cap_detailed_cap.xlsx. How used: Cited only.</a:t>
            </a:r>
          </a:p>
          <a:p>
            <a:r>
              <a:t>    &lt;- SCM-38: Source file 2_3_2 Assumption Supporting Projections__Please see Investor Workbook.txt. How used: Cited only.</a:t>
            </a:r>
          </a:p>
          <a:p>
            <a:r>
              <a:t>    &lt;- SCM-39: Source file 4_2_2 Equipment List__Please see CIM P46.txt. How used: Cited only.</a:t>
            </a:r>
          </a:p>
          <a:p>
            <a:r>
              <a:t>    &lt;- SCM-40: Source file CC - 12354 Parking Lease.pdf. How used: Cited only.</a:t>
            </a:r>
          </a:p>
          <a:p>
            <a:r>
              <a:t>    &lt;- SCM-41: Source file CC - Depreciation Schedule as on 07_31_2026.xlsx. How used: Cited only.</a:t>
            </a:r>
          </a:p>
          <a:p>
            <a:r>
              <a:t>    &lt;- SCM-42: Source file 2026 Commercial Sales Proposal.pptx. How used: Cited only.</a:t>
            </a:r>
          </a:p>
          <a:p>
            <a:r>
              <a:t>    &lt;- SCM-43: Source file 4280-2 Compost Crew FY25 FPEP.pdf. How used: Cited only.</a:t>
            </a:r>
          </a:p>
          <a:p>
            <a:r>
              <a:t>    &lt;- SCM-44: Source file CC_Investor_Workbook_EXTERNAL.xlsx. How used: Cited only.</a:t>
            </a:r>
          </a:p>
          <a:p>
            <a:r>
              <a:t>[table row 1] refs: SCM-37</a:t>
            </a:r>
          </a:p>
          <a:p>
            <a:r>
              <a:t>[table row 2] refs: SCM-38</a:t>
            </a:r>
          </a:p>
          <a:p>
            <a:r>
              <a:t>[table row 3] refs: SCM-39</a:t>
            </a:r>
          </a:p>
          <a:p>
            <a:r>
              <a:t>[table row 4] refs: SCM-40</a:t>
            </a:r>
          </a:p>
          <a:p>
            <a:r>
              <a:t>[table row 5] refs: SCM-41</a:t>
            </a:r>
          </a:p>
          <a:p>
            <a:r>
              <a:t>[table row 6] refs: SCM-42</a:t>
            </a:r>
          </a:p>
          <a:p>
            <a:r>
              <a:t>[table row 7] refs: SCM-43</a:t>
            </a:r>
          </a:p>
          <a:p>
            <a:r>
              <a:t>[table row 8] refs: SCM-44</a:t>
            </a:r>
          </a:p>
          <a:p>
            <a:r>
              <a:t>[takeaway] FACT: Read means the workbook was extracted into the evidence register. Cited only means the file was named by a module and was not read as a work</a:t>
            </a:r>
          </a:p>
          <a:p>
            <a:r>
              <a:t>    &lt;- SCM-21: Source file documents__CC - Depreciation Schedule as on 07_31_2026.xlsx. How used: Read.</a:t>
            </a:r>
          </a:p>
          <a:p>
            <a:r>
              <a:t>    &lt;- SCM-22: Source file documents__CC_Investor_Workbook_EXTERNAL.xlsx. How used: Read.</a:t>
            </a:r>
          </a:p>
          <a:p>
            <a:r>
              <a:t>    &lt;- SCM-23: Source file documents__Completed 2c2i Baseline Metrics Compost Crew.xlsx. How used: Read.</a:t>
            </a:r>
          </a:p>
          <a:p>
            <a:r>
              <a:t>    &lt;- SCM-24: Source file documents__Compost Crew Impact Metric -2024.xlsx. How used: Read.</a:t>
            </a:r>
          </a:p>
          <a:p>
            <a:r>
              <a:t>    &lt;- SCM-25: Source file documents__Compost Crew Monthly Financials 23YTD26.xlsx. How used: Read.</a:t>
            </a:r>
          </a:p>
          <a:p>
            <a:r>
              <a:t>    &lt;- SCM-26: Source file documents__MD_NOVA_ZIP Expansion Analysis_Final_10_22_2025.xlsx. How used: Read.</a:t>
            </a:r>
          </a:p>
          <a:p>
            <a:r>
              <a:t>    &lt;- SCM-27: Source file documents__OG Loan Schedules.xlsx. How used: Read.</a:t>
            </a:r>
          </a:p>
          <a:p>
            <a:r>
              <a:t>    &lt;- SCM-28: Source file documents__TAM_SAM_ SOM Data.xlsx. How used: Read.</a:t>
            </a:r>
          </a:p>
          <a:p>
            <a:r>
              <a:t>    &lt;- SCM-29: Source file documents__CC_CIM_JPC_FINAL_090126.pptx. How used: Read.</a:t>
            </a:r>
          </a:p>
          <a:p>
            <a:r>
              <a:t>    &lt;- SCM-30: Source file 2_2_1 Revenue by Service Line__Please see Investor Workbook.txt. How used: Cited only.</a:t>
            </a:r>
          </a:p>
          <a:p>
            <a:r>
              <a:t>    &lt;- SCM-31: Source file 2_3_1 Financial Projections__Please see Investor Workbook.txt. How used: Cited only.</a:t>
            </a:r>
          </a:p>
          <a:p>
            <a:r>
              <a:t>    &lt;- SCM-32: Source file Compost Crew Monthly Financials 23YTD26.xlsx. How used: Cited only.</a:t>
            </a:r>
          </a:p>
          <a:p>
            <a:r>
              <a:t>    &lt;- SCM-33: Source file Please see 2_1_1 Financial Statements for BS.txt. How used: Cited only.</a:t>
            </a:r>
          </a:p>
          <a:p>
            <a:r>
              <a:t>    &lt;- SCM-34: Source file Please see 2_1_1 Financial Statements for Cash Flow Statements.txt. How used: Cited only.</a:t>
            </a:r>
          </a:p>
          <a:p>
            <a:r>
              <a:t>    &lt;- SCM-35: Source file Please see 2_1_1 Financial Statements.txt. How used: Cited only.</a:t>
            </a:r>
          </a:p>
          <a:p>
            <a:r>
              <a:t>    &lt;- SCM-36: Source file TAM_SAM_ SOM Data.xlsx. How used: Cited only.</a:t>
            </a:r>
          </a:p>
          <a:p>
            <a:r>
              <a:t>    &lt;- SCM-37: Source file 2026-08-31_summary_cap_intermediate_cap_detailed_cap.xlsx. How used: Cited only.</a:t>
            </a:r>
          </a:p>
          <a:p>
            <a:r>
              <a:t>    &lt;- SCM-38: Source file 2_3_2 Assumption Supporting Projections__Please see Investor Workbook.txt. How used: Cited only.</a:t>
            </a:r>
          </a:p>
          <a:p>
            <a:r>
              <a:t>    &lt;- SCM-39: Source file 4_2_2 Equipment List__Please see CIM P46.txt. How used: Cited only.</a:t>
            </a:r>
          </a:p>
          <a:p>
            <a:r>
              <a:t>    &lt;- SCM-40: Source file CC - 12354 Parking Lease.pdf. How used: Cited only.</a:t>
            </a:r>
          </a:p>
          <a:p>
            <a:r>
              <a:t>    &lt;- SCM-41: Source file CC - Depreciation Schedule as on 07_31_2026.xlsx. How used: Cited only.</a:t>
            </a:r>
          </a:p>
          <a:p>
            <a:r>
              <a:t>    &lt;- SCM-42: Source file 2026 Commercial Sales Proposal.pptx. How used: Cited only.</a:t>
            </a:r>
          </a:p>
          <a:p>
            <a:r>
              <a:t>    &lt;- SCM-43: Source file 4280-2 Compost Crew FY25 FPEP.pdf. How used: Cited only.</a:t>
            </a:r>
          </a:p>
          <a:p>
            <a:r>
              <a:t>    &lt;- SCM-44: Source file CC_Investor_Workbook_EXTERNAL.xlsx. How used: Cited only.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S101_exceptions</a:t>
            </a:r>
          </a:p>
          <a:p>
            <a:r>
              <a:t>Kinds: FACT = sourced; CALC = calculated (†); VIEW = DiligenceIQ interpretation</a:t>
            </a:r>
          </a:p>
          <a:p/>
          <a:p>
            <a:r>
              <a:t>[title] INTERPRETATION: What this report could not establish</a:t>
            </a:r>
          </a:p>
          <a:p>
            <a:r>
              <a:t>    &lt;- SCM-45: Exception HIGH. Rule E1-NOT-PROVIDED. Slide S099. 26 modules are marked blocked. Findings from a blocked module are not relied on.</a:t>
            </a:r>
          </a:p>
          <a:p>
            <a:r>
              <a:t>    &lt;- SCM-46: Exception HIGH. Rule E3-CONFLICT. Slide S020. 2025 accounts $13.41M, workbook $13.28M, CIM $13.3mn. The accounts figure is the one used on the results pages. Th</a:t>
            </a:r>
          </a:p>
          <a:p>
            <a:r>
              <a:t>    &lt;- SCM-47: Exception HIGH. Rule E3-CONFLICT. Slide S013. Gross retention 90.9% on the model basis and 87.3% on the cohort basis. The results pages use the actual cohort ba</a:t>
            </a:r>
          </a:p>
          <a:p>
            <a:r>
              <a:t>    &lt;- SCM-48: Exception MEDIUM. Rule E1-NOT-PROVIDED. Slide S046. Plan years are in the file and are not results. They carry a P suffix and stay off the actuals chart.</a:t>
            </a:r>
          </a:p>
          <a:p>
            <a:r>
              <a:t>    &lt;- SCM-49: Exception MEDIUM. Rule E11-NO-PRIMARY. Slide S065. No customer survey or interviews were loaded. NPS and quote pages stay withheld.</a:t>
            </a:r>
          </a:p>
          <a:p>
            <a:r>
              <a:t>    &lt;- SCM-50: Exception MEDIUM. Rule E1-NOT-PROVIDED. Slide S062. The competitor comparison is a self-assessment. Shown once, and not as customer evidence.</a:t>
            </a:r>
          </a:p>
          <a:p>
            <a:r>
              <a:t>    &lt;- SCM-51: Exception MEDIUM. Rule E1-NOT-PROVIDED. Slide S075. Quotas have no rep-level bookings behind them. They are shown as the plan stated them.</a:t>
            </a:r>
          </a:p>
          <a:p>
            <a:r>
              <a:t>    &lt;- SCM-52: Exception MEDIUM. Rule E1-NOT-PROVIDED. Slide S081. ZIP scores have no revenue attached. They are not converted into a market figure.</a:t>
            </a:r>
          </a:p>
          <a:p>
            <a:r>
              <a:t>    &lt;- SCM-53: Exception MEDIUM. Rule E11-NO-PRIMARY. Slide S006. 23 pages need a survey or interview file No survey or interview file was loaded.</a:t>
            </a:r>
          </a:p>
          <a:p>
            <a:r>
              <a:t>    &lt;- SCM-54: Exception MEDIUM. Rule E1-NOT-PROVIDED. Slide S012. 28 pages have nothing further in the loaded record Not in the loaded record.</a:t>
            </a:r>
          </a:p>
          <a:p>
            <a:r>
              <a:t>[subtitle] INTERPRETATION: Each row is a gap in the record. A withheld template page is not, by itself, a finding.</a:t>
            </a:r>
          </a:p>
          <a:p>
            <a:r>
              <a:t>    &lt;- SCM-45: Exception HIGH. Rule E1-NOT-PROVIDED. Slide S099. 26 modules are marked blocked. Findings from a blocked module are not relied on.</a:t>
            </a:r>
          </a:p>
          <a:p>
            <a:r>
              <a:t>    &lt;- SCM-46: Exception HIGH. Rule E3-CONFLICT. Slide S020. 2025 accounts $13.41M, workbook $13.28M, CIM $13.3mn. The accounts figure is the one used on the results pages. Th</a:t>
            </a:r>
          </a:p>
          <a:p>
            <a:r>
              <a:t>    &lt;- SCM-47: Exception HIGH. Rule E3-CONFLICT. Slide S013. Gross retention 90.9% on the model basis and 87.3% on the cohort basis. The results pages use the actual cohort ba</a:t>
            </a:r>
          </a:p>
          <a:p>
            <a:r>
              <a:t>    &lt;- SCM-48: Exception MEDIUM. Rule E1-NOT-PROVIDED. Slide S046. Plan years are in the file and are not results. They carry a P suffix and stay off the actuals chart.</a:t>
            </a:r>
          </a:p>
          <a:p>
            <a:r>
              <a:t>    &lt;- SCM-49: Exception MEDIUM. Rule E11-NO-PRIMARY. Slide S065. No customer survey or interviews were loaded. NPS and quote pages stay withheld.</a:t>
            </a:r>
          </a:p>
          <a:p>
            <a:r>
              <a:t>    &lt;- SCM-50: Exception MEDIUM. Rule E1-NOT-PROVIDED. Slide S062. The competitor comparison is a self-assessment. Shown once, and not as customer evidence.</a:t>
            </a:r>
          </a:p>
          <a:p>
            <a:r>
              <a:t>    &lt;- SCM-51: Exception MEDIUM. Rule E1-NOT-PROVIDED. Slide S075. Quotas have no rep-level bookings behind them. They are shown as the plan stated them.</a:t>
            </a:r>
          </a:p>
          <a:p>
            <a:r>
              <a:t>    &lt;- SCM-52: Exception MEDIUM. Rule E1-NOT-PROVIDED. Slide S081. ZIP scores have no revenue attached. They are not converted into a market figure.</a:t>
            </a:r>
          </a:p>
          <a:p>
            <a:r>
              <a:t>    &lt;- SCM-53: Exception MEDIUM. Rule E11-NO-PRIMARY. Slide S006. 23 pages need a survey or interview file No survey or interview file was loaded.</a:t>
            </a:r>
          </a:p>
          <a:p>
            <a:r>
              <a:t>    &lt;- SCM-54: Exception MEDIUM. Rule E1-NOT-PROVIDED. Slide S012. 28 pages have nothing further in the loaded record Not in the loaded record.</a:t>
            </a:r>
          </a:p>
          <a:p>
            <a:r>
              <a:t>[table row 1] refs: SCM-45, SCM-46, SCM-47, SCM-48, SCM-49, SCM-50, SCM-51, SCM-52, SCM-53, SCM-54</a:t>
            </a:r>
          </a:p>
          <a:p>
            <a:r>
              <a:t>[table row 2] refs: SCM-45, SCM-46, SCM-47, SCM-48, SCM-49, SCM-50, SCM-51, SCM-52, SCM-53, SCM-54</a:t>
            </a:r>
          </a:p>
          <a:p>
            <a:r>
              <a:t>[takeaway] FACT: The adjusted verdicts and the source register are the other half of this audit.</a:t>
            </a:r>
          </a:p>
          <a:p>
            <a:r>
              <a:t>    &lt;- SCM-45: Exception HIGH. Rule E1-NOT-PROVIDED. Slide S099. 26 modules are marked blocked. Findings from a blocked module are not relied on.</a:t>
            </a:r>
          </a:p>
          <a:p>
            <a:r>
              <a:t>    &lt;- SCM-46: Exception HIGH. Rule E3-CONFLICT. Slide S020. 2025 accounts $13.41M, workbook $13.28M, CIM $13.3mn. The accounts figure is the one used on the results pages. Th</a:t>
            </a:r>
          </a:p>
          <a:p>
            <a:r>
              <a:t>    &lt;- SCM-47: Exception HIGH. Rule E3-CONFLICT. Slide S013. Gross retention 90.9% on the model basis and 87.3% on the cohort basis. The results pages use the actual cohort ba</a:t>
            </a:r>
          </a:p>
          <a:p>
            <a:r>
              <a:t>    &lt;- SCM-48: Exception MEDIUM. Rule E1-NOT-PROVIDED. Slide S046. Plan years are in the file and are not results. They carry a P suffix and stay off the actuals chart.</a:t>
            </a:r>
          </a:p>
          <a:p>
            <a:r>
              <a:t>    &lt;- SCM-49: Exception MEDIUM. Rule E11-NO-PRIMARY. Slide S065. No customer survey or interviews were loaded. NPS and quote pages stay withheld.</a:t>
            </a:r>
          </a:p>
          <a:p>
            <a:r>
              <a:t>    &lt;- SCM-50: Exception MEDIUM. Rule E1-NOT-PROVIDED. Slide S062. The competitor comparison is a self-assessment. Shown once, and not as customer evidence.</a:t>
            </a:r>
          </a:p>
          <a:p>
            <a:r>
              <a:t>    &lt;- SCM-51: Exception MEDIUM. Rule E1-NOT-PROVIDED. Slide S075. Quotas have no rep-level bookings behind them. They are shown as the plan stated them.</a:t>
            </a:r>
          </a:p>
          <a:p>
            <a:r>
              <a:t>    &lt;- SCM-52: Exception MEDIUM. Rule E1-NOT-PROVIDED. Slide S081. ZIP scores have no revenue attached. They are not converted into a market figure.</a:t>
            </a:r>
          </a:p>
          <a:p>
            <a:r>
              <a:t>    &lt;- SCM-53: Exception MEDIUM. Rule E11-NO-PRIMARY. Slide S006. 23 pages need a survey or interview file No survey or interview file was loaded.</a:t>
            </a:r>
          </a:p>
          <a:p>
            <a:r>
              <a:t>    &lt;- SCM-54: Exception MEDIUM. Rule E1-NOT-PROVIDED. Slide S012. 28 pages have nothing further in the loaded record Not in the loaded record.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S058_div_competition   (blueprint slide 58 - Competitive Landscape)</a:t>
            </a:r>
          </a:p>
          <a:p>
            <a:r>
              <a:t>WORKING TITLE   Section Divider — Competitive Landscape</a:t>
            </a:r>
          </a:p>
          <a:p>
            <a:r>
              <a:t>PURPOSE         Re-show the findings divider with this chapter highlighted.</a:t>
            </a:r>
          </a:p>
          <a:p/>
          <a:p>
            <a:r>
              <a:t>WHAT THIS SLIDE MUST CONTAIN</a:t>
            </a:r>
          </a:p>
          <a:p>
            <a:r>
              <a:t>  - Four-chapter list with Competitive Landscape highlighted as current.</a:t>
            </a:r>
          </a:p>
          <a:p>
            <a:r>
              <a:t>  - Standard divider branding.</a:t>
            </a:r>
          </a:p>
          <a:p/>
          <a:p>
            <a:r>
              <a:t>SOURCES         Deck template.</a:t>
            </a:r>
          </a:p>
          <a:p>
            <a:r>
              <a:t>ANALYSIS        None.</a:t>
            </a:r>
          </a:p>
          <a:p>
            <a:r>
              <a:t>EXHIBIT         Branded divider with chapter list, current chapter emphasised.  (form: divider)</a:t>
            </a:r>
          </a:p>
          <a:p>
            <a:r>
              <a:t>QUALITY BAR     Highlight state matches the reader's position in the deck.</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S062_criteria_vs_archetypes</a:t>
            </a:r>
          </a:p>
          <a:p>
            <a:r>
              <a:t>Kinds: FACT = sourced; CALC = calculated (†); VIEW = DiligenceIQ interpretation</a:t>
            </a:r>
          </a:p>
          <a:p/>
          <a:p>
            <a:r>
              <a:t>[title] INTERPRETATION: Management's comparison of Compost Crew with the alternatives it named</a:t>
            </a:r>
          </a:p>
          <a:p>
            <a:r>
              <a:t>    &lt;- CID-6: Criterion Composting is the core business: Target Yes, Major Waste Companies No, Other Local Composters Yes, Brokers No, Technology Providers No</a:t>
            </a:r>
          </a:p>
          <a:p>
            <a:r>
              <a:t>    &lt;- CID-7: Criterion Innovation in collection &amp; processing: Target Yes, Major Waste Companies No, Other Local Composters No, Brokers Yes, Technology Providers Yes</a:t>
            </a:r>
          </a:p>
          <a:p>
            <a:r>
              <a:t>    &lt;- CID-8: Criterion Flexible, locally tailored service: Target Yes, Major Waste Companies No, Other Local Composters Yes, Brokers Yes, Technology Providers —</a:t>
            </a:r>
          </a:p>
          <a:p>
            <a:r>
              <a:t>    &lt;- CID-9: Criterion Technology-enabled operations: Target Yes, Major Waste Companies Yes, Other Local Composters No, Brokers Yes, Technology Providers Yes</a:t>
            </a:r>
          </a:p>
          <a:p>
            <a:r>
              <a:t>    &lt;- CID-10: Criterion Vertically integrated model: Target Yes, Major Waste Companies Yes, Other Local Composters No, Brokers No, Technology Providers No</a:t>
            </a:r>
          </a:p>
          <a:p>
            <a:r>
              <a:t>    &lt;- CID-11: Criterion Clear regional growth strategy: Target Yes, Major Waste Companies Yes, Other Local Composters Yes, Brokers No, Technology Providers Yes</a:t>
            </a:r>
          </a:p>
          <a:p>
            <a:r>
              <a:t>    &lt;- CID-12: Criterion Trained program managers: Target Yes, Major Waste Companies No, Other Local Composters No, Brokers No, Technology Providers No</a:t>
            </a:r>
          </a:p>
          <a:p>
            <a:r>
              <a:t>    &lt;- CID-13: Criterion Financial strength &amp; scalability: Target Yes, Major Waste Companies Yes, Other Local Composters No, Brokers No, Technology Providers Yes</a:t>
            </a:r>
          </a:p>
          <a:p>
            <a:r>
              <a:t>    &lt;- CBG-13: Pictures on the CIM competitive page are described as Republic Services, Waste Management, Monster Organics, and Leafgro.</a:t>
            </a:r>
          </a:p>
          <a:p>
            <a:r>
              <a:t>[subtitle] INTERPRETATION: Shown once, as a self-assessment. Yes and no are the marks on the record.</a:t>
            </a:r>
          </a:p>
          <a:p>
            <a:r>
              <a:t>    &lt;- CID-6: Criterion Composting is the core business: Target Yes, Major Waste Companies No, Other Local Composters Yes, Brokers No, Technology Providers No</a:t>
            </a:r>
          </a:p>
          <a:p>
            <a:r>
              <a:t>    &lt;- CID-7: Criterion Innovation in collection &amp; processing: Target Yes, Major Waste Companies No, Other Local Composters No, Brokers Yes, Technology Providers Yes</a:t>
            </a:r>
          </a:p>
          <a:p>
            <a:r>
              <a:t>    &lt;- CID-8: Criterion Flexible, locally tailored service: Target Yes, Major Waste Companies No, Other Local Composters Yes, Brokers Yes, Technology Providers —</a:t>
            </a:r>
          </a:p>
          <a:p>
            <a:r>
              <a:t>    &lt;- CID-9: Criterion Technology-enabled operations: Target Yes, Major Waste Companies Yes, Other Local Composters No, Brokers Yes, Technology Providers Yes</a:t>
            </a:r>
          </a:p>
          <a:p>
            <a:r>
              <a:t>    &lt;- CID-10: Criterion Vertically integrated model: Target Yes, Major Waste Companies Yes, Other Local Composters No, Brokers No, Technology Providers No</a:t>
            </a:r>
          </a:p>
          <a:p>
            <a:r>
              <a:t>    &lt;- CID-11: Criterion Clear regional growth strategy: Target Yes, Major Waste Companies Yes, Other Local Composters Yes, Brokers No, Technology Providers Yes</a:t>
            </a:r>
          </a:p>
          <a:p>
            <a:r>
              <a:t>    &lt;- CID-12: Criterion Trained program managers: Target Yes, Major Waste Companies No, Other Local Composters No, Brokers No, Technology Providers No</a:t>
            </a:r>
          </a:p>
          <a:p>
            <a:r>
              <a:t>    &lt;- CID-13: Criterion Financial strength &amp; scalability: Target Yes, Major Waste Companies Yes, Other Local Composters No, Brokers No, Technology Providers Yes</a:t>
            </a:r>
          </a:p>
          <a:p>
            <a:r>
              <a:t>    &lt;- CBG-13: Pictures on the CIM competitive page are described as Republic Services, Waste Management, Monster Organics, and Leafgro.</a:t>
            </a:r>
          </a:p>
          <a:p>
            <a:r>
              <a:t>[table row 1] refs: CID-6, CID-7, CID-8, CID-9, CID-10, CID-11, CID-12, CID-13, CBG-13</a:t>
            </a:r>
          </a:p>
          <a:p>
            <a:r>
              <a:t>[table row 2] refs: CID-6, CID-7, CID-8, CID-9, CID-10, CID-11, CID-12, CID-13, CBG-13</a:t>
            </a:r>
          </a:p>
          <a:p>
            <a:r>
              <a:t>[table row 3] refs: CID-6, CID-7, CID-8, CID-9, CID-10, CID-11, CID-12, CID-13, CBG-13</a:t>
            </a:r>
          </a:p>
          <a:p>
            <a:r>
              <a:t>[table row 4] refs: CID-6, CID-7, CID-8, CID-9, CID-10, CID-11, CID-12, CID-13, CBG-13</a:t>
            </a:r>
          </a:p>
          <a:p>
            <a:r>
              <a:t>[table row 5] refs: CID-6, CID-7, CID-8, CID-9, CID-10, CID-11, CID-12, CID-13, CBG-13</a:t>
            </a:r>
          </a:p>
          <a:p>
            <a:r>
              <a:t>[table row 6] refs: CID-6, CID-7, CID-8, CID-9, CID-10, CID-11, CID-12, CID-13, CBG-13</a:t>
            </a:r>
          </a:p>
          <a:p>
            <a:r>
              <a:t>[table row 7] refs: CID-6, CID-7, CID-8, CID-9, CID-10, CID-11, CID-12, CID-13, CBG-13</a:t>
            </a:r>
          </a:p>
          <a:p>
            <a:r>
              <a:t>[table row 8] refs: CID-6, CID-7, CID-8, CID-9, CID-10, CID-11, CID-12, CID-13, CBG-13</a:t>
            </a:r>
          </a:p>
          <a:p>
            <a:r>
              <a:t>[takeaway] FACT: The CIM also scores Soil Manufacturers. That column is not on this page. The table does not name local operating companies. Pictures on that</a:t>
            </a:r>
          </a:p>
          <a:p>
            <a:r>
              <a:t>    &lt;- CID-6: Criterion Composting is the core business: Target Yes, Major Waste Companies No, Other Local Composters Yes, Brokers No, Technology Providers No</a:t>
            </a:r>
          </a:p>
          <a:p>
            <a:r>
              <a:t>    &lt;- CID-7: Criterion Innovation in collection &amp; processing: Target Yes, Major Waste Companies No, Other Local Composters No, Brokers Yes, Technology Providers Yes</a:t>
            </a:r>
          </a:p>
          <a:p>
            <a:r>
              <a:t>    &lt;- CID-8: Criterion Flexible, locally tailored service: Target Yes, Major Waste Companies No, Other Local Composters Yes, Brokers Yes, Technology Providers —</a:t>
            </a:r>
          </a:p>
          <a:p>
            <a:r>
              <a:t>    &lt;- CID-9: Criterion Technology-enabled operations: Target Yes, Major Waste Companies Yes, Other Local Composters No, Brokers Yes, Technology Providers Yes</a:t>
            </a:r>
          </a:p>
          <a:p>
            <a:r>
              <a:t>    &lt;- CID-10: Criterion Vertically integrated model: Target Yes, Major Waste Companies Yes, Other Local Composters No, Brokers No, Technology Providers No</a:t>
            </a:r>
          </a:p>
          <a:p>
            <a:r>
              <a:t>    &lt;- CID-11: Criterion Clear regional growth strategy: Target Yes, Major Waste Companies Yes, Other Local Composters Yes, Brokers No, Technology Providers Yes</a:t>
            </a:r>
          </a:p>
          <a:p>
            <a:r>
              <a:t>    &lt;- CID-12: Criterion Trained program managers: Target Yes, Major Waste Companies No, Other Local Composters No, Brokers No, Technology Providers No</a:t>
            </a:r>
          </a:p>
          <a:p>
            <a:r>
              <a:t>    &lt;- CID-13: Criterion Financial strength &amp; scalability: Target Yes, Major Waste Companies Yes, Other Local Composters No, Brokers No, Technology Providers Yes</a:t>
            </a:r>
          </a:p>
          <a:p>
            <a:r>
              <a:t>    &lt;- CBG-13: Pictures on the CIM competitive page are described as Republic Services, Waste Management, Monster Organics, and Leafgro.</a:t>
            </a:r>
          </a:p>
          <a:p/>
          <a:p>
            <a:r>
              <a:t>EXCEPTIONS AFFECTING THIS SLIDE</a:t>
            </a:r>
          </a:p>
          <a:p>
            <a:r>
              <a:t>[MEDIUM] The competitor comparison is a self-assessment. -&gt; Shown once, and not as customer evidence.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S068_churn_triggers</a:t>
            </a:r>
          </a:p>
          <a:p>
            <a:r>
              <a:t>Kinds: FACT = sourced; CALC = calculated (†); VIEW = DiligenceIQ interpretation</a:t>
            </a:r>
          </a:p>
          <a:p/>
          <a:p>
            <a:r>
              <a:t>[title] INTERPRETATION: On Commercial Summary, NRR is 106.6% and GRR is 87.3%, a spread of +19.3 points</a:t>
            </a:r>
          </a:p>
          <a:p>
            <a:r>
              <a:t>    &lt;- CST-6: GRR 2022 (actual): 98.1%</a:t>
            </a:r>
          </a:p>
          <a:p>
            <a:r>
              <a:t>    &lt;- CST-7: GRR 2023 (actual): 85.6%</a:t>
            </a:r>
          </a:p>
          <a:p>
            <a:r>
              <a:t>    &lt;- CST-8: GRR 2024 (actual): 79.8%</a:t>
            </a:r>
          </a:p>
          <a:p>
            <a:r>
              <a:t>    &lt;- CST-9: GRR 2025 (actual): 87.3%</a:t>
            </a:r>
          </a:p>
          <a:p>
            <a:r>
              <a:t>    &lt;- CST-10: NRR 2022 (actual): 196.0%</a:t>
            </a:r>
          </a:p>
          <a:p>
            <a:r>
              <a:t>    &lt;- CST-11: NRR 2023 (actual): 124.5%</a:t>
            </a:r>
          </a:p>
          <a:p>
            <a:r>
              <a:t>    &lt;- CST-12: NRR 2024 (actual): 102.4%</a:t>
            </a:r>
          </a:p>
          <a:p>
            <a:r>
              <a:t>    &lt;- CST-13: NRR 2025 (actual): 106.6%</a:t>
            </a:r>
          </a:p>
          <a:p>
            <a:r>
              <a:t>[subtitle] INTERPRETATION: The spread is NRR minus GRR for this one population. It is not a churn survey.</a:t>
            </a:r>
          </a:p>
          <a:p>
            <a:r>
              <a:t>    &lt;- CST-6: GRR 2022 (actual): 98.1%</a:t>
            </a:r>
          </a:p>
          <a:p>
            <a:r>
              <a:t>    &lt;- CST-7: GRR 2023 (actual): 85.6%</a:t>
            </a:r>
          </a:p>
          <a:p>
            <a:r>
              <a:t>    &lt;- CST-8: GRR 2024 (actual): 79.8%</a:t>
            </a:r>
          </a:p>
          <a:p>
            <a:r>
              <a:t>    &lt;- CST-9: GRR 2025 (actual): 87.3%</a:t>
            </a:r>
          </a:p>
          <a:p>
            <a:r>
              <a:t>    &lt;- CST-10: NRR 2022 (actual): 196.0%</a:t>
            </a:r>
          </a:p>
          <a:p>
            <a:r>
              <a:t>    &lt;- CST-11: NRR 2023 (actual): 124.5%</a:t>
            </a:r>
          </a:p>
          <a:p>
            <a:r>
              <a:t>    &lt;- CST-12: NRR 2024 (actual): 102.4%</a:t>
            </a:r>
          </a:p>
          <a:p>
            <a:r>
              <a:t>    &lt;- CST-13: NRR 2025 (actual): 106.6%</a:t>
            </a:r>
          </a:p>
          <a:p>
            <a:r>
              <a:t>[left row 1] refs: CST-6, CST-7, CST-8, CST-9, CST-10, CST-11, CST-12, CST-13</a:t>
            </a:r>
          </a:p>
          <a:p>
            <a:r>
              <a:t>[right[1]] FACT: GRR 87.3% and NRR 106.6% are the module's figures.</a:t>
            </a:r>
          </a:p>
          <a:p>
            <a:r>
              <a:t>    &lt;- CST-6: GRR 2022 (actual): 98.1%</a:t>
            </a:r>
          </a:p>
          <a:p>
            <a:r>
              <a:t>    &lt;- CST-7: GRR 2023 (actual): 85.6%</a:t>
            </a:r>
          </a:p>
          <a:p>
            <a:r>
              <a:t>    &lt;- CST-8: GRR 2024 (actual): 79.8%</a:t>
            </a:r>
          </a:p>
          <a:p>
            <a:r>
              <a:t>    &lt;- CST-9: GRR 2025 (actual): 87.3%</a:t>
            </a:r>
          </a:p>
          <a:p>
            <a:r>
              <a:t>    &lt;- CST-10: NRR 2022 (actual): 196.0%</a:t>
            </a:r>
          </a:p>
          <a:p>
            <a:r>
              <a:t>    &lt;- CST-11: NRR 2023 (actual): 124.5%</a:t>
            </a:r>
          </a:p>
          <a:p>
            <a:r>
              <a:t>    &lt;- CST-12: NRR 2024 (actual): 102.4%</a:t>
            </a:r>
          </a:p>
          <a:p>
            <a:r>
              <a:t>    &lt;- CST-13: NRR 2025 (actual): 106.6%</a:t>
            </a:r>
          </a:p>
          <a:p>
            <a:r>
              <a:t>[right[2]] FACT: Spread +19.3 points is NRR minus GRR.</a:t>
            </a:r>
          </a:p>
          <a:p>
            <a:r>
              <a:t>    &lt;- CST-6: GRR 2022 (actual): 98.1%</a:t>
            </a:r>
          </a:p>
          <a:p>
            <a:r>
              <a:t>    &lt;- CST-7: GRR 2023 (actual): 85.6%</a:t>
            </a:r>
          </a:p>
          <a:p>
            <a:r>
              <a:t>    &lt;- CST-8: GRR 2024 (actual): 79.8%</a:t>
            </a:r>
          </a:p>
          <a:p>
            <a:r>
              <a:t>    &lt;- CST-9: GRR 2025 (actual): 87.3%</a:t>
            </a:r>
          </a:p>
          <a:p>
            <a:r>
              <a:t>    &lt;- CST-10: NRR 2022 (actual): 196.0%</a:t>
            </a:r>
          </a:p>
          <a:p>
            <a:r>
              <a:t>    &lt;- CST-11: NRR 2023 (actual): 124.5%</a:t>
            </a:r>
          </a:p>
          <a:p>
            <a:r>
              <a:t>    &lt;- CST-12: NRR 2024 (actual): 102.4%</a:t>
            </a:r>
          </a:p>
          <a:p>
            <a:r>
              <a:t>    &lt;- CST-13: NRR 2025 (actual): 106.6%</a:t>
            </a:r>
          </a:p>
          <a:p/>
          <a:p>
            <a:r>
              <a:t>CALCULATIONS</a:t>
            </a:r>
          </a:p>
          <a:p>
            <a:r>
              <a:t>CALC-NRR-GRR: nrr - grr | inputs: nrr=106.6 (CST-13), grr=87.3 (CST-9) | output: 19.3 pp</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S069_target_strengths</a:t>
            </a:r>
          </a:p>
          <a:p>
            <a:r>
              <a:t>Kinds: FACT = sourced; CALC = calculated (†); VIEW = DiligenceIQ interpretation</a:t>
            </a:r>
          </a:p>
          <a:p/>
          <a:p>
            <a:r>
              <a:t>[title] INTERPRETATION: Largest accounts for Compost Crew, as the workbook ranks them</a:t>
            </a:r>
          </a:p>
          <a:p>
            <a:r>
              <a:t>    &lt;- RVQ-V94-R1: 1 | Account: Commercial Account 0001 | 2025 Revenue: $182,924 | % of commercial: 3.3% | Cumulative %: 3.3%</a:t>
            </a:r>
          </a:p>
          <a:p>
            <a:r>
              <a:t>    &lt;- RVQ-V94-R2: 2 | Account: Commercial Account 0002 | 2025 Revenue: $154,343 | % of commercial: 2.7% | Cumulative %: 6.0%</a:t>
            </a:r>
          </a:p>
          <a:p>
            <a:r>
              <a:t>    &lt;- RVQ-V94-R3: 3 | Account: Commercial Account 0003 | 2025 Revenue: $140,917 | % of commercial: 2.5% | Cumulative %: 8.5%</a:t>
            </a:r>
          </a:p>
          <a:p>
            <a:r>
              <a:t>    &lt;- RVQ-V94-R4: 4 | Account: Commercial Account 0004 | 2025 Revenue: $132,220 | % of commercial: 2.4% | Cumulative %: 10.9%</a:t>
            </a:r>
          </a:p>
          <a:p>
            <a:r>
              <a:t>    &lt;- RVQ-V94-R5: 5 | Account: Commercial Account 0005 | 2025 Revenue: $126,540 | % of commercial: 2.3% | Cumulative %: 13.1%</a:t>
            </a:r>
          </a:p>
          <a:p>
            <a:r>
              <a:t>    &lt;- RVQ-V94-R6: 6 | Account: Commercial Account 0006 | 2025 Revenue: $116,816 | % of commercial: 2.1% | Cumulative %: 15.2%</a:t>
            </a:r>
          </a:p>
          <a:p>
            <a:r>
              <a:t>    &lt;- RVQ-V94-R7: 7 | Account: Commercial Account 0007 | 2025 Revenue: $115,272 | % of commercial: 2.1% | Cumulative %: 17.3%</a:t>
            </a:r>
          </a:p>
          <a:p>
            <a:r>
              <a:t>    &lt;- RVQ-V94-R8: 8 | Account: Commercial Account 0009 | 2025 Revenue: $105,135 | % of commercial: 1.9% | Cumulative %: 19.1%</a:t>
            </a:r>
          </a:p>
          <a:p>
            <a:r>
              <a:t>[subtitle] INTERPRETATION: Names are the labels in the concentration sheet. A rank without a share is left out.</a:t>
            </a:r>
          </a:p>
          <a:p>
            <a:r>
              <a:t>    &lt;- RVQ-V94-R1: 1 | Account: Commercial Account 0001 | 2025 Revenue: $182,924 | % of commercial: 3.3% | Cumulative %: 3.3%</a:t>
            </a:r>
          </a:p>
          <a:p>
            <a:r>
              <a:t>    &lt;- RVQ-V94-R2: 2 | Account: Commercial Account 0002 | 2025 Revenue: $154,343 | % of commercial: 2.7% | Cumulative %: 6.0%</a:t>
            </a:r>
          </a:p>
          <a:p>
            <a:r>
              <a:t>    &lt;- RVQ-V94-R3: 3 | Account: Commercial Account 0003 | 2025 Revenue: $140,917 | % of commercial: 2.5% | Cumulative %: 8.5%</a:t>
            </a:r>
          </a:p>
          <a:p>
            <a:r>
              <a:t>    &lt;- RVQ-V94-R4: 4 | Account: Commercial Account 0004 | 2025 Revenue: $132,220 | % of commercial: 2.4% | Cumulative %: 10.9%</a:t>
            </a:r>
          </a:p>
          <a:p>
            <a:r>
              <a:t>    &lt;- RVQ-V94-R5: 5 | Account: Commercial Account 0005 | 2025 Revenue: $126,540 | % of commercial: 2.3% | Cumulative %: 13.1%</a:t>
            </a:r>
          </a:p>
          <a:p>
            <a:r>
              <a:t>    &lt;- RVQ-V94-R6: 6 | Account: Commercial Account 0006 | 2025 Revenue: $116,816 | % of commercial: 2.1% | Cumulative %: 15.2%</a:t>
            </a:r>
          </a:p>
          <a:p>
            <a:r>
              <a:t>    &lt;- RVQ-V94-R7: 7 | Account: Commercial Account 0007 | 2025 Revenue: $115,272 | % of commercial: 2.1% | Cumulative %: 17.3%</a:t>
            </a:r>
          </a:p>
          <a:p>
            <a:r>
              <a:t>    &lt;- RVQ-V94-R8: 8 | Account: Commercial Account 0009 | 2025 Revenue: $105,135 | % of commercial: 1.9% | Cumulative %: 19.1%</a:t>
            </a:r>
          </a:p>
          <a:p>
            <a:r>
              <a:t>[quotes row 1] refs: RVQ-V94-R1, RVQ-V94-R2, RVQ-V94-R3, RVQ-V94-R4, RVQ-V94-R5, RVQ-V94-R6, RVQ-V94-R7, RVQ-V94-R8</a:t>
            </a:r>
          </a:p>
          <a:p>
            <a:r>
              <a:t>[quotes row 2] refs: RVQ-V94-R1, RVQ-V94-R2, RVQ-V94-R3, RVQ-V94-R4, RVQ-V94-R5, RVQ-V94-R6, RVQ-V94-R7, RVQ-V94-R8</a:t>
            </a:r>
          </a:p>
          <a:p>
            <a:r>
              <a:t>[quotes row 3] refs: RVQ-V94-R1, RVQ-V94-R2, RVQ-V94-R3, RVQ-V94-R4, RVQ-V94-R5, RVQ-V94-R6, RVQ-V94-R7, RVQ-V94-R8</a:t>
            </a:r>
          </a:p>
          <a:p>
            <a:r>
              <a:t>[quotes row 4] refs: RVQ-V94-R1, RVQ-V94-R2, RVQ-V94-R3, RVQ-V94-R4, RVQ-V94-R5, RVQ-V94-R6, RVQ-V94-R7, RVQ-V94-R8</a:t>
            </a:r>
          </a:p>
          <a:p>
            <a:r>
              <a:t>[quotes row 5] refs: RVQ-V94-R1, RVQ-V94-R2, RVQ-V94-R3, RVQ-V94-R4, RVQ-V94-R5, RVQ-V94-R6, RVQ-V94-R7, RVQ-V94-R8</a:t>
            </a:r>
          </a:p>
          <a:p>
            <a:r>
              <a:t>[quotes row 6] refs: RVQ-V94-R1, RVQ-V94-R2, RVQ-V94-R3, RVQ-V94-R4, RVQ-V94-R5, RVQ-V94-R6, RVQ-V94-R7, RVQ-V94-R8</a:t>
            </a:r>
          </a:p>
          <a:p>
            <a:r>
              <a:t>[quotes row 7] refs: RVQ-V94-R1, RVQ-V94-R2, RVQ-V94-R3, RVQ-V94-R4, RVQ-V94-R5, RVQ-V94-R6, RVQ-V94-R7, RVQ-V94-R8</a:t>
            </a:r>
          </a:p>
          <a:p>
            <a:r>
              <a:t>[quotes row 8] refs: RVQ-V94-R1, RVQ-V94-R2, RVQ-V94-R3, RVQ-V94-R4, RVQ-V94-R5, RVQ-V94-R6, RVQ-V94-R7, RVQ-V94-R8</a:t>
            </a:r>
          </a:p>
          <a:p>
            <a:r>
              <a:t>[right[1]] FACT: The first 8 accounts reach a cumulative share of 19.1%.</a:t>
            </a:r>
          </a:p>
          <a:p>
            <a:r>
              <a:t>    &lt;- RVQ-V94-R1: 1 | Account: Commercial Account 0001 | 2025 Revenue: $182,924 | % of commercial: 3.3% | Cumulative %: 3.3%</a:t>
            </a:r>
          </a:p>
          <a:p>
            <a:r>
              <a:t>    &lt;- RVQ-V94-R2: 2 | Account: Commercial Account 0002 | 2025 Revenue: $154,343 | % of commercial: 2.7% | Cumulative %: 6.0%</a:t>
            </a:r>
          </a:p>
          <a:p>
            <a:r>
              <a:t>    &lt;- RVQ-V94-R3: 3 | Account: Commercial Account 0003 | 2025 Revenue: $140,917 | % of commercial: 2.5% | Cumulative %: 8.5%</a:t>
            </a:r>
          </a:p>
          <a:p>
            <a:r>
              <a:t>    &lt;- RVQ-V94-R4: 4 | Account: Commercial Account 0004 | 2025 Revenue: $132,220 | % of commercial: 2.4% | Cumulative %: 10.9%</a:t>
            </a:r>
          </a:p>
          <a:p>
            <a:r>
              <a:t>    &lt;- RVQ-V94-R5: 5 | Account: Commercial Account 0005 | 2025 Revenue: $126,540 | % of commercial: 2.3% | Cumulative %: 13.1%</a:t>
            </a:r>
          </a:p>
          <a:p>
            <a:r>
              <a:t>    &lt;- RVQ-V94-R6: 6 | Account: Commercial Account 0006 | 2025 Revenue: $116,816 | % of commercial: 2.1% | Cumulative %: 15.2%</a:t>
            </a:r>
          </a:p>
          <a:p>
            <a:r>
              <a:t>    &lt;- RVQ-V94-R7: 7 | Account: Commercial Account 0007 | 2025 Revenue: $115,272 | % of commercial: 2.1% | Cumulative %: 17.3%</a:t>
            </a:r>
          </a:p>
          <a:p>
            <a:r>
              <a:t>    &lt;- RVQ-V94-R8: 8 | Account: Commercial Account 0009 | 2025 Revenue: $105,135 | % of commercial: 1.9% | Cumulative %: 19.1%</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S071_div_growth   (blueprint slide 71 - Growth Opportunities)</a:t>
            </a:r>
          </a:p>
          <a:p>
            <a:r>
              <a:t>WORKING TITLE   Section Divider — Growth Opportunities</a:t>
            </a:r>
          </a:p>
          <a:p>
            <a:r>
              <a:t>PURPOSE         Re-show the findings divider with this chapter highlighted.</a:t>
            </a:r>
          </a:p>
          <a:p/>
          <a:p>
            <a:r>
              <a:t>WHAT THIS SLIDE MUST CONTAIN</a:t>
            </a:r>
          </a:p>
          <a:p>
            <a:r>
              <a:t>  - Four-chapter list with Growth Opportunities highlighted as current.</a:t>
            </a:r>
          </a:p>
          <a:p>
            <a:r>
              <a:t>  - Standard divider branding.</a:t>
            </a:r>
          </a:p>
          <a:p/>
          <a:p>
            <a:r>
              <a:t>SOURCES         Deck template.</a:t>
            </a:r>
          </a:p>
          <a:p>
            <a:r>
              <a:t>ANALYSIS        None.</a:t>
            </a:r>
          </a:p>
          <a:p>
            <a:r>
              <a:t>EXHIBIT         Branded divider with chapter list, current chapter emphasised.  (form: divider)</a:t>
            </a:r>
          </a:p>
          <a:p>
            <a:r>
              <a:t>QUALITY BAR     Highlight state matches the reader's position in the deck.</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S072_growth_levers_overview</a:t>
            </a:r>
          </a:p>
          <a:p>
            <a:r>
              <a:t>Kinds: FACT = sourced; CALC = calculated (†); VIEW = DiligenceIQ interpretation</a:t>
            </a:r>
          </a:p>
          <a:p/>
          <a:p>
            <a:r>
              <a:t>[title] INTERPRETATION: Municipal - DC is 22.6% of 2025 workbook revenue</a:t>
            </a:r>
          </a:p>
          <a:p>
            <a:r>
              <a:t>    &lt;- RVQ-V91-R3: Municipal - DC | 2023: $0.85M | 2024: $2.89M | 2025: $3.00M | 2026P: $3.96M | 2027P: $4.61M | 2028P: $5.61M | 2029P: $7.33M | 2030P: $10.42M | 2025 Mix: 22.6%</a:t>
            </a:r>
          </a:p>
          <a:p>
            <a:r>
              <a:t>    &lt;- RVQ-V91-R5: Utica | 2023: $0.00M | 2024: $0.00M | 2025: $0.00M | 2026P: $0.00M | 2027P: $0.57M | 2028P: $1.64M | 2029P: $1.64M | 2030P: $1.64M | 2025 Mix: 0.0%</a:t>
            </a:r>
          </a:p>
          <a:p>
            <a:r>
              <a:t>    &lt;- CBG-11: The CIM states the DC contract is about 12,000 of the municipal locations, and that rates step up about 2.6% a year from 2027.</a:t>
            </a:r>
          </a:p>
          <a:p>
            <a:r>
              <a:t>    &lt;- SYN-15: The CIM states about $1.2M of subcontract revenue and about $1.6M of own-book revenue. Neither figure is added to company revenue here.</a:t>
            </a:r>
          </a:p>
          <a:p>
            <a:r>
              <a:t>[subtitle] INTERPRETATION: Each line is stated in the workbook or the CIM. None of them is a result.</a:t>
            </a:r>
          </a:p>
          <a:p>
            <a:r>
              <a:t>    &lt;- RVQ-V91-R3: Municipal - DC | 2023: $0.85M | 2024: $2.89M | 2025: $3.00M | 2026P: $3.96M | 2027P: $4.61M | 2028P: $5.61M | 2029P: $7.33M | 2030P: $10.42M | 2025 Mix: 22.6%</a:t>
            </a:r>
          </a:p>
          <a:p>
            <a:r>
              <a:t>    &lt;- RVQ-V91-R5: Utica | 2023: $0.00M | 2024: $0.00M | 2025: $0.00M | 2026P: $0.00M | 2027P: $0.57M | 2028P: $1.64M | 2029P: $1.64M | 2030P: $1.64M | 2025 Mix: 0.0%</a:t>
            </a:r>
          </a:p>
          <a:p>
            <a:r>
              <a:t>    &lt;- CBG-11: The CIM states the DC contract is about 12,000 of the municipal locations, and that rates step up about 2.6% a year from 2027.</a:t>
            </a:r>
          </a:p>
          <a:p>
            <a:r>
              <a:t>    &lt;- SYN-15: The CIM states about $1.2M of subcontract revenue and about $1.6M of own-book revenue. Neither figure is added to company revenue here.</a:t>
            </a:r>
          </a:p>
          <a:p/>
          <a:p>
            <a:r>
              <a:t>CALCULATIONS</a:t>
            </a:r>
          </a:p>
          <a:p>
            <a:r>
              <a:t>CALC-LOGO-QUOTA: new / quota | inputs: new=81.0 (CST-20), quota=52.0 (GRO-8) | output: 1.6 x</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S073_l1_new_customers</a:t>
            </a:r>
          </a:p>
          <a:p>
            <a:r>
              <a:t>Kinds: FACT = sourced; CALC = calculated (†); VIEW = DiligenceIQ interpretation</a:t>
            </a:r>
          </a:p>
          <a:p/>
          <a:p>
            <a:r>
              <a:t>[title] INTERPRETATION: Latest new logos equal 1.6 of one stated quota</a:t>
            </a:r>
          </a:p>
          <a:p>
            <a:r>
              <a:t>    &lt;- CST-14: New logos 2022 (actual): 142</a:t>
            </a:r>
          </a:p>
          <a:p>
            <a:r>
              <a:t>    &lt;- CST-16: New logos 2023 (actual): 126</a:t>
            </a:r>
          </a:p>
          <a:p>
            <a:r>
              <a:t>    &lt;- CST-18: New logos 2024 (actual): 171</a:t>
            </a:r>
          </a:p>
          <a:p>
            <a:r>
              <a:t>    &lt;- CST-20: New logos 2025 (actual): 81</a:t>
            </a:r>
          </a:p>
          <a:p>
            <a:r>
              <a:t>    &lt;- CST-15: Churned logos 2022 (actual): 3</a:t>
            </a:r>
          </a:p>
          <a:p>
            <a:r>
              <a:t>    &lt;- CST-17: Churned logos 2023 (actual): 31</a:t>
            </a:r>
          </a:p>
          <a:p>
            <a:r>
              <a:t>    &lt;- CST-19: Churned logos 2024 (actual): 35</a:t>
            </a:r>
          </a:p>
          <a:p>
            <a:r>
              <a:t>    &lt;- CST-21: Churned logos 2025 (actual): 48</a:t>
            </a:r>
          </a:p>
          <a:p>
            <a:r>
              <a:t>[subtitle] INTERPRETATION: Net additions are new logos minus churned logos. A year with only one of the two is omitted.</a:t>
            </a:r>
          </a:p>
          <a:p>
            <a:r>
              <a:t>    &lt;- CST-14: New logos 2022 (actual): 142</a:t>
            </a:r>
          </a:p>
          <a:p>
            <a:r>
              <a:t>    &lt;- CST-16: New logos 2023 (actual): 126</a:t>
            </a:r>
          </a:p>
          <a:p>
            <a:r>
              <a:t>    &lt;- CST-18: New logos 2024 (actual): 171</a:t>
            </a:r>
          </a:p>
          <a:p>
            <a:r>
              <a:t>    &lt;- CST-20: New logos 2025 (actual): 81</a:t>
            </a:r>
          </a:p>
          <a:p>
            <a:r>
              <a:t>    &lt;- CST-15: Churned logos 2022 (actual): 3</a:t>
            </a:r>
          </a:p>
          <a:p>
            <a:r>
              <a:t>    &lt;- CST-17: Churned logos 2023 (actual): 31</a:t>
            </a:r>
          </a:p>
          <a:p>
            <a:r>
              <a:t>    &lt;- CST-19: Churned logos 2024 (actual): 35</a:t>
            </a:r>
          </a:p>
          <a:p>
            <a:r>
              <a:t>    &lt;- CST-21: Churned logos 2025 (actual): 48</a:t>
            </a:r>
          </a:p>
          <a:p>
            <a:r>
              <a:t>[chart] FACT: </a:t>
            </a:r>
          </a:p>
          <a:p>
            <a:r>
              <a:t>    &lt;- CST-14: New logos 2022 (actual): 142</a:t>
            </a:r>
          </a:p>
          <a:p>
            <a:r>
              <a:t>    &lt;- CST-16: New logos 2023 (actual): 126</a:t>
            </a:r>
          </a:p>
          <a:p>
            <a:r>
              <a:t>    &lt;- CST-18: New logos 2024 (actual): 171</a:t>
            </a:r>
          </a:p>
          <a:p>
            <a:r>
              <a:t>    &lt;- CST-20: New logos 2025 (actual): 81</a:t>
            </a:r>
          </a:p>
          <a:p>
            <a:r>
              <a:t>    &lt;- CST-15: Churned logos 2022 (actual): 3</a:t>
            </a:r>
          </a:p>
          <a:p>
            <a:r>
              <a:t>    &lt;- CST-17: Churned logos 2023 (actual): 31</a:t>
            </a:r>
          </a:p>
          <a:p>
            <a:r>
              <a:t>    &lt;- CST-19: Churned logos 2024 (actual): 35</a:t>
            </a:r>
          </a:p>
          <a:p>
            <a:r>
              <a:t>    &lt;- CST-21: Churned logos 2025 (actual): 48</a:t>
            </a:r>
          </a:p>
          <a:p>
            <a:r>
              <a:t>[right[1]] FACT: Net additions are new logos minus churned logos: 139 in 2022, 95 in 2023, 136 in 2024, 33 in 2025.</a:t>
            </a:r>
          </a:p>
          <a:p>
            <a:r>
              <a:t>    &lt;- CST-14: New logos 2022 (actual): 142</a:t>
            </a:r>
          </a:p>
          <a:p>
            <a:r>
              <a:t>    &lt;- CST-16: New logos 2023 (actual): 126</a:t>
            </a:r>
          </a:p>
          <a:p>
            <a:r>
              <a:t>    &lt;- CST-18: New logos 2024 (actual): 171</a:t>
            </a:r>
          </a:p>
          <a:p>
            <a:r>
              <a:t>    &lt;- CST-20: New logos 2025 (actual): 81</a:t>
            </a:r>
          </a:p>
          <a:p>
            <a:r>
              <a:t>    &lt;- CST-15: Churned logos 2022 (actual): 3</a:t>
            </a:r>
          </a:p>
          <a:p>
            <a:r>
              <a:t>    &lt;- CST-17: Churned logos 2023 (actual): 31</a:t>
            </a:r>
          </a:p>
          <a:p>
            <a:r>
              <a:t>    &lt;- CST-19: Churned logos 2024 (actual): 35</a:t>
            </a:r>
          </a:p>
          <a:p>
            <a:r>
              <a:t>    &lt;- CST-21: Churned logos 2025 (actual): 48</a:t>
            </a:r>
          </a:p>
          <a:p>
            <a:r>
              <a:t>[right[2]] FACT: The latest new-logo count equals 1.6 of the stated quota.</a:t>
            </a:r>
          </a:p>
          <a:p>
            <a:r>
              <a:t>    &lt;- CST-14: New logos 2022 (actual): 142</a:t>
            </a:r>
          </a:p>
          <a:p>
            <a:r>
              <a:t>    &lt;- CST-16: New logos 2023 (actual): 126</a:t>
            </a:r>
          </a:p>
          <a:p>
            <a:r>
              <a:t>    &lt;- CST-18: New logos 2024 (actual): 171</a:t>
            </a:r>
          </a:p>
          <a:p>
            <a:r>
              <a:t>    &lt;- CST-20: New logos 2025 (actual): 81</a:t>
            </a:r>
          </a:p>
          <a:p>
            <a:r>
              <a:t>    &lt;- CST-15: Churned logos 2022 (actual): 3</a:t>
            </a:r>
          </a:p>
          <a:p>
            <a:r>
              <a:t>    &lt;- CST-17: Churned logos 2023 (actual): 31</a:t>
            </a:r>
          </a:p>
          <a:p>
            <a:r>
              <a:t>    &lt;- CST-19: Churned logos 2024 (actual): 35</a:t>
            </a:r>
          </a:p>
          <a:p>
            <a:r>
              <a:t>    &lt;- CST-21: Churned logos 2025 (actual): 48</a:t>
            </a:r>
          </a:p>
          <a:p/>
          <a:p>
            <a:r>
              <a:t>CALCULATIONS</a:t>
            </a:r>
          </a:p>
          <a:p>
            <a:r>
              <a:t>CALC-LOGO-NET-2022: new - churned | inputs: new=142.0 (CST-14), churned=3.0 (CST-15) | output: 139.0 count</a:t>
            </a:r>
          </a:p>
          <a:p>
            <a:r>
              <a:t>CALC-LOGO-NET-2023: new - churned | inputs: new=126.0 (CST-16), churned=31.0 (CST-17) | output: 95.0 count</a:t>
            </a:r>
          </a:p>
          <a:p>
            <a:r>
              <a:t>CALC-LOGO-NET-2024: new - churned | inputs: new=171.0 (CST-18), churned=35.0 (CST-19) | output: 136.0 count</a:t>
            </a:r>
          </a:p>
          <a:p>
            <a:r>
              <a:t>CALC-LOGO-NET-2025: new - churned | inputs: new=81.0 (CST-20), churned=48.0 (CST-21) | output: 33.0 count</a:t>
            </a:r>
          </a:p>
          <a:p>
            <a:r>
              <a:t>CALC-LOGO-QUOTA: new / quota | inputs: new=81.0 (CST-20), quota=52.0 (GRO-8) | output: 1.6 x</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S074_l1_right_to_win</a:t>
            </a:r>
          </a:p>
          <a:p>
            <a:r>
              <a:t>Kinds: FACT = sourced; CALC = calculated (†); VIEW = DiligenceIQ interpretation</a:t>
            </a:r>
          </a:p>
          <a:p/>
          <a:p>
            <a:r>
              <a:t>[title] INTERPRETATION: The largest contract is 23.0% of 2025 revenue</a:t>
            </a:r>
          </a:p>
          <a:p>
            <a:r>
              <a:t>    &lt;- RVQ-V95-R1: Municipal Account 01 | 2021: 0 | 2022: 0 | 2023: 853,598.60 | 2024: 2,981,860.26 | 2025: 3,077,660.70 | 2026H1: 1,585,433.05 | Lifetime: 8,498,552.61</a:t>
            </a:r>
          </a:p>
          <a:p>
            <a:r>
              <a:t>    &lt;- RVQ-V95-R4: Municipal Account 04 | 2021: 0 | 2022: 0 | 2023: 0 | 2024: 118,332.95 | 2025: 446,492.69 | 2026H1: 216,655.92 | Lifetime: 781,481.56</a:t>
            </a:r>
          </a:p>
          <a:p>
            <a:r>
              <a:t>    &lt;- RVQ-V95-R2: Municipal Account 02 | 2021: 9,593.94 | 2022: 123,327.04 | 2023: 205,047.57 | 2024: 275,405.72 | 2025: 346,137.76 | 2026H1: 150,452.59 | Lifetime: 1,109,964.62</a:t>
            </a:r>
          </a:p>
          <a:p>
            <a:r>
              <a:t>    &lt;- RVQ-V95-R3: Municipal Account 03 | 2021: 0 | 2022: 0 | 2023: 169,217.35 | 2024: 302,061.53 | 2025: 302,026.84 | 2026H1: 108,660.20 | Lifetime: 881,965.92</a:t>
            </a:r>
          </a:p>
          <a:p>
            <a:r>
              <a:t>    &lt;- RVQ-V95-R6: Municipal Account 06 | 2021: 4,193 | 2022: 7,180 | 2023: 90,347.40 | 2024: 116,165.10 | 2025: 117,664.53 | 2026H1: 23,045.66 | Lifetime: 358,595.69</a:t>
            </a:r>
          </a:p>
          <a:p>
            <a:r>
              <a:t>    &lt;- RVQ-V95-R5: Municipal Account 05 | 2021: 0 | 2022: 9,323.38 | 2023: 98,786.86 | 2024: 116,618.32 | 2025: 109,986.13 | 2026H1: 36,536.81 | Lifetime: 371,251.50</a:t>
            </a:r>
          </a:p>
          <a:p>
            <a:r>
              <a:t>    &lt;- HPF-V90-R8: Total Revenues | 2023: $7.56M | 2024: $11.87M | 2025: $13.41M | 2026 YTD (Jul): $8.05M</a:t>
            </a:r>
          </a:p>
          <a:p>
            <a:r>
              <a:t>[subtitle] INTERPRETATION: Ranked by the latest actual year the contract sheet states.</a:t>
            </a:r>
          </a:p>
          <a:p>
            <a:r>
              <a:t>    &lt;- RVQ-V95-R1: Municipal Account 01 | 2021: 0 | 2022: 0 | 2023: 853,598.60 | 2024: 2,981,860.26 | 2025: 3,077,660.70 | 2026H1: 1,585,433.05 | Lifetime: 8,498,552.61</a:t>
            </a:r>
          </a:p>
          <a:p>
            <a:r>
              <a:t>    &lt;- RVQ-V95-R4: Municipal Account 04 | 2021: 0 | 2022: 0 | 2023: 0 | 2024: 118,332.95 | 2025: 446,492.69 | 2026H1: 216,655.92 | Lifetime: 781,481.56</a:t>
            </a:r>
          </a:p>
          <a:p>
            <a:r>
              <a:t>    &lt;- RVQ-V95-R2: Municipal Account 02 | 2021: 9,593.94 | 2022: 123,327.04 | 2023: 205,047.57 | 2024: 275,405.72 | 2025: 346,137.76 | 2026H1: 150,452.59 | Lifetime: 1,109,964.62</a:t>
            </a:r>
          </a:p>
          <a:p>
            <a:r>
              <a:t>    &lt;- RVQ-V95-R3: Municipal Account 03 | 2021: 0 | 2022: 0 | 2023: 169,217.35 | 2024: 302,061.53 | 2025: 302,026.84 | 2026H1: 108,660.20 | Lifetime: 881,965.92</a:t>
            </a:r>
          </a:p>
          <a:p>
            <a:r>
              <a:t>    &lt;- RVQ-V95-R6: Municipal Account 06 | 2021: 4,193 | 2022: 7,180 | 2023: 90,347.40 | 2024: 116,165.10 | 2025: 117,664.53 | 2026H1: 23,045.66 | Lifetime: 358,595.69</a:t>
            </a:r>
          </a:p>
          <a:p>
            <a:r>
              <a:t>    &lt;- RVQ-V95-R5: Municipal Account 05 | 2021: 0 | 2022: 9,323.38 | 2023: 98,786.86 | 2024: 116,618.32 | 2025: 109,986.13 | 2026H1: 36,536.81 | Lifetime: 371,251.50</a:t>
            </a:r>
          </a:p>
          <a:p>
            <a:r>
              <a:t>    &lt;- HPF-V90-R8: Total Revenues | 2023: $7.56M | 2024: $11.87M | 2025: $13.41M | 2026 YTD (Jul): $8.05M</a:t>
            </a:r>
          </a:p>
          <a:p>
            <a:r>
              <a:t>[table row 1] refs: RVQ-V95-R1, RVQ-V95-R4, RVQ-V95-R2, RVQ-V95-R3, RVQ-V95-R6, RVQ-V95-R5, HPF-V90-R8</a:t>
            </a:r>
          </a:p>
          <a:p>
            <a:r>
              <a:t>[table row 2] refs: RVQ-V95-R1, RVQ-V95-R4, RVQ-V95-R2, RVQ-V95-R3, RVQ-V95-R6, RVQ-V95-R5, HPF-V90-R8</a:t>
            </a:r>
          </a:p>
          <a:p>
            <a:r>
              <a:t>[table row 3] refs: RVQ-V95-R1, RVQ-V95-R4, RVQ-V95-R2, RVQ-V95-R3, RVQ-V95-R6, RVQ-V95-R5, HPF-V90-R8</a:t>
            </a:r>
          </a:p>
          <a:p>
            <a:r>
              <a:t>[table row 4] refs: RVQ-V95-R1, RVQ-V95-R4, RVQ-V95-R2, RVQ-V95-R3, RVQ-V95-R6, RVQ-V95-R5, HPF-V90-R8</a:t>
            </a:r>
          </a:p>
          <a:p>
            <a:r>
              <a:t>[table row 5] refs: RVQ-V95-R1, RVQ-V95-R4, RVQ-V95-R2, RVQ-V95-R3, RVQ-V95-R6, RVQ-V95-R5, HPF-V90-R8</a:t>
            </a:r>
          </a:p>
          <a:p>
            <a:r>
              <a:t>[table row 6] refs: RVQ-V95-R1, RVQ-V95-R4, RVQ-V95-R2, RVQ-V95-R3, RVQ-V95-R6, RVQ-V95-R5, HPF-V90-R8</a:t>
            </a:r>
          </a:p>
          <a:p>
            <a:r>
              <a:t>[takeaway] FACT: The largest contract is 23.0% of 2025 revenue. The workbook's own name is kept.</a:t>
            </a:r>
          </a:p>
          <a:p>
            <a:r>
              <a:t>    &lt;- RVQ-V95-R1: Municipal Account 01 | 2021: 0 | 2022: 0 | 2023: 853,598.60 | 2024: 2,981,860.26 | 2025: 3,077,660.70 | 2026H1: 1,585,433.05 | Lifetime: 8,498,552.61</a:t>
            </a:r>
          </a:p>
          <a:p>
            <a:r>
              <a:t>    &lt;- RVQ-V95-R4: Municipal Account 04 | 2021: 0 | 2022: 0 | 2023: 0 | 2024: 118,332.95 | 2025: 446,492.69 | 2026H1: 216,655.92 | Lifetime: 781,481.56</a:t>
            </a:r>
          </a:p>
          <a:p>
            <a:r>
              <a:t>    &lt;- RVQ-V95-R2: Municipal Account 02 | 2021: 9,593.94 | 2022: 123,327.04 | 2023: 205,047.57 | 2024: 275,405.72 | 2025: 346,137.76 | 2026H1: 150,452.59 | Lifetime: 1,109,964.62</a:t>
            </a:r>
          </a:p>
          <a:p>
            <a:r>
              <a:t>    &lt;- RVQ-V95-R3: Municipal Account 03 | 2021: 0 | 2022: 0 | 2023: 169,217.35 | 2024: 302,061.53 | 2025: 302,026.84 | 2026H1: 108,660.20 | Lifetime: 881,965.92</a:t>
            </a:r>
          </a:p>
          <a:p>
            <a:r>
              <a:t>    &lt;- RVQ-V95-R6: Municipal Account 06 | 2021: 4,193 | 2022: 7,180 | 2023: 90,347.40 | 2024: 116,165.10 | 2025: 117,664.53 | 2026H1: 23,045.66 | Lifetime: 358,595.69</a:t>
            </a:r>
          </a:p>
          <a:p>
            <a:r>
              <a:t>    &lt;- RVQ-V95-R5: Municipal Account 05 | 2021: 0 | 2022: 9,323.38 | 2023: 98,786.86 | 2024: 116,618.32 | 2025: 109,986.13 | 2026H1: 36,536.81 | Lifetime: 371,251.50</a:t>
            </a:r>
          </a:p>
          <a:p>
            <a:r>
              <a:t>    &lt;- HPF-V90-R8: Total Revenues | 2023: $7.56M | 2024: $11.87M | 2025: $13.41M | 2026 YTD (Jul): $8.05M</a:t>
            </a:r>
          </a:p>
          <a:p/>
          <a:p>
            <a:r>
              <a:t>CALCULATIONS</a:t>
            </a:r>
          </a:p>
          <a:p>
            <a:r>
              <a:t>CALC-CONTRACT-SHARE: contract / (revenue * 1000000) * 100 | inputs: contract=3077660.7 (RVQ-V95-R1), revenue=13.41 (HPF-V90-R8) | output: 23.0 %</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S075_l1_channel_expansion</a:t>
            </a:r>
          </a:p>
          <a:p>
            <a:r>
              <a:t>Kinds: FACT = sourced; CALC = calculated (†); VIEW = DiligenceIQ interpretation</a:t>
            </a:r>
          </a:p>
          <a:p/>
          <a:p>
            <a:r>
              <a:t>[title] INTERPRETATION: The plan takes quota-carrying reps from 8 to 19. No bookings history was loaded.</a:t>
            </a:r>
          </a:p>
          <a:p>
            <a:r>
              <a:t>    &lt;- GRO-7: Quota-carrying sales reps, 2026 → 2030. Baseline 8 → 19. Growth case 9 → 23.</a:t>
            </a:r>
          </a:p>
          <a:p>
            <a:r>
              <a:t>    &lt;- GRO-8: Commercial AE quota × AAOV. Baseline 52 accounts/yr × $7,000, AAOV +3.0%. Growth case +3.5% quota, +4.0% AAOV.</a:t>
            </a:r>
          </a:p>
          <a:p>
            <a:r>
              <a:t>    &lt;- GRO-9: Municipal AE quota × price. Baseline 1,200 homes/yr × $20/mo, price +2.5%. Growth case +3.5% quota, +3.0% price.</a:t>
            </a:r>
          </a:p>
          <a:p>
            <a:r>
              <a:t>    &lt;- GRO-10: Residential AE quota × AAOV. Baseline 2,700 homes/yr × $21.31/mo, AAOV flat. Growth case +3.5% quota, +2.0% AAOV.</a:t>
            </a:r>
          </a:p>
          <a:p>
            <a:r>
              <a:t>    &lt;- GRO-11: New-rep ramp — 5 months to. Baseline 90% of quota (75% municipal). Growth case 100% of quota.</a:t>
            </a:r>
          </a:p>
          <a:p>
            <a:r>
              <a:t>    &lt;- GRO-12: Marketing and advertising spend growth. Baseline +15% in 2027, flat after. Growth case +25% in 2027, +30% / yr after.</a:t>
            </a:r>
          </a:p>
          <a:p>
            <a:r>
              <a:t>    &lt;- GRO-13: Account managers, 2030. Baseline 11 (5 commercial, 6 residential). Growth case 11 (same as baseline).</a:t>
            </a:r>
          </a:p>
          <a:p>
            <a:r>
              <a:t>    &lt;- GRO-14: Commercial upsell quota × AAOV. Baseline 52 upsells/yr × $1,885, AAOV +3.0%. Growth case +4.0% AAOV from 2028.</a:t>
            </a:r>
          </a:p>
          <a:p>
            <a:r>
              <a:t>[subtitle] INTERPRETATION: Each row is a quota the growth record stored. A missing productivity history is not filled in.</a:t>
            </a:r>
          </a:p>
          <a:p>
            <a:r>
              <a:t>    &lt;- GRO-7: Quota-carrying sales reps, 2026 → 2030. Baseline 8 → 19. Growth case 9 → 23.</a:t>
            </a:r>
          </a:p>
          <a:p>
            <a:r>
              <a:t>    &lt;- GRO-8: Commercial AE quota × AAOV. Baseline 52 accounts/yr × $7,000, AAOV +3.0%. Growth case +3.5% quota, +4.0% AAOV.</a:t>
            </a:r>
          </a:p>
          <a:p>
            <a:r>
              <a:t>    &lt;- GRO-9: Municipal AE quota × price. Baseline 1,200 homes/yr × $20/mo, price +2.5%. Growth case +3.5% quota, +3.0% price.</a:t>
            </a:r>
          </a:p>
          <a:p>
            <a:r>
              <a:t>    &lt;- GRO-10: Residential AE quota × AAOV. Baseline 2,700 homes/yr × $21.31/mo, AAOV flat. Growth case +3.5% quota, +2.0% AAOV.</a:t>
            </a:r>
          </a:p>
          <a:p>
            <a:r>
              <a:t>    &lt;- GRO-11: New-rep ramp — 5 months to. Baseline 90% of quota (75% municipal). Growth case 100% of quota.</a:t>
            </a:r>
          </a:p>
          <a:p>
            <a:r>
              <a:t>    &lt;- GRO-12: Marketing and advertising spend growth. Baseline +15% in 2027, flat after. Growth case +25% in 2027, +30% / yr after.</a:t>
            </a:r>
          </a:p>
          <a:p>
            <a:r>
              <a:t>    &lt;- GRO-13: Account managers, 2030. Baseline 11 (5 commercial, 6 residential). Growth case 11 (same as baseline).</a:t>
            </a:r>
          </a:p>
          <a:p>
            <a:r>
              <a:t>    &lt;- GRO-14: Commercial upsell quota × AAOV. Baseline 52 upsells/yr × $1,885, AAOV +3.0%. Growth case +4.0% AAOV from 2028.</a:t>
            </a:r>
          </a:p>
          <a:p>
            <a:r>
              <a:t>[left row 1] refs: GRO-7, GRO-8, GRO-9, GRO-10, GRO-11, GRO-12, GRO-13, GRO-14</a:t>
            </a:r>
          </a:p>
          <a:p>
            <a:r>
              <a:t>[left row 2] refs: GRO-7, GRO-8, GRO-9, GRO-10, GRO-11, GRO-12, GRO-13, GRO-14</a:t>
            </a:r>
          </a:p>
          <a:p>
            <a:r>
              <a:t>[left row 3] refs: GRO-7, GRO-8, GRO-9, GRO-10, GRO-11, GRO-12, GRO-13, GRO-14</a:t>
            </a:r>
          </a:p>
          <a:p>
            <a:r>
              <a:t>[left row 4] refs: GRO-7, GRO-8, GRO-9, GRO-10, GRO-11, GRO-12, GRO-13, GRO-14</a:t>
            </a:r>
          </a:p>
          <a:p>
            <a:r>
              <a:t>[left row 5] refs: GRO-7, GRO-8, GRO-9, GRO-10, GRO-11, GRO-12, GRO-13, GRO-14</a:t>
            </a:r>
          </a:p>
          <a:p>
            <a:r>
              <a:t>[left row 6] refs: GRO-7, GRO-8, GRO-9, GRO-10, GRO-11, GRO-12, GRO-13, GRO-14</a:t>
            </a:r>
          </a:p>
          <a:p>
            <a:r>
              <a:t>[left row 7] refs: GRO-7, GRO-8, GRO-9, GRO-10, GRO-11, GRO-12, GRO-13, GRO-14</a:t>
            </a:r>
          </a:p>
          <a:p>
            <a:r>
              <a:t>[left row 8] refs: GRO-7, GRO-8, GRO-9, GRO-10, GRO-11, GRO-12, GRO-13, GRO-14</a:t>
            </a:r>
          </a:p>
          <a:p>
            <a:r>
              <a:t>[right[1]] FACT: Quotas are the plan's figures. They are not a record of what the current team sells.</a:t>
            </a:r>
          </a:p>
          <a:p>
            <a:r>
              <a:t>    &lt;- GRO-7: Quota-carrying sales reps, 2026 → 2030. Baseline 8 → 19. Growth case 9 → 23.</a:t>
            </a:r>
          </a:p>
          <a:p>
            <a:r>
              <a:t>    &lt;- GRO-8: Commercial AE quota × AAOV. Baseline 52 accounts/yr × $7,000, AAOV +3.0%. Growth case +3.5% quota, +4.0% AAOV.</a:t>
            </a:r>
          </a:p>
          <a:p>
            <a:r>
              <a:t>    &lt;- GRO-9: Municipal AE quota × price. Baseline 1,200 homes/yr × $20/mo, price +2.5%. Growth case +3.5% quota, +3.0% price.</a:t>
            </a:r>
          </a:p>
          <a:p>
            <a:r>
              <a:t>    &lt;- GRO-10: Residential AE quota × AAOV. Baseline 2,700 homes/yr × $21.31/mo, AAOV flat. Growth case +3.5% quota, +2.0% AAOV.</a:t>
            </a:r>
          </a:p>
          <a:p>
            <a:r>
              <a:t>    &lt;- GRO-11: New-rep ramp — 5 months to. Baseline 90% of quota (75% municipal). Growth case 100% of quota.</a:t>
            </a:r>
          </a:p>
          <a:p>
            <a:r>
              <a:t>    &lt;- GRO-12: Marketing and advertising spend growth. Baseline +15% in 2027, flat after. Growth case +25% in 2027, +30% / yr after.</a:t>
            </a:r>
          </a:p>
          <a:p>
            <a:r>
              <a:t>    &lt;- GRO-13: Account managers, 2030. Baseline 11 (5 commercial, 6 residential). Growth case 11 (same as baseline).</a:t>
            </a:r>
          </a:p>
          <a:p>
            <a:r>
              <a:t>    &lt;- GRO-14: Commercial upsell quota × AAOV. Baseline 52 upsells/yr × $1,885, AAOV +3.0%. Growth case +4.0% AAOV from 2028.</a:t>
            </a:r>
          </a:p>
          <a:p>
            <a:r>
              <a:t>[right[2]] FACT: Latest new logos equal 1.6 of the stated quota.</a:t>
            </a:r>
          </a:p>
          <a:p>
            <a:r>
              <a:t>    &lt;- GRO-7: Quota-carrying sales reps, 2026 → 2030. Baseline 8 → 19. Growth case 9 → 23.</a:t>
            </a:r>
          </a:p>
          <a:p>
            <a:r>
              <a:t>    &lt;- GRO-8: Commercial AE quota × AAOV. Baseline 52 accounts/yr × $7,000, AAOV +3.0%. Growth case +3.5% quota, +4.0% AAOV.</a:t>
            </a:r>
          </a:p>
          <a:p>
            <a:r>
              <a:t>    &lt;- GRO-9: Municipal AE quota × price. Baseline 1,200 homes/yr × $20/mo, price +2.5%. Growth case +3.5% quota, +3.0% price.</a:t>
            </a:r>
          </a:p>
          <a:p>
            <a:r>
              <a:t>    &lt;- GRO-10: Residential AE quota × AAOV. Baseline 2,700 homes/yr × $21.31/mo, AAOV flat. Growth case +3.5% quota, +2.0% AAOV.</a:t>
            </a:r>
          </a:p>
          <a:p>
            <a:r>
              <a:t>    &lt;- GRO-11: New-rep ramp — 5 months to. Baseline 90% of quota (75% municipal). Growth case 100% of quota.</a:t>
            </a:r>
          </a:p>
          <a:p>
            <a:r>
              <a:t>    &lt;- GRO-12: Marketing and advertising spend growth. Baseline +15% in 2027, flat after. Growth case +25% in 2027, +30% / yr after.</a:t>
            </a:r>
          </a:p>
          <a:p>
            <a:r>
              <a:t>    &lt;- GRO-13: Account managers, 2030. Baseline 11 (5 commercial, 6 residential). Growth case 11 (same as baseline).</a:t>
            </a:r>
          </a:p>
          <a:p>
            <a:r>
              <a:t>    &lt;- GRO-14: Commercial upsell quota × AAOV. Baseline 52 upsells/yr × $1,885, AAOV +3.0%. Growth case +4.0% AAOV from 2028.</a:t>
            </a:r>
          </a:p>
          <a:p>
            <a:r>
              <a:t>[right[3]] FACT: The growth case takes those reps from 9 to 23.</a:t>
            </a:r>
          </a:p>
          <a:p>
            <a:r>
              <a:t>    &lt;- GRO-7: Quota-carrying sales reps, 2026 → 2030. Baseline 8 → 19. Growth case 9 → 23.</a:t>
            </a:r>
          </a:p>
          <a:p>
            <a:r>
              <a:t>    &lt;- GRO-8: Commercial AE quota × AAOV. Baseline 52 accounts/yr × $7,000, AAOV +3.0%. Growth case +3.5% quota, +4.0% AAOV.</a:t>
            </a:r>
          </a:p>
          <a:p>
            <a:r>
              <a:t>    &lt;- GRO-9: Municipal AE quota × price. Baseline 1,200 homes/yr × $20/mo, price +2.5%. Growth case +3.5% quota, +3.0% price.</a:t>
            </a:r>
          </a:p>
          <a:p>
            <a:r>
              <a:t>    &lt;- GRO-10: Residential AE quota × AAOV. Baseline 2,700 homes/yr × $21.31/mo, AAOV flat. Growth case +3.5% quota, +2.0% AAOV.</a:t>
            </a:r>
          </a:p>
          <a:p>
            <a:r>
              <a:t>    &lt;- GRO-11: New-rep ramp — 5 months to. Baseline 90% of quota (75% municipal). Growth case 100% of quota.</a:t>
            </a:r>
          </a:p>
          <a:p>
            <a:r>
              <a:t>    &lt;- GRO-12: Marketing and advertising spend growth. Baseline +15% in 2027, flat after. Growth case +25% in 2027, +30% / yr after.</a:t>
            </a:r>
          </a:p>
          <a:p>
            <a:r>
              <a:t>    &lt;- GRO-13: Account managers, 2030. Baseline 11 (5 commercial, 6 residential). Growth case 11 (same as baseline).</a:t>
            </a:r>
          </a:p>
          <a:p>
            <a:r>
              <a:t>    &lt;- GRO-14: Commercial upsell quota × AAOV. Baseline 52 upsells/yr × $1,885, AAOV +3.0%. Growth case +4.0% AAOV from 2028.</a:t>
            </a:r>
          </a:p>
          <a:p>
            <a:r>
              <a:t>[right[4]] FACT: Ramp on the record: 90% of quota (75% municipal). Growth case: 100% of quota.</a:t>
            </a:r>
          </a:p>
          <a:p>
            <a:r>
              <a:t>    &lt;- GRO-7: Quota-carrying sales reps, 2026 → 2030. Baseline 8 → 19. Growth case 9 → 23.</a:t>
            </a:r>
          </a:p>
          <a:p>
            <a:r>
              <a:t>    &lt;- GRO-8: Commercial AE quota × AAOV. Baseline 52 accounts/yr × $7,000, AAOV +3.0%. Growth case +3.5% quota, +4.0% AAOV.</a:t>
            </a:r>
          </a:p>
          <a:p>
            <a:r>
              <a:t>    &lt;- GRO-9: Municipal AE quota × price. Baseline 1,200 homes/yr × $20/mo, price +2.5%. Growth case +3.5% quota, +3.0% price.</a:t>
            </a:r>
          </a:p>
          <a:p>
            <a:r>
              <a:t>    &lt;- GRO-10: Residential AE quota × AAOV. Baseline 2,700 homes/yr × $21.31/mo, AAOV flat. Growth case +3.5% quota, +2.0% AAOV.</a:t>
            </a:r>
          </a:p>
          <a:p>
            <a:r>
              <a:t>    &lt;- GRO-11: New-rep ramp — 5 months to. Baseline 90% of quota (75% municipal). Growth case 100% of quota.</a:t>
            </a:r>
          </a:p>
          <a:p>
            <a:r>
              <a:t>    &lt;- GRO-12: Marketing and advertising spend growth. Baseline +15% in 2027, flat after. Growth case +25% in 2027, +30% / yr after.</a:t>
            </a:r>
          </a:p>
          <a:p>
            <a:r>
              <a:t>    &lt;- GRO-13: Account managers, 2030. Baseline 11 (5 commercial, 6 residential). Growth case 11 (same as baseline).</a:t>
            </a:r>
          </a:p>
          <a:p>
            <a:r>
              <a:t>    &lt;- GRO-14: Commercial upsell quota × AAOV. Baseline 52 upsells/yr × $1,885, AAOV +3.0%. Growth case +4.0% AAOV from 2028.</a:t>
            </a:r>
          </a:p>
          <a:p>
            <a:r>
              <a:t>[right[5]] FACT: Marketing on the record: +15% in 2027, flat after. Growth case: +25% in 2027, +30% / yr.</a:t>
            </a:r>
          </a:p>
          <a:p>
            <a:r>
              <a:t>    &lt;- GRO-7: Quota-carrying sales reps, 2026 → 2030. Baseline 8 → 19. Growth case 9 → 23.</a:t>
            </a:r>
          </a:p>
          <a:p>
            <a:r>
              <a:t>    &lt;- GRO-8: Commercial AE quota × AAOV. Baseline 52 accounts/yr × $7,000, AAOV +3.0%. Growth case +3.5% quota, +4.0% AAOV.</a:t>
            </a:r>
          </a:p>
          <a:p>
            <a:r>
              <a:t>    &lt;- GRO-9: Municipal AE quota × price. Baseline 1,200 homes/yr × $20/mo, price +2.5%. Growth case +3.5% quota, +3.0% price.</a:t>
            </a:r>
          </a:p>
          <a:p>
            <a:r>
              <a:t>    &lt;- GRO-10: Residential AE quota × AAOV. Baseline 2,700 homes/yr × $21.31/mo, AAOV flat. Growth case +3.5% quota, +2.0% AAOV.</a:t>
            </a:r>
          </a:p>
          <a:p>
            <a:r>
              <a:t>    &lt;- GRO-11: New-rep ramp — 5 months to. Baseline 90% of quota (75% municipal). Growth case 100% of quota.</a:t>
            </a:r>
          </a:p>
          <a:p>
            <a:r>
              <a:t>    &lt;- GRO-12: Marketing and advertising spend growth. Baseline +15% in 2027, flat after. Growth case +25% in 2027, +30% / yr after.</a:t>
            </a:r>
          </a:p>
          <a:p>
            <a:r>
              <a:t>    &lt;- GRO-13: Account managers, 2030. Baseline 11 (5 commercial, 6 residential). Growth case 11 (same as baseline).</a:t>
            </a:r>
          </a:p>
          <a:p>
            <a:r>
              <a:t>    &lt;- GRO-14: Commercial upsell quota × AAOV. Baseline 52 upsells/yr × $1,885, AAOV +3.0%. Growth case +4.0% AAOV from 2028.</a:t>
            </a:r>
          </a:p>
          <a:p/>
          <a:p>
            <a:r>
              <a:t>CALCULATIONS</a:t>
            </a:r>
          </a:p>
          <a:p>
            <a:r>
              <a:t>CALC-LOGO-QUOTA: new / quota | inputs: new=81.0 (CST-20), quota=52.0 (GRO-8) | output: 1.6 x</a:t>
            </a:r>
          </a:p>
          <a:p/>
          <a:p>
            <a:r>
              <a:t>EXCEPTIONS AFFECTING THIS SLIDE</a:t>
            </a:r>
          </a:p>
          <a:p>
            <a:r>
              <a:t>[MEDIUM] Quotas have no rep-level bookings behind them. -&gt; They are shown as the plan stated them.</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S079_l3_expand_accounts</a:t>
            </a:r>
          </a:p>
          <a:p>
            <a:r>
              <a:t>Kinds: FACT = sourced; CALC = calculated (†); VIEW = DiligenceIQ interpretation</a:t>
            </a:r>
          </a:p>
          <a:p/>
          <a:p>
            <a:r>
              <a:t>[title] INTERPRETATION: Retention by year on Commercial Summary</a:t>
            </a:r>
          </a:p>
          <a:p>
            <a:r>
              <a:t>    &lt;- CST-6: GRR 2022 (actual): 98.1%</a:t>
            </a:r>
          </a:p>
          <a:p>
            <a:r>
              <a:t>    &lt;- CST-7: GRR 2023 (actual): 85.6%</a:t>
            </a:r>
          </a:p>
          <a:p>
            <a:r>
              <a:t>    &lt;- CST-8: GRR 2024 (actual): 79.8%</a:t>
            </a:r>
          </a:p>
          <a:p>
            <a:r>
              <a:t>    &lt;- CST-9: GRR 2025 (actual): 87.3%</a:t>
            </a:r>
          </a:p>
          <a:p>
            <a:r>
              <a:t>    &lt;- CST-10: NRR 2022 (actual): 196.0%</a:t>
            </a:r>
          </a:p>
          <a:p>
            <a:r>
              <a:t>    &lt;- CST-11: NRR 2023 (actual): 124.5%</a:t>
            </a:r>
          </a:p>
          <a:p>
            <a:r>
              <a:t>    &lt;- CST-12: NRR 2024 (actual): 102.4%</a:t>
            </a:r>
          </a:p>
          <a:p>
            <a:r>
              <a:t>    &lt;- CST-13: NRR 2025 (actual): 106.6%</a:t>
            </a:r>
          </a:p>
          <a:p>
            <a:r>
              <a:t>[subtitle] INTERPRETATION: Each point is the rate stored for that year. A missing year is not interpolated.</a:t>
            </a:r>
          </a:p>
          <a:p>
            <a:r>
              <a:t>    &lt;- CST-6: GRR 2022 (actual): 98.1%</a:t>
            </a:r>
          </a:p>
          <a:p>
            <a:r>
              <a:t>    &lt;- CST-7: GRR 2023 (actual): 85.6%</a:t>
            </a:r>
          </a:p>
          <a:p>
            <a:r>
              <a:t>    &lt;- CST-8: GRR 2024 (actual): 79.8%</a:t>
            </a:r>
          </a:p>
          <a:p>
            <a:r>
              <a:t>    &lt;- CST-9: GRR 2025 (actual): 87.3%</a:t>
            </a:r>
          </a:p>
          <a:p>
            <a:r>
              <a:t>    &lt;- CST-10: NRR 2022 (actual): 196.0%</a:t>
            </a:r>
          </a:p>
          <a:p>
            <a:r>
              <a:t>    &lt;- CST-11: NRR 2023 (actual): 124.5%</a:t>
            </a:r>
          </a:p>
          <a:p>
            <a:r>
              <a:t>    &lt;- CST-12: NRR 2024 (actual): 102.4%</a:t>
            </a:r>
          </a:p>
          <a:p>
            <a:r>
              <a:t>    &lt;- CST-13: NRR 2025 (actual): 106.6%</a:t>
            </a:r>
          </a:p>
          <a:p>
            <a:r>
              <a:t>[chart] FACT: </a:t>
            </a:r>
          </a:p>
          <a:p>
            <a:r>
              <a:t>    &lt;- CST-6: GRR 2022 (actual): 98.1%</a:t>
            </a:r>
          </a:p>
          <a:p>
            <a:r>
              <a:t>    &lt;- CST-7: GRR 2023 (actual): 85.6%</a:t>
            </a:r>
          </a:p>
          <a:p>
            <a:r>
              <a:t>    &lt;- CST-8: GRR 2024 (actual): 79.8%</a:t>
            </a:r>
          </a:p>
          <a:p>
            <a:r>
              <a:t>    &lt;- CST-9: GRR 2025 (actual): 87.3%</a:t>
            </a:r>
          </a:p>
          <a:p>
            <a:r>
              <a:t>    &lt;- CST-10: NRR 2022 (actual): 196.0%</a:t>
            </a:r>
          </a:p>
          <a:p>
            <a:r>
              <a:t>    &lt;- CST-11: NRR 2023 (actual): 124.5%</a:t>
            </a:r>
          </a:p>
          <a:p>
            <a:r>
              <a:t>    &lt;- CST-12: NRR 2024 (actual): 102.4%</a:t>
            </a:r>
          </a:p>
          <a:p>
            <a:r>
              <a:t>    &lt;- CST-13: NRR 2025 (actual): 106.6%</a:t>
            </a:r>
          </a:p>
          <a:p>
            <a:r>
              <a:t>[right[1]] FACT: The chart uses the yearly rates on file.</a:t>
            </a:r>
          </a:p>
          <a:p>
            <a:r>
              <a:t>    &lt;- CST-6: GRR 2022 (actual): 98.1%</a:t>
            </a:r>
          </a:p>
          <a:p>
            <a:r>
              <a:t>    &lt;- CST-7: GRR 2023 (actual): 85.6%</a:t>
            </a:r>
          </a:p>
          <a:p>
            <a:r>
              <a:t>    &lt;- CST-8: GRR 2024 (actual): 79.8%</a:t>
            </a:r>
          </a:p>
          <a:p>
            <a:r>
              <a:t>    &lt;- CST-9: GRR 2025 (actual): 87.3%</a:t>
            </a:r>
          </a:p>
          <a:p>
            <a:r>
              <a:t>    &lt;- CST-10: NRR 2022 (actual): 196.0%</a:t>
            </a:r>
          </a:p>
          <a:p>
            <a:r>
              <a:t>    &lt;- CST-11: NRR 2023 (actual): 124.5%</a:t>
            </a:r>
          </a:p>
          <a:p>
            <a:r>
              <a:t>    &lt;- CST-12: NRR 2024 (actual): 102.4%</a:t>
            </a:r>
          </a:p>
          <a:p>
            <a:r>
              <a:t>    &lt;- CST-13: NRR 2025 (actual): 106.6%</a:t>
            </a:r>
          </a:p>
          <a:p>
            <a:r>
              <a:t>[right[2]] FACT: Plan years are not added to this curve.</a:t>
            </a:r>
          </a:p>
          <a:p>
            <a:r>
              <a:t>    &lt;- CST-6: GRR 2022 (actual): 98.1%</a:t>
            </a:r>
          </a:p>
          <a:p>
            <a:r>
              <a:t>    &lt;- CST-7: GRR 2023 (actual): 85.6%</a:t>
            </a:r>
          </a:p>
          <a:p>
            <a:r>
              <a:t>    &lt;- CST-8: GRR 2024 (actual): 79.8%</a:t>
            </a:r>
          </a:p>
          <a:p>
            <a:r>
              <a:t>    &lt;- CST-9: GRR 2025 (actual): 87.3%</a:t>
            </a:r>
          </a:p>
          <a:p>
            <a:r>
              <a:t>    &lt;- CST-10: NRR 2022 (actual): 196.0%</a:t>
            </a:r>
          </a:p>
          <a:p>
            <a:r>
              <a:t>    &lt;- CST-11: NRR 2023 (actual): 124.5%</a:t>
            </a:r>
          </a:p>
          <a:p>
            <a:r>
              <a:t>    &lt;- CST-12: NRR 2024 (actual): 102.4%</a:t>
            </a:r>
          </a:p>
          <a:p>
            <a:r>
              <a:t>    &lt;- CST-13: NRR 2025 (actual): 106.6%</a:t>
            </a:r>
          </a:p>
          <a:p/>
          <a:p>
            <a:r>
              <a:t>CALCULATIONS</a:t>
            </a:r>
          </a:p>
          <a:p>
            <a:r>
              <a:t>CALC-NRR-GRR: nrr - grr | inputs: nrr=106.6 (CST-13), grr=87.3 (CST-9) | output: 19.3 pp</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S081_l5_adjacent_segments</a:t>
            </a:r>
          </a:p>
          <a:p>
            <a:r>
              <a:t>Kinds: FACT = sourced; CALC = calculated (†); VIEW = DiligenceIQ interpretation</a:t>
            </a:r>
          </a:p>
          <a:p/>
          <a:p>
            <a:r>
              <a:t>[title] INTERPRETATION: Arlington 22201 scores 6.18, ahead of the Montgomery zips on this page</a:t>
            </a:r>
          </a:p>
          <a:p>
            <a:r>
              <a:t>    &lt;- GRO-V94-R1: 1 | City: ROCKVILLE | County: MONTGOMERY | Zip: 20852 | Score (0-10): 5.88</a:t>
            </a:r>
          </a:p>
          <a:p>
            <a:r>
              <a:t>    &lt;- GRO-V94-R2: 2 | City: ROCKVILLE | County: MONTGOMERY | Zip: 20850 | Score (0-10): 5.81</a:t>
            </a:r>
          </a:p>
          <a:p>
            <a:r>
              <a:t>    &lt;- GRO-V94-R3: 3 | City: BETHESDA | County: MONTGOMERY | Zip: 20814 | Score (0-10): 5.48</a:t>
            </a:r>
          </a:p>
          <a:p>
            <a:r>
              <a:t>    &lt;- GRO-V94-R4: 4 | City: SILVER SPRING | County: MONTGOMERY | Zip: 20910 | Score (0-10): 5.27</a:t>
            </a:r>
          </a:p>
          <a:p>
            <a:r>
              <a:t>    &lt;- GRO-V97-R1: ARLINGTON | County: ARLINGTON | Zip: 22201 | Score (0-10): 6.18</a:t>
            </a:r>
          </a:p>
          <a:p>
            <a:r>
              <a:t>    &lt;- GRO-V97-R2: FAIRFAX | County: FAIRFAX CITY | Zip: 22030 | Score (0-10): 5.52</a:t>
            </a:r>
          </a:p>
          <a:p>
            <a:r>
              <a:t>    &lt;- GRO-V97-R3: ARLINGTON | County: ARLINGTON | Zip: 22203 | Score (0-10): 5.10</a:t>
            </a:r>
          </a:p>
          <a:p>
            <a:r>
              <a:t>    &lt;- GRO-V97-R4: ARLINGTON | County: ARLINGTON | Zip: 22209 | Score (0-10): 5.01</a:t>
            </a:r>
          </a:p>
          <a:p>
            <a:r>
              <a:t>[subtitle] INTERPRETATION: Maryland is the summary ranking. Northern Virginia is the ranking block on the same workbook.</a:t>
            </a:r>
          </a:p>
          <a:p>
            <a:r>
              <a:t>    &lt;- GRO-V94-R1: 1 | City: ROCKVILLE | County: MONTGOMERY | Zip: 20852 | Score (0-10): 5.88</a:t>
            </a:r>
          </a:p>
          <a:p>
            <a:r>
              <a:t>    &lt;- GRO-V94-R2: 2 | City: ROCKVILLE | County: MONTGOMERY | Zip: 20850 | Score (0-10): 5.81</a:t>
            </a:r>
          </a:p>
          <a:p>
            <a:r>
              <a:t>    &lt;- GRO-V94-R3: 3 | City: BETHESDA | County: MONTGOMERY | Zip: 20814 | Score (0-10): 5.48</a:t>
            </a:r>
          </a:p>
          <a:p>
            <a:r>
              <a:t>    &lt;- GRO-V94-R4: 4 | City: SILVER SPRING | County: MONTGOMERY | Zip: 20910 | Score (0-10): 5.27</a:t>
            </a:r>
          </a:p>
          <a:p>
            <a:r>
              <a:t>    &lt;- GRO-V97-R1: ARLINGTON | County: ARLINGTON | Zip: 22201 | Score (0-10): 6.18</a:t>
            </a:r>
          </a:p>
          <a:p>
            <a:r>
              <a:t>    &lt;- GRO-V97-R2: FAIRFAX | County: FAIRFAX CITY | Zip: 22030 | Score (0-10): 5.52</a:t>
            </a:r>
          </a:p>
          <a:p>
            <a:r>
              <a:t>    &lt;- GRO-V97-R3: ARLINGTON | County: ARLINGTON | Zip: 22203 | Score (0-10): 5.10</a:t>
            </a:r>
          </a:p>
          <a:p>
            <a:r>
              <a:t>    &lt;- GRO-V97-R4: ARLINGTON | County: ARLINGTON | Zip: 22209 | Score (0-10): 5.01</a:t>
            </a:r>
          </a:p>
          <a:p>
            <a:r>
              <a:t>[table row 1] refs: GRO-V94-R1, GRO-V94-R2, GRO-V94-R3, GRO-V94-R4, GRO-V97-R1, GRO-V97-R2, GRO-V97-R3, GRO-V97-R4</a:t>
            </a:r>
          </a:p>
          <a:p>
            <a:r>
              <a:t>[table row 2] refs: GRO-V94-R1, GRO-V94-R2, GRO-V94-R3, GRO-V94-R4, GRO-V97-R1, GRO-V97-R2, GRO-V97-R3, GRO-V97-R4</a:t>
            </a:r>
          </a:p>
          <a:p>
            <a:r>
              <a:t>[table row 3] refs: GRO-V94-R1, GRO-V94-R2, GRO-V94-R3, GRO-V94-R4, GRO-V97-R1, GRO-V97-R2, GRO-V97-R3, GRO-V97-R4</a:t>
            </a:r>
          </a:p>
          <a:p>
            <a:r>
              <a:t>[table row 4] refs: GRO-V94-R1, GRO-V94-R2, GRO-V94-R3, GRO-V94-R4, GRO-V97-R1, GRO-V97-R2, GRO-V97-R3, GRO-V97-R4</a:t>
            </a:r>
          </a:p>
          <a:p>
            <a:r>
              <a:t>[table row 5] refs: GRO-V94-R1, GRO-V94-R2, GRO-V94-R3, GRO-V94-R4, GRO-V97-R1, GRO-V97-R2, GRO-V97-R3, GRO-V97-R4</a:t>
            </a:r>
          </a:p>
          <a:p>
            <a:r>
              <a:t>[table row 6] refs: GRO-V94-R1, GRO-V94-R2, GRO-V94-R3, GRO-V94-R4, GRO-V97-R1, GRO-V97-R2, GRO-V97-R3, GRO-V97-R4</a:t>
            </a:r>
          </a:p>
          <a:p>
            <a:r>
              <a:t>[table row 7] refs: GRO-V94-R1, GRO-V94-R2, GRO-V94-R3, GRO-V94-R4, GRO-V97-R1, GRO-V97-R2, GRO-V97-R3, GRO-V97-R4</a:t>
            </a:r>
          </a:p>
          <a:p>
            <a:r>
              <a:t>[table row 8] refs: GRO-V94-R1, GRO-V94-R2, GRO-V94-R3, GRO-V94-R4, GRO-V97-R1, GRO-V97-R2, GRO-V97-R3, GRO-V97-R4</a:t>
            </a:r>
          </a:p>
          <a:p>
            <a:r>
              <a:t>[takeaway] FACT: A score ranks where to go. It is not a revenue figure.</a:t>
            </a:r>
          </a:p>
          <a:p>
            <a:r>
              <a:t>    &lt;- GRO-V94-R1: 1 | City: ROCKVILLE | County: MONTGOMERY | Zip: 20852 | Score (0-10): 5.88</a:t>
            </a:r>
          </a:p>
          <a:p>
            <a:r>
              <a:t>    &lt;- GRO-V94-R2: 2 | City: ROCKVILLE | County: MONTGOMERY | Zip: 20850 | Score (0-10): 5.81</a:t>
            </a:r>
          </a:p>
          <a:p>
            <a:r>
              <a:t>    &lt;- GRO-V94-R3: 3 | City: BETHESDA | County: MONTGOMERY | Zip: 20814 | Score (0-10): 5.48</a:t>
            </a:r>
          </a:p>
          <a:p>
            <a:r>
              <a:t>    &lt;- GRO-V94-R4: 4 | City: SILVER SPRING | County: MONTGOMERY | Zip: 20910 | Score (0-10): 5.27</a:t>
            </a:r>
          </a:p>
          <a:p>
            <a:r>
              <a:t>    &lt;- GRO-V97-R1: ARLINGTON | County: ARLINGTON | Zip: 22201 | Score (0-10): 6.18</a:t>
            </a:r>
          </a:p>
          <a:p>
            <a:r>
              <a:t>    &lt;- GRO-V97-R2: FAIRFAX | County: FAIRFAX CITY | Zip: 22030 | Score (0-10): 5.52</a:t>
            </a:r>
          </a:p>
          <a:p>
            <a:r>
              <a:t>    &lt;- GRO-V97-R3: ARLINGTON | County: ARLINGTON | Zip: 22203 | Score (0-10): 5.10</a:t>
            </a:r>
          </a:p>
          <a:p>
            <a:r>
              <a:t>    &lt;- GRO-V97-R4: ARLINGTON | County: ARLINGTON | Zip: 22209 | Score (0-10): 5.01</a:t>
            </a:r>
          </a:p>
          <a:p/>
          <a:p>
            <a:r>
              <a:t>EXCEPTIONS AFFECTING THIS SLIDE</a:t>
            </a:r>
          </a:p>
          <a:p>
            <a:r>
              <a:t>[MEDIUM] ZIP scores have no revenue attached. -&gt; They are not converted into a market figure.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S082_l6_product_expansion</a:t>
            </a:r>
          </a:p>
          <a:p>
            <a:r>
              <a:t>Kinds: FACT = sourced; CALC = calculated (†); VIEW = DiligenceIQ interpretation</a:t>
            </a:r>
          </a:p>
          <a:p/>
          <a:p>
            <a:r>
              <a:t>[title] INTERPRETATION: Utica and Key Compostables are 5.2% of 2025 workbook revenue and 9.7% of the 2030 plan</a:t>
            </a:r>
          </a:p>
          <a:p>
            <a:r>
              <a:t>    &lt;- RVQ-V91-R5: Utica | 2023: $0.00M | 2024: $0.00M | 2025: $0.00M | 2026P: $0.00M | 2027P: $0.57M | 2028P: $1.64M | 2029P: $1.64M | 2030P: $1.64M | 2025 Mix: 0.0%</a:t>
            </a:r>
          </a:p>
          <a:p>
            <a:r>
              <a:t>    &lt;- RVQ-V91-R6: Key Compostables | 2023: $0.00M | 2024: $0.31M | 2025: $0.69M | 2026P: $0.92M | 2027P: $1.38M | 2028P: $1.96M | 2029P: $2.42M | 2030P: $3.24M | 2025 Mix: 5.2%</a:t>
            </a:r>
          </a:p>
          <a:p>
            <a:r>
              <a:t>    &lt;- RVQ-V91-R7: Compost &amp; products | 2023: $0.01M | 2024: $0.25M | 2025: $0.18M | 2026P: $0.13M | 2027P: $0.51M | 2028P: $0.68M | 2029P: $0.85M | 2030P: $1.01M | 2025 Mix: 1.4%</a:t>
            </a:r>
          </a:p>
          <a:p>
            <a:r>
              <a:t>    &lt;- HPF-V91-R1: Revenue | 2023: $7.53M | 2024: $11.74M | 2025: $13.28M | 2026P: $14.30M | 2027P: $18.07M | 2028P: $24.48M | 2029P: $36.01M | 2030P: $50.17M | '25-'30 CAGR: 30.4</a:t>
            </a:r>
          </a:p>
          <a:p>
            <a:r>
              <a:t>[subtitle] INTERPRETATION: Each amount is the segment sheet. The shares use workbook revenue for the same year.</a:t>
            </a:r>
          </a:p>
          <a:p>
            <a:r>
              <a:t>    &lt;- RVQ-V91-R5: Utica | 2023: $0.00M | 2024: $0.00M | 2025: $0.00M | 2026P: $0.00M | 2027P: $0.57M | 2028P: $1.64M | 2029P: $1.64M | 2030P: $1.64M | 2025 Mix: 0.0%</a:t>
            </a:r>
          </a:p>
          <a:p>
            <a:r>
              <a:t>    &lt;- RVQ-V91-R6: Key Compostables | 2023: $0.00M | 2024: $0.31M | 2025: $0.69M | 2026P: $0.92M | 2027P: $1.38M | 2028P: $1.96M | 2029P: $2.42M | 2030P: $3.24M | 2025 Mix: 5.2%</a:t>
            </a:r>
          </a:p>
          <a:p>
            <a:r>
              <a:t>    &lt;- RVQ-V91-R7: Compost &amp; products | 2023: $0.01M | 2024: $0.25M | 2025: $0.18M | 2026P: $0.13M | 2027P: $0.51M | 2028P: $0.68M | 2029P: $0.85M | 2030P: $1.01M | 2025 Mix: 1.4%</a:t>
            </a:r>
          </a:p>
          <a:p>
            <a:r>
              <a:t>    &lt;- HPF-V91-R1: Revenue | 2023: $7.53M | 2024: $11.74M | 2025: $13.28M | 2026P: $14.30M | 2027P: $18.07M | 2028P: $24.48M | 2029P: $36.01M | 2030P: $50.17M | '25-'30 CAGR: 30.4</a:t>
            </a:r>
          </a:p>
          <a:p>
            <a:r>
              <a:t>[left row 1] refs: RVQ-V91-R5, RVQ-V91-R6, RVQ-V91-R7, HPF-V91-R1</a:t>
            </a:r>
          </a:p>
          <a:p>
            <a:r>
              <a:t>[left row 2] refs: RVQ-V91-R5, RVQ-V91-R6, RVQ-V91-R7, HPF-V91-R1</a:t>
            </a:r>
          </a:p>
          <a:p>
            <a:r>
              <a:t>[left row 3] refs: RVQ-V91-R5, RVQ-V91-R6, RVQ-V91-R7, HPF-V91-R1</a:t>
            </a:r>
          </a:p>
          <a:p>
            <a:r>
              <a:t>[right[1]] FACT: Utica is zero in 2025 on this sheet. Its plan amount is not a result.</a:t>
            </a:r>
          </a:p>
          <a:p>
            <a:r>
              <a:t>    &lt;- RVQ-V91-R5: Utica | 2023: $0.00M | 2024: $0.00M | 2025: $0.00M | 2026P: $0.00M | 2027P: $0.57M | 2028P: $1.64M | 2029P: $1.64M | 2030P: $1.64M | 2025 Mix: 0.0%</a:t>
            </a:r>
          </a:p>
          <a:p>
            <a:r>
              <a:t>    &lt;- RVQ-V91-R6: Key Compostables | 2023: $0.00M | 2024: $0.31M | 2025: $0.69M | 2026P: $0.92M | 2027P: $1.38M | 2028P: $1.96M | 2029P: $2.42M | 2030P: $3.24M | 2025 Mix: 5.2%</a:t>
            </a:r>
          </a:p>
          <a:p>
            <a:r>
              <a:t>    &lt;- RVQ-V91-R7: Compost &amp; products | 2023: $0.01M | 2024: $0.25M | 2025: $0.18M | 2026P: $0.13M | 2027P: $0.51M | 2028P: $0.68M | 2029P: $0.85M | 2030P: $1.01M | 2025 Mix: 1.4%</a:t>
            </a:r>
          </a:p>
          <a:p>
            <a:r>
              <a:t>    &lt;- HPF-V91-R1: Revenue | 2023: $7.53M | 2024: $11.74M | 2025: $13.28M | 2026P: $14.30M | 2027P: $18.07M | 2028P: $24.48M | 2029P: $36.01M | 2030P: $50.17M | '25-'30 CAGR: 30.4</a:t>
            </a:r>
          </a:p>
          <a:p>
            <a:r>
              <a:t>[right[2]] FACT: A permit and a grant are not a facility profit and loss.</a:t>
            </a:r>
          </a:p>
          <a:p>
            <a:r>
              <a:t>    &lt;- RVQ-V91-R5: Utica | 2023: $0.00M | 2024: $0.00M | 2025: $0.00M | 2026P: $0.00M | 2027P: $0.57M | 2028P: $1.64M | 2029P: $1.64M | 2030P: $1.64M | 2025 Mix: 0.0%</a:t>
            </a:r>
          </a:p>
          <a:p>
            <a:r>
              <a:t>    &lt;- RVQ-V91-R6: Key Compostables | 2023: $0.00M | 2024: $0.31M | 2025: $0.69M | 2026P: $0.92M | 2027P: $1.38M | 2028P: $1.96M | 2029P: $2.42M | 2030P: $3.24M | 2025 Mix: 5.2%</a:t>
            </a:r>
          </a:p>
          <a:p>
            <a:r>
              <a:t>    &lt;- RVQ-V91-R7: Compost &amp; products | 2023: $0.01M | 2024: $0.25M | 2025: $0.18M | 2026P: $0.13M | 2027P: $0.51M | 2028P: $0.68M | 2029P: $0.85M | 2030P: $1.01M | 2025 Mix: 1.4%</a:t>
            </a:r>
          </a:p>
          <a:p>
            <a:r>
              <a:t>    &lt;- HPF-V91-R1: Revenue | 2023: $7.53M | 2024: $11.74M | 2025: $13.28M | 2026P: $14.30M | 2027P: $18.07M | 2028P: $24.48M | 2029P: $36.01M | 2030P: $50.17M | '25-'30 CAGR: 30.4</a:t>
            </a:r>
          </a:p>
          <a:p/>
          <a:p>
            <a:r>
              <a:t>CALCULATIONS</a:t>
            </a:r>
          </a:p>
          <a:p>
            <a:r>
              <a:t>CALC-SEGMENT-NOW: (utica + key) / revenue * 100 | inputs: utica=0.0 (RVQ-V91-R5), key=0.69 (RVQ-V91-R6), revenue=13.28 (HPF-V91-R1) | output: 5.2 %</a:t>
            </a:r>
          </a:p>
          <a:p>
            <a:r>
              <a:t>CALC-SEGMENT-PLAN: (utica + key) / revenue * 100 | inputs: utica=1.64 (RVQ-V91-R5), key=3.24 (RVQ-V91-R6), revenue=50.17 (HPF-V91-R1) | output: 9.7 %</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S083_l7_ma</a:t>
            </a:r>
          </a:p>
          <a:p>
            <a:r>
              <a:t>Kinds: FACT = sourced; CALC = calculated (†); VIEW = DiligenceIQ interpretation</a:t>
            </a:r>
          </a:p>
          <a:p/>
          <a:p>
            <a:r>
              <a:t>[title] INTERPRETATION: The stated 1.5 million EBITDA effect exceeds the 0.59 million implied by the price and multiple.</a:t>
            </a:r>
          </a:p>
          <a:p>
            <a:r>
              <a:t>    &lt;- SYN-7: Acquisition Fat Worm Compost. Status Closed (2018). ~$250K commercial ARR. Deepened density in existing footprint.</a:t>
            </a:r>
          </a:p>
          <a:p>
            <a:r>
              <a:t>    &lt;- SYN-8: Acquisition WB Waste. Status Closed (2023). ~$300K commercial ARR. Acquired contracts to build route density.</a:t>
            </a:r>
          </a:p>
          <a:p>
            <a:r>
              <a:t>    &lt;- SYN-9: Acquisition Key City Compost. Status Closed (2024). Frederick curbside, KeyCompostables, Utica rights. Expanded geography + capabilities.</a:t>
            </a:r>
          </a:p>
          <a:p>
            <a:r>
              <a:t>    &lt;- SYN-10: Acquisition Target A. Status Active Discussion. ~$2M ARR, DC-based. Deepens density and adds certified business enterprise status.</a:t>
            </a:r>
          </a:p>
          <a:p>
            <a:r>
              <a:t>    &lt;- SYN-11: Acquisition Target B. Status Initial Discussion. Processing expansion opportunity in VA</a:t>
            </a:r>
          </a:p>
          <a:p>
            <a:r>
              <a:t>    &lt;- SYN-12: Acquisition Target C. Status Minority Investment. ~$1M ARR in SE PA / Philly. Potential geographic expansion platform. ROFR in place.</a:t>
            </a:r>
          </a:p>
          <a:p>
            <a:r>
              <a:t>    &lt;- SYN-13: Acquisition Target D. Status Initial Discussion. Eastern Shore operator. Potential geographic expansion platform.</a:t>
            </a:r>
          </a:p>
          <a:p>
            <a:r>
              <a:t>    &lt;- SYN-14: 31 ACQUISITION SPOTLIGHT: AGRICITY (Target A) About Agricity Our DC delivery partner ~$2.8M revenue today Services 40% of DC contract collections, ~36% of contr</a:t>
            </a:r>
          </a:p>
          <a:p>
            <a:r>
              <a:t>    &lt;- SYN-16: CIM purchase price $3.0M at 5.1x. Stated EBITDA effect $1.5M. Cash $1.3 million. Note $500k. Equity 6%. Warrant potential 2.4%. In-sourced margin $1.0M a year.</a:t>
            </a:r>
          </a:p>
          <a:p>
            <a:r>
              <a:t>[subtitle] INTERPRETATION: Implied earnings are the stated price divided by the stated multiple.</a:t>
            </a:r>
          </a:p>
          <a:p>
            <a:r>
              <a:t>    &lt;- SYN-7: Acquisition Fat Worm Compost. Status Closed (2018). ~$250K commercial ARR. Deepened density in existing footprint.</a:t>
            </a:r>
          </a:p>
          <a:p>
            <a:r>
              <a:t>    &lt;- SYN-8: Acquisition WB Waste. Status Closed (2023). ~$300K commercial ARR. Acquired contracts to build route density.</a:t>
            </a:r>
          </a:p>
          <a:p>
            <a:r>
              <a:t>    &lt;- SYN-9: Acquisition Key City Compost. Status Closed (2024). Frederick curbside, KeyCompostables, Utica rights. Expanded geography + capabilities.</a:t>
            </a:r>
          </a:p>
          <a:p>
            <a:r>
              <a:t>    &lt;- SYN-10: Acquisition Target A. Status Active Discussion. ~$2M ARR, DC-based. Deepens density and adds certified business enterprise status.</a:t>
            </a:r>
          </a:p>
          <a:p>
            <a:r>
              <a:t>    &lt;- SYN-11: Acquisition Target B. Status Initial Discussion. Processing expansion opportunity in VA</a:t>
            </a:r>
          </a:p>
          <a:p>
            <a:r>
              <a:t>    &lt;- SYN-12: Acquisition Target C. Status Minority Investment. ~$1M ARR in SE PA / Philly. Potential geographic expansion platform. ROFR in place.</a:t>
            </a:r>
          </a:p>
          <a:p>
            <a:r>
              <a:t>    &lt;- SYN-13: Acquisition Target D. Status Initial Discussion. Eastern Shore operator. Potential geographic expansion platform.</a:t>
            </a:r>
          </a:p>
          <a:p>
            <a:r>
              <a:t>    &lt;- SYN-14: 31 ACQUISITION SPOTLIGHT: AGRICITY (Target A) About Agricity Our DC delivery partner ~$2.8M revenue today Services 40% of DC contract collections, ~36% of contr</a:t>
            </a:r>
          </a:p>
          <a:p>
            <a:r>
              <a:t>    &lt;- SYN-16: CIM purchase price $3.0M at 5.1x. Stated EBITDA effect $1.5M. Cash $1.3 million. Note $500k. Equity 6%. Warrant potential 2.4%. In-sourced margin $1.0M a year.</a:t>
            </a:r>
          </a:p>
          <a:p>
            <a:r>
              <a:t>[table row 1] refs: SYN-7, SYN-8, SYN-9, SYN-10, SYN-11, SYN-12, SYN-13, SYN-14, SYN-16</a:t>
            </a:r>
          </a:p>
          <a:p>
            <a:r>
              <a:t>[table row 2] refs: SYN-7, SYN-8, SYN-9, SYN-10, SYN-11, SYN-12, SYN-13, SYN-14, SYN-16</a:t>
            </a:r>
          </a:p>
          <a:p>
            <a:r>
              <a:t>[table row 3] refs: SYN-7, SYN-8, SYN-9, SYN-10, SYN-11, SYN-12, SYN-13, SYN-14, SYN-16</a:t>
            </a:r>
          </a:p>
          <a:p>
            <a:r>
              <a:t>[table row 4] refs: SYN-7, SYN-8, SYN-9, SYN-10, SYN-11, SYN-12, SYN-13, SYN-14, SYN-16</a:t>
            </a:r>
          </a:p>
          <a:p>
            <a:r>
              <a:t>[table row 5] refs: SYN-7, SYN-8, SYN-9, SYN-10, SYN-11, SYN-12, SYN-13, SYN-14, SYN-16</a:t>
            </a:r>
          </a:p>
          <a:p>
            <a:r>
              <a:t>[table row 6] refs: SYN-7, SYN-8, SYN-9, SYN-10, SYN-11, SYN-12, SYN-13, SYN-14, SYN-16</a:t>
            </a:r>
          </a:p>
          <a:p>
            <a:r>
              <a:t>[table row 7] refs: SYN-7, SYN-8, SYN-9, SYN-10, SYN-11, SYN-12, SYN-13, SYN-14, SYN-16</a:t>
            </a:r>
          </a:p>
          <a:p>
            <a:r>
              <a:t>[table row 8] refs: SYN-7, SYN-8, SYN-9, SYN-10, SYN-11, SYN-12, SYN-13, SYN-14, SYN-16</a:t>
            </a:r>
          </a:p>
          <a:p>
            <a:r>
              <a:t>[table row 9] refs: SYN-7, SYN-8, SYN-9, SYN-10, SYN-11, SYN-12, SYN-13, SYN-14, SYN-16</a:t>
            </a:r>
          </a:p>
          <a:p>
            <a:r>
              <a:t>[takeaway] FACT: Implied earnings are 0.59 million. Stated EBITDA effect minus that figure is 0.91 million. The CIM also states 1.0 million a year of in-sour</a:t>
            </a:r>
          </a:p>
          <a:p>
            <a:r>
              <a:t>    &lt;- SYN-7: Acquisition Fat Worm Compost. Status Closed (2018). ~$250K commercial ARR. Deepened density in existing footprint.</a:t>
            </a:r>
          </a:p>
          <a:p>
            <a:r>
              <a:t>    &lt;- SYN-8: Acquisition WB Waste. Status Closed (2023). ~$300K commercial ARR. Acquired contracts to build route density.</a:t>
            </a:r>
          </a:p>
          <a:p>
            <a:r>
              <a:t>    &lt;- SYN-9: Acquisition Key City Compost. Status Closed (2024). Frederick curbside, KeyCompostables, Utica rights. Expanded geography + capabilities.</a:t>
            </a:r>
          </a:p>
          <a:p>
            <a:r>
              <a:t>    &lt;- SYN-10: Acquisition Target A. Status Active Discussion. ~$2M ARR, DC-based. Deepens density and adds certified business enterprise status.</a:t>
            </a:r>
          </a:p>
          <a:p>
            <a:r>
              <a:t>    &lt;- SYN-11: Acquisition Target B. Status Initial Discussion. Processing expansion opportunity in VA</a:t>
            </a:r>
          </a:p>
          <a:p>
            <a:r>
              <a:t>    &lt;- SYN-12: Acquisition Target C. Status Minority Investment. ~$1M ARR in SE PA / Philly. Potential geographic expansion platform. ROFR in place.</a:t>
            </a:r>
          </a:p>
          <a:p>
            <a:r>
              <a:t>    &lt;- SYN-13: Acquisition Target D. Status Initial Discussion. Eastern Shore operator. Potential geographic expansion platform.</a:t>
            </a:r>
          </a:p>
          <a:p>
            <a:r>
              <a:t>    &lt;- SYN-14: 31 ACQUISITION SPOTLIGHT: AGRICITY (Target A) About Agricity Our DC delivery partner ~$2.8M revenue today Services 40% of DC contract collections, ~36% of contr</a:t>
            </a:r>
          </a:p>
          <a:p>
            <a:r>
              <a:t>    &lt;- SYN-16: CIM purchase price $3.0M at 5.1x. Stated EBITDA effect $1.5M. Cash $1.3 million. Note $500k. Equity 6%. Warrant potential 2.4%. In-sourced margin $1.0M a year.</a:t>
            </a:r>
          </a:p>
          <a:p/>
          <a:p>
            <a:r>
              <a:t>CALCULATIONS</a:t>
            </a:r>
          </a:p>
          <a:p>
            <a:r>
              <a:t>CALC-DEAL-EBITDA-Spotlight: price / multiple | inputs: price=3.0 (SYN-16), multiple=5.1 (SYN-16) | output: 0.59 $M</a:t>
            </a:r>
          </a:p>
          <a:p>
            <a:r>
              <a:t>CALC-DEAL-RESIDUAL-Spotlight: stated - implied | inputs: stated=1.5 (SYN-16), implied=0.59 (CALC) | output: 0.91 $M</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S088_div_appx_sizing   (blueprint slide 88 - Appendix B - Market Sizing Methodology)</a:t>
            </a:r>
          </a:p>
          <a:p>
            <a:r>
              <a:t>WORKING TITLE   Section Divider — Appendix B</a:t>
            </a:r>
          </a:p>
          <a:p>
            <a:r>
              <a:t>PURPOSE         Re-show the appendix divider with Market Sizing Methodology highlighted.</a:t>
            </a:r>
          </a:p>
          <a:p/>
          <a:p>
            <a:r>
              <a:t>WHAT THIS SLIDE MUST CONTAIN</a:t>
            </a:r>
          </a:p>
          <a:p>
            <a:r>
              <a:t>  - Lettered appendix list with part B highlighted as current.</a:t>
            </a:r>
          </a:p>
          <a:p>
            <a:r>
              <a:t>  - Standard divider branding.</a:t>
            </a:r>
          </a:p>
          <a:p/>
          <a:p>
            <a:r>
              <a:t>SOURCES         Deck template.</a:t>
            </a:r>
          </a:p>
          <a:p>
            <a:r>
              <a:t>ANALYSIS        None.</a:t>
            </a:r>
          </a:p>
          <a:p>
            <a:r>
              <a:t>EXHIBIT         Branded divider with appendix list, current part emphasised.  (form: divider)</a:t>
            </a:r>
          </a:p>
          <a:p>
            <a:r>
              <a:t>QUALITY BAR     Highlight state matches the reader's position.</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S089_sizing_method_core</a:t>
            </a:r>
          </a:p>
          <a:p>
            <a:r>
              <a:t>Kinds: FACT = sourced; CALC = calculated (†); VIEW = DiligenceIQ interpretation</a:t>
            </a:r>
          </a:p>
          <a:p/>
          <a:p>
            <a:r>
              <a:t>[title] INTERPRETATION: How the Compost Crew sizing was built, from the current-territory workbook</a:t>
            </a:r>
          </a:p>
          <a:p>
            <a:r>
              <a:t>    &lt;- MVG-V90-R1: Logistics (Hauling) | Service territory: Current | Assumptions: 1,661,465 single-family homes × $300 ASP → TAM; 30% participation (500K homes) → SAM; 30% share </a:t>
            </a:r>
          </a:p>
          <a:p>
            <a:r>
              <a:t>    &lt;- MVG-V90-R9: Logistics (Hauling) [Commercial TAM - SAM - SOM] | Service territory: Current | Assumptions: 89,653 businesses × $7462 ARR → TAM; 30% participation (27K busines</a:t>
            </a:r>
          </a:p>
          <a:p>
            <a:r>
              <a:t>[subtitle] INTERPRETATION: Each line is the market model's stated count, price and participation.</a:t>
            </a:r>
          </a:p>
          <a:p>
            <a:r>
              <a:t>    &lt;- MVG-V90-R1: Logistics (Hauling) | Service territory: Current | Assumptions: 1,661,465 single-family homes × $300 ASP → TAM; 30% participation (500K homes) → SAM; 30% share </a:t>
            </a:r>
          </a:p>
          <a:p>
            <a:r>
              <a:t>    &lt;- MVG-V90-R9: Logistics (Hauling) [Commercial TAM - SAM - SOM] | Service territory: Current | Assumptions: 89,653 businesses × $7462 ARR → TAM; 30% participation (27K busines</a:t>
            </a:r>
          </a:p>
          <a:p>
            <a:r>
              <a:t>[flow row 1] refs: MVG-V90-R1, MVG-V90-R9</a:t>
            </a:r>
          </a:p>
          <a:p>
            <a:r>
              <a:t>[flow row 2] refs: MVG-V90-R1, MVG-V90-R9</a:t>
            </a:r>
          </a:p>
          <a:p>
            <a:r>
              <a:t>[right[1]] FACT: These steps are read from the market workbook. A securities ledger is not a customer count.</a:t>
            </a:r>
          </a:p>
          <a:p>
            <a:r>
              <a:t>    &lt;- MVG-V90-R1: Logistics (Hauling) | Service territory: Current | Assumptions: 1,661,465 single-family homes × $300 ASP → TAM; 30% participation (500K homes) → SAM; 30% share </a:t>
            </a:r>
          </a:p>
          <a:p>
            <a:r>
              <a:t>    &lt;- MVG-V90-R9: Logistics (Hauling) [Commercial TAM - SAM - SOM] | Service territory: Current | Assumptions: 89,653 businesses × $7462 ARR → TAM; 30% participation (27K busines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S090_sizing_method_adjacent</a:t>
            </a:r>
          </a:p>
          <a:p>
            <a:r>
              <a:t>Kinds: FACT = sourced; CALC = calculated (†); VIEW = DiligenceIQ interpretation</a:t>
            </a:r>
          </a:p>
          <a:p/>
          <a:p>
            <a:r>
              <a:t>[title] INTERPRETATION: Adjacent lines for Compost Crew are sized in the same workbook</a:t>
            </a:r>
          </a:p>
          <a:p>
            <a:r>
              <a:t>    &lt;- MVG-V90-R3: Compost Sales &amp; Soil Amendments | Service territory: Current | Assumptions: 1,661,465 homes × 0.5 cyds/home × $93 ASP (bagged) → 830K cy → TAM; 30% participatio</a:t>
            </a:r>
          </a:p>
          <a:p>
            <a:r>
              <a:t>    &lt;- MVG-V90-R5: KeyCompostables | Service territory: Current | Assumptions: 1,661,465 homes × $84 AOV × 1.1 orders/year → 1.8M orders → TAM; 30% participation (540K orders) → S</a:t>
            </a:r>
          </a:p>
          <a:p>
            <a:r>
              <a:t>    &lt;- MVG-V90-R11: Compost Sales &amp; Soil Amendments [Commercial TAM - SAM - SOM] | Service territory: Current | Assumptions: 89,653 businesses x 10 cyds/business × $45 ASP (bulk) →</a:t>
            </a:r>
          </a:p>
          <a:p>
            <a:r>
              <a:t>    &lt;- MVG-V90-R13: KeyCompostables [Commercial TAM - SAM - SOM] | Service territory: Current | Assumptions: 89,653 businesses × $410 AOV × 3 orders/year → TAM; 30% participation →</a:t>
            </a:r>
          </a:p>
          <a:p>
            <a:r>
              <a:t>[subtitle] INTERPRETATION: Product lines sit beside the core collection build. Each keeps the basis the workbook stated.</a:t>
            </a:r>
          </a:p>
          <a:p>
            <a:r>
              <a:t>    &lt;- MVG-V90-R3: Compost Sales &amp; Soil Amendments | Service territory: Current | Assumptions: 1,661,465 homes × 0.5 cyds/home × $93 ASP (bagged) → 830K cy → TAM; 30% participatio</a:t>
            </a:r>
          </a:p>
          <a:p>
            <a:r>
              <a:t>    &lt;- MVG-V90-R5: KeyCompostables | Service territory: Current | Assumptions: 1,661,465 homes × $84 AOV × 1.1 orders/year → 1.8M orders → TAM; 30% participation (540K orders) → S</a:t>
            </a:r>
          </a:p>
          <a:p>
            <a:r>
              <a:t>    &lt;- MVG-V90-R11: Compost Sales &amp; Soil Amendments [Commercial TAM - SAM - SOM] | Service territory: Current | Assumptions: 89,653 businesses x 10 cyds/business × $45 ASP (bulk) →</a:t>
            </a:r>
          </a:p>
          <a:p>
            <a:r>
              <a:t>    &lt;- MVG-V90-R13: KeyCompostables [Commercial TAM - SAM - SOM] | Service territory: Current | Assumptions: 89,653 businesses × $410 AOV × 3 orders/year → TAM; 30% participation →</a:t>
            </a:r>
          </a:p>
          <a:p>
            <a:r>
              <a:t>[flow row 1] refs: MVG-V90-R3, MVG-V90-R5, MVG-V90-R11, MVG-V90-R13</a:t>
            </a:r>
          </a:p>
          <a:p>
            <a:r>
              <a:t>[flow row 2] refs: MVG-V90-R3, MVG-V90-R5, MVG-V90-R11, MVG-V90-R13</a:t>
            </a:r>
          </a:p>
          <a:p>
            <a:r>
              <a:t>[flow row 3] refs: MVG-V90-R3, MVG-V90-R5, MVG-V90-R11, MVG-V90-R13</a:t>
            </a:r>
          </a:p>
          <a:p>
            <a:r>
              <a:t>[flow row 4] refs: MVG-V90-R3, MVG-V90-R5, MVG-V90-R11, MVG-V90-R13</a:t>
            </a:r>
          </a:p>
          <a:p>
            <a:r>
              <a:t>[right[1]] FACT: A capture ratio is shown only when the workbook also states that line's sales.</a:t>
            </a:r>
          </a:p>
          <a:p>
            <a:r>
              <a:t>    &lt;- MVG-V90-R3: Compost Sales &amp; Soil Amendments | Service territory: Current | Assumptions: 1,661,465 homes × 0.5 cyds/home × $93 ASP (bagged) → 830K cy → TAM; 30% participatio</a:t>
            </a:r>
          </a:p>
          <a:p>
            <a:r>
              <a:t>    &lt;- MVG-V90-R5: KeyCompostables | Service territory: Current | Assumptions: 1,661,465 homes × $84 AOV × 1.1 orders/year → 1.8M orders → TAM; 30% participation (540K orders) → S</a:t>
            </a:r>
          </a:p>
          <a:p>
            <a:r>
              <a:t>    &lt;- MVG-V90-R11: Compost Sales &amp; Soil Amendments [Commercial TAM - SAM - SOM] | Service territory: Current | Assumptions: 89,653 businesses x 10 cyds/business × $45 ASP (bulk) →</a:t>
            </a:r>
          </a:p>
          <a:p>
            <a:r>
              <a:t>    &lt;- MVG-V90-R13: KeyCompostables [Commercial TAM - SAM - SOM] | Service territory: Current | Assumptions: 89,653 businesses × $410 AOV × 3 orders/year → TAM; 30% participation →</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S097_back_cover</a:t>
            </a:r>
          </a:p>
          <a:p>
            <a:r>
              <a:t>Kinds: FACT = sourced; CALC = calculated (†); VIEW = DiligenceIQ interpretation</a:t>
            </a:r>
          </a:p>
          <a:p/>
          <a:p>
            <a:r>
              <a:t>[back_contact] FACT: DiligenceIQ · Commercial due diligence on Compost Crew. Draft for discussion, October 2026.</a:t>
            </a:r>
          </a:p>
          <a:p>
            <a:r>
              <a:t>    &lt;- SCM-7: Accounts and workbooks outrank the CIM, and the CIM outranks agent outputs. Plan years are not results.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S098_div_appx_audit   (blueprint slide 98 - Appendix E - Evidence &amp; Audit Trail)</a:t>
            </a:r>
          </a:p>
          <a:p>
            <a:r>
              <a:t>WORKING TITLE   Section Divider — Evidence &amp; Audit Trail</a:t>
            </a:r>
          </a:p>
          <a:p>
            <a:r>
              <a:t>PURPOSE         Open the audit trail that makes every preceding page checkable.</a:t>
            </a:r>
          </a:p>
          <a:p/>
          <a:p>
            <a:r>
              <a:t>WHAT THIS SLIDE MUST CONTAIN</a:t>
            </a:r>
          </a:p>
          <a:p>
            <a:r>
              <a:t>  - Section number and name.</a:t>
            </a:r>
          </a:p>
          <a:p>
            <a:r>
              <a:t>  - One line naming what the appendix contains.</a:t>
            </a:r>
          </a:p>
          <a:p/>
          <a:p>
            <a:r>
              <a:t>SOURCES         Deck template.</a:t>
            </a:r>
          </a:p>
          <a:p>
            <a:r>
              <a:t>ANALYSIS        None.</a:t>
            </a:r>
          </a:p>
          <a:p>
            <a:r>
              <a:t>EXHIBIT         Section divider.  (form: divider)</a:t>
            </a:r>
          </a:p>
          <a:p>
            <a:r>
              <a:t>QUALITY BAR     A reviewer knows, before turning the page, that every figure in the report can be</a:t>
            </a:r>
          </a:p>
          <a:p>
            <a:r>
              <a:t>                traced.</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S099_module_verdicts</a:t>
            </a:r>
          </a:p>
          <a:p>
            <a:r>
              <a:t>Kinds: FACT = sourced; CALC = calculated (†); VIEW = DiligenceIQ interpretation</a:t>
            </a:r>
          </a:p>
          <a:p/>
          <a:p>
            <a:r>
              <a:t>[title] INTERPRETATION: Module verdicts restated at the grade the facts support</a:t>
            </a:r>
          </a:p>
          <a:p>
            <a:r>
              <a:t>    &lt;- SCM-8: Verdict 23 modules. Stated BLOCKED. Adjusted Blocked. Findings from a blocked module are not relied on.</a:t>
            </a:r>
          </a:p>
          <a:p>
            <a:r>
              <a:t>    &lt;- SCM-9: Verdict Scope &amp; Methodology. Stated PASS / BLOCKED. Adjusted Not produced. No facts were loaded for this module.</a:t>
            </a:r>
          </a:p>
          <a:p>
            <a:r>
              <a:t>    &lt;- SCM-10: Verdict Cash Flow. Stated PASS / LIMITED. Adjusted Limited. The lower stated grade is used.</a:t>
            </a:r>
          </a:p>
          <a:p>
            <a:r>
              <a:t>    &lt;- SCM-11: Verdict Company Background. Stated PASS / LIMITED. Adjusted Limited. The lower stated grade is used.</a:t>
            </a:r>
          </a:p>
          <a:p>
            <a:r>
              <a:t>    &lt;- SCM-12: Verdict Cost Structure. Stated REWORK / LIMITED. Adjusted Limited. The lower stated grade is used.</a:t>
            </a:r>
          </a:p>
          <a:p>
            <a:r>
              <a:t>    &lt;- SCM-13: Verdict Deal Context And Objectives. Stated PASS / LIMITED. Adjusted Limited. The lower stated grade is used.</a:t>
            </a:r>
          </a:p>
          <a:p>
            <a:r>
              <a:t>    &lt;- SCM-14: Verdict Internal Risk. Stated REWORK / LIMITED. Adjusted Limited. The lower stated grade is used.</a:t>
            </a:r>
          </a:p>
          <a:p>
            <a:r>
              <a:t>    &lt;- SCM-15: Verdict Ip And Technology. Stated PASS / LIMITED. Adjusted Limited. The lower stated grade is used.</a:t>
            </a:r>
          </a:p>
          <a:p>
            <a:r>
              <a:t>    &lt;- SCM-16: Verdict Market Definition. Stated PASS / LIMITED. Adjusted Limited. The lower stated grade is used.</a:t>
            </a:r>
          </a:p>
          <a:p>
            <a:r>
              <a:t>    &lt;- SCM-17: Verdict Valuation Modeling. Stated REWORK / LIMITED. Adjusted Limited. The lower stated grade is used.</a:t>
            </a:r>
          </a:p>
          <a:p>
            <a:r>
              <a:t>    &lt;- SCM-18: Verdict Appendices. Stated PASS / READY. Adjusted Indicated. Lowered to the facts on file.</a:t>
            </a:r>
          </a:p>
          <a:p>
            <a:r>
              <a:t>    &lt;- SCM-19: Verdict Historical Performance. Stated PASS / READY. Adjusted Established. The stated grade matches the facts.</a:t>
            </a:r>
          </a:p>
          <a:p>
            <a:r>
              <a:t>    &lt;- SCM-20: Verdict Market Intel Deck. Stated —. Adjusted Indicated. No verdict was stated, so the facts set the grade.</a:t>
            </a:r>
          </a:p>
          <a:p>
            <a:r>
              <a:t>[subtitle] INTERPRETATION: A stated pass is lowered when the facts are thinner than the module claimed.</a:t>
            </a:r>
          </a:p>
          <a:p>
            <a:r>
              <a:t>    &lt;- SCM-8: Verdict 23 modules. Stated BLOCKED. Adjusted Blocked. Findings from a blocked module are not relied on.</a:t>
            </a:r>
          </a:p>
          <a:p>
            <a:r>
              <a:t>    &lt;- SCM-9: Verdict Scope &amp; Methodology. Stated PASS / BLOCKED. Adjusted Not produced. No facts were loaded for this module.</a:t>
            </a:r>
          </a:p>
          <a:p>
            <a:r>
              <a:t>    &lt;- SCM-10: Verdict Cash Flow. Stated PASS / LIMITED. Adjusted Limited. The lower stated grade is used.</a:t>
            </a:r>
          </a:p>
          <a:p>
            <a:r>
              <a:t>    &lt;- SCM-11: Verdict Company Background. Stated PASS / LIMITED. Adjusted Limited. The lower stated grade is used.</a:t>
            </a:r>
          </a:p>
          <a:p>
            <a:r>
              <a:t>    &lt;- SCM-12: Verdict Cost Structure. Stated REWORK / LIMITED. Adjusted Limited. The lower stated grade is used.</a:t>
            </a:r>
          </a:p>
          <a:p>
            <a:r>
              <a:t>    &lt;- SCM-13: Verdict Deal Context And Objectives. Stated PASS / LIMITED. Adjusted Limited. The lower stated grade is used.</a:t>
            </a:r>
          </a:p>
          <a:p>
            <a:r>
              <a:t>    &lt;- SCM-14: Verdict Internal Risk. Stated REWORK / LIMITED. Adjusted Limited. The lower stated grade is used.</a:t>
            </a:r>
          </a:p>
          <a:p>
            <a:r>
              <a:t>    &lt;- SCM-15: Verdict Ip And Technology. Stated PASS / LIMITED. Adjusted Limited. The lower stated grade is used.</a:t>
            </a:r>
          </a:p>
          <a:p>
            <a:r>
              <a:t>    &lt;- SCM-16: Verdict Market Definition. Stated PASS / LIMITED. Adjusted Limited. The lower stated grade is used.</a:t>
            </a:r>
          </a:p>
          <a:p>
            <a:r>
              <a:t>    &lt;- SCM-17: Verdict Valuation Modeling. Stated REWORK / LIMITED. Adjusted Limited. The lower stated grade is used.</a:t>
            </a:r>
          </a:p>
          <a:p>
            <a:r>
              <a:t>    &lt;- SCM-18: Verdict Appendices. Stated PASS / READY. Adjusted Indicated. Lowered to the facts on file.</a:t>
            </a:r>
          </a:p>
          <a:p>
            <a:r>
              <a:t>    &lt;- SCM-19: Verdict Historical Performance. Stated PASS / READY. Adjusted Established. The stated grade matches the facts.</a:t>
            </a:r>
          </a:p>
          <a:p>
            <a:r>
              <a:t>    &lt;- SCM-20: Verdict Market Intel Deck. Stated —. Adjusted Indicated. No verdict was stated, so the facts set the grade.</a:t>
            </a:r>
          </a:p>
          <a:p>
            <a:r>
              <a:t>[table row 1] refs: SCM-8, SCM-9, SCM-10, SCM-11, SCM-12, SCM-13, SCM-14, SCM-15, SCM-16, SCM-17, SCM-18, SCM-19, SCM-20</a:t>
            </a:r>
          </a:p>
          <a:p>
            <a:r>
              <a:t>[table row 2] refs: SCM-8, SCM-9, SCM-10, SCM-11, SCM-12, SCM-13, SCM-14, SCM-15, SCM-16, SCM-17, SCM-18, SCM-19, SCM-20</a:t>
            </a:r>
          </a:p>
          <a:p>
            <a:r>
              <a:t>[table row 3] refs: SCM-8, SCM-9, SCM-10, SCM-11, SCM-12, SCM-13, SCM-14, SCM-15, SCM-16, SCM-17, SCM-18, SCM-19, SCM-20</a:t>
            </a:r>
          </a:p>
          <a:p>
            <a:r>
              <a:t>[table row 4] refs: SCM-8, SCM-9, SCM-10, SCM-11, SCM-12, SCM-13, SCM-14, SCM-15, SCM-16, SCM-17, SCM-18, SCM-19, SCM-20</a:t>
            </a:r>
          </a:p>
          <a:p>
            <a:r>
              <a:t>[table row 5] refs: SCM-8, SCM-9, SCM-10, SCM-11, SCM-12, SCM-13, SCM-14, SCM-15, SCM-16, SCM-17, SCM-18, SCM-19, SCM-20</a:t>
            </a:r>
          </a:p>
          <a:p>
            <a:r>
              <a:t>[table row 6] refs: SCM-8, SCM-9, SCM-10, SCM-11, SCM-12, SCM-13, SCM-14, SCM-15, SCM-16, SCM-17, SCM-18, SCM-19, SCM-20</a:t>
            </a:r>
          </a:p>
          <a:p>
            <a:r>
              <a:t>[table row 7] refs: SCM-8, SCM-9, SCM-10, SCM-11, SCM-12, SCM-13, SCM-14, SCM-15, SCM-16, SCM-17, SCM-18, SCM-19, SCM-20</a:t>
            </a:r>
          </a:p>
          <a:p>
            <a:r>
              <a:t>[table row 8] refs: SCM-8, SCM-9, SCM-10, SCM-11, SCM-12, SCM-13, SCM-14, SCM-15, SCM-16, SCM-17, SCM-18, SCM-19, SCM-20</a:t>
            </a:r>
          </a:p>
          <a:p>
            <a:r>
              <a:t>[takeaway] FACT: The adjusted grade is the one this report uses. It is not raised above the facts.</a:t>
            </a:r>
          </a:p>
          <a:p>
            <a:r>
              <a:t>    &lt;- SCM-8: Verdict 23 modules. Stated BLOCKED. Adjusted Blocked. Findings from a blocked module are not relied on.</a:t>
            </a:r>
          </a:p>
          <a:p>
            <a:r>
              <a:t>    &lt;- SCM-9: Verdict Scope &amp; Methodology. Stated PASS / BLOCKED. Adjusted Not produced. No facts were loaded for this module.</a:t>
            </a:r>
          </a:p>
          <a:p>
            <a:r>
              <a:t>    &lt;- SCM-10: Verdict Cash Flow. Stated PASS / LIMITED. Adjusted Limited. The lower stated grade is used.</a:t>
            </a:r>
          </a:p>
          <a:p>
            <a:r>
              <a:t>    &lt;- SCM-11: Verdict Company Background. Stated PASS / LIMITED. Adjusted Limited. The lower stated grade is used.</a:t>
            </a:r>
          </a:p>
          <a:p>
            <a:r>
              <a:t>    &lt;- SCM-12: Verdict Cost Structure. Stated REWORK / LIMITED. Adjusted Limited. The lower stated grade is used.</a:t>
            </a:r>
          </a:p>
          <a:p>
            <a:r>
              <a:t>    &lt;- SCM-13: Verdict Deal Context And Objectives. Stated PASS / LIMITED. Adjusted Limited. The lower stated grade is used.</a:t>
            </a:r>
          </a:p>
          <a:p>
            <a:r>
              <a:t>    &lt;- SCM-14: Verdict Internal Risk. Stated REWORK / LIMITED. Adjusted Limited. The lower stated grade is used.</a:t>
            </a:r>
          </a:p>
          <a:p>
            <a:r>
              <a:t>    &lt;- SCM-15: Verdict Ip And Technology. Stated PASS / LIMITED. Adjusted Limited. The lower stated grade is used.</a:t>
            </a:r>
          </a:p>
          <a:p>
            <a:r>
              <a:t>    &lt;- SCM-16: Verdict Market Definition. Stated PASS / LIMITED. Adjusted Limited. The lower stated grade is used.</a:t>
            </a:r>
          </a:p>
          <a:p>
            <a:r>
              <a:t>    &lt;- SCM-17: Verdict Valuation Modeling. Stated REWORK / LIMITED. Adjusted Limited. The lower stated grade is used.</a:t>
            </a:r>
          </a:p>
          <a:p>
            <a:r>
              <a:t>    &lt;- SCM-18: Verdict Appendices. Stated PASS / READY. Adjusted Indicated. Lowered to the facts on file.</a:t>
            </a:r>
          </a:p>
          <a:p>
            <a:r>
              <a:t>    &lt;- SCM-19: Verdict Historical Performance. Stated PASS / READY. Adjusted Established. The stated grade matches the facts.</a:t>
            </a:r>
          </a:p>
          <a:p>
            <a:r>
              <a:t>    &lt;- SCM-20: Verdict Market Intel Deck. Stated —. Adjusted Indicated. No verdict was stated, so the facts set the grade.</a:t>
            </a:r>
          </a:p>
          <a:p/>
          <a:p>
            <a:r>
              <a:t>EXCEPTIONS AFFECTING THIS SLIDE</a:t>
            </a:r>
          </a:p>
          <a:p>
            <a:r>
              <a:t>[HIGH] 26 modules are marked blocked. -&gt; Findings from a blocked module are not relied on.</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S100_source_register</a:t>
            </a:r>
          </a:p>
          <a:p>
            <a:r>
              <a:t>Kinds: FACT = sourced; CALC = calculated (†); VIEW = DiligenceIQ interpretation</a:t>
            </a:r>
          </a:p>
          <a:p/>
          <a:p>
            <a:r>
              <a:t>[title] INTERPRETATION: Sources the report rests on, read from the room or only cited</a:t>
            </a:r>
          </a:p>
          <a:p>
            <a:r>
              <a:t>    &lt;- SCM-21: Source file documents__CC - Depreciation Schedule as on 07_31_2026.xlsx. How used: Read.</a:t>
            </a:r>
          </a:p>
          <a:p>
            <a:r>
              <a:t>    &lt;- SCM-22: Source file documents__CC_Investor_Workbook_EXTERNAL.xlsx. How used: Read.</a:t>
            </a:r>
          </a:p>
          <a:p>
            <a:r>
              <a:t>    &lt;- SCM-23: Source file documents__Completed 2c2i Baseline Metrics Compost Crew.xlsx. How used: Read.</a:t>
            </a:r>
          </a:p>
          <a:p>
            <a:r>
              <a:t>    &lt;- SCM-24: Source file documents__Compost Crew Impact Metric -2024.xlsx. How used: Read.</a:t>
            </a:r>
          </a:p>
          <a:p>
            <a:r>
              <a:t>    &lt;- SCM-25: Source file documents__Compost Crew Monthly Financials 23YTD26.xlsx. How used: Read.</a:t>
            </a:r>
          </a:p>
          <a:p>
            <a:r>
              <a:t>    &lt;- SCM-26: Source file documents__MD_NOVA_ZIP Expansion Analysis_Final_10_22_2025.xlsx. How used: Read.</a:t>
            </a:r>
          </a:p>
          <a:p>
            <a:r>
              <a:t>    &lt;- SCM-27: Source file documents__OG Loan Schedules.xlsx. How used: Read.</a:t>
            </a:r>
          </a:p>
          <a:p>
            <a:r>
              <a:t>    &lt;- SCM-28: Source file documents__TAM_SAM_ SOM Data.xlsx. How used: Read.</a:t>
            </a:r>
          </a:p>
          <a:p>
            <a:r>
              <a:t>    &lt;- SCM-29: Source file documents__CC_CIM_JPC_FINAL_090126.pptx. How used: Read.</a:t>
            </a:r>
          </a:p>
          <a:p>
            <a:r>
              <a:t>    &lt;- SCM-30: Source file 2_2_1 Revenue by Service Line__Please see Investor Workbook.txt. How used: Cited only.</a:t>
            </a:r>
          </a:p>
          <a:p>
            <a:r>
              <a:t>    &lt;- SCM-31: Source file 2_3_1 Financial Projections__Please see Investor Workbook.txt. How used: Cited only.</a:t>
            </a:r>
          </a:p>
          <a:p>
            <a:r>
              <a:t>    &lt;- SCM-32: Source file Compost Crew Monthly Financials 23YTD26.xlsx. How used: Cited only.</a:t>
            </a:r>
          </a:p>
          <a:p>
            <a:r>
              <a:t>    &lt;- SCM-33: Source file Please see 2_1_1 Financial Statements for BS.txt. How used: Cited only.</a:t>
            </a:r>
          </a:p>
          <a:p>
            <a:r>
              <a:t>    &lt;- SCM-34: Source file Please see 2_1_1 Financial Statements for Cash Flow Statements.txt. How used: Cited only.</a:t>
            </a:r>
          </a:p>
          <a:p>
            <a:r>
              <a:t>    &lt;- SCM-35: Source file Please see 2_1_1 Financial Statements.txt. How used: Cited only.</a:t>
            </a:r>
          </a:p>
          <a:p>
            <a:r>
              <a:t>    &lt;- SCM-36: Source file TAM_SAM_ SOM Data.xlsx. How used: Cited only.</a:t>
            </a:r>
          </a:p>
          <a:p>
            <a:r>
              <a:t>    &lt;- SCM-37: Source file 2026-08-31_summary_cap_intermediate_cap_detailed_cap.xlsx. How used: Cited only.</a:t>
            </a:r>
          </a:p>
          <a:p>
            <a:r>
              <a:t>    &lt;- SCM-38: Source file 2_3_2 Assumption Supporting Projections__Please see Investor Workbook.txt. How used: Cited only.</a:t>
            </a:r>
          </a:p>
          <a:p>
            <a:r>
              <a:t>    &lt;- SCM-39: Source file 4_2_2 Equipment List__Please see CIM P46.txt. How used: Cited only.</a:t>
            </a:r>
          </a:p>
          <a:p>
            <a:r>
              <a:t>    &lt;- SCM-40: Source file CC - 12354 Parking Lease.pdf. How used: Cited only.</a:t>
            </a:r>
          </a:p>
          <a:p>
            <a:r>
              <a:t>    &lt;- SCM-41: Source file CC - Depreciation Schedule as on 07_31_2026.xlsx. How used: Cited only.</a:t>
            </a:r>
          </a:p>
          <a:p>
            <a:r>
              <a:t>    &lt;- SCM-42: Source file 2026 Commercial Sales Proposal.pptx. How used: Cited only.</a:t>
            </a:r>
          </a:p>
          <a:p>
            <a:r>
              <a:t>    &lt;- SCM-43: Source file 4280-2 Compost Crew FY25 FPEP.pdf. How used: Cited only.</a:t>
            </a:r>
          </a:p>
          <a:p>
            <a:r>
              <a:t>    &lt;- SCM-44: Source file CC_Investor_Workbook_EXTERNAL.xlsx. How used: Cited only.</a:t>
            </a:r>
          </a:p>
          <a:p>
            <a:r>
              <a:t>[subtitle] INTERPRETATION: Read means the workbook was extracted. Cited only means a module named the file.</a:t>
            </a:r>
          </a:p>
          <a:p>
            <a:r>
              <a:t>    &lt;- SCM-21: Source file documents__CC - Depreciation Schedule as on 07_31_2026.xlsx. How used: Read.</a:t>
            </a:r>
          </a:p>
          <a:p>
            <a:r>
              <a:t>    &lt;- SCM-22: Source file documents__CC_Investor_Workbook_EXTERNAL.xlsx. How used: Read.</a:t>
            </a:r>
          </a:p>
          <a:p>
            <a:r>
              <a:t>    &lt;- SCM-23: Source file documents__Completed 2c2i Baseline Metrics Compost Crew.xlsx. How used: Read.</a:t>
            </a:r>
          </a:p>
          <a:p>
            <a:r>
              <a:t>    &lt;- SCM-24: Source file documents__Compost Crew Impact Metric -2024.xlsx. How used: Read.</a:t>
            </a:r>
          </a:p>
          <a:p>
            <a:r>
              <a:t>    &lt;- SCM-25: Source file documents__Compost Crew Monthly Financials 23YTD26.xlsx. How used: Read.</a:t>
            </a:r>
          </a:p>
          <a:p>
            <a:r>
              <a:t>    &lt;- SCM-26: Source file documents__MD_NOVA_ZIP Expansion Analysis_Final_10_22_2025.xlsx. How used: Read.</a:t>
            </a:r>
          </a:p>
          <a:p>
            <a:r>
              <a:t>    &lt;- SCM-27: Source file documents__OG Loan Schedules.xlsx. How used: Read.</a:t>
            </a:r>
          </a:p>
          <a:p>
            <a:r>
              <a:t>    &lt;- SCM-28: Source file documents__TAM_SAM_ SOM Data.xlsx. How used: Read.</a:t>
            </a:r>
          </a:p>
          <a:p>
            <a:r>
              <a:t>    &lt;- SCM-29: Source file documents__CC_CIM_JPC_FINAL_090126.pptx. How used: Read.</a:t>
            </a:r>
          </a:p>
          <a:p>
            <a:r>
              <a:t>    &lt;- SCM-30: Source file 2_2_1 Revenue by Service Line__Please see Investor Workbook.txt. How used: Cited only.</a:t>
            </a:r>
          </a:p>
          <a:p>
            <a:r>
              <a:t>    &lt;- SCM-31: Source file 2_3_1 Financial Projections__Please see Investor Workbook.txt. How used: Cited only.</a:t>
            </a:r>
          </a:p>
          <a:p>
            <a:r>
              <a:t>    &lt;- SCM-32: Source file Compost Crew Monthly Financials 23YTD26.xlsx. How used: Cited only.</a:t>
            </a:r>
          </a:p>
          <a:p>
            <a:r>
              <a:t>    &lt;- SCM-33: Source file Please see 2_1_1 Financial Statements for BS.txt. How used: Cited only.</a:t>
            </a:r>
          </a:p>
          <a:p>
            <a:r>
              <a:t>    &lt;- SCM-34: Source file Please see 2_1_1 Financial Statements for Cash Flow Statements.txt. How used: Cited only.</a:t>
            </a:r>
          </a:p>
          <a:p>
            <a:r>
              <a:t>    &lt;- SCM-35: Source file Please see 2_1_1 Financial Statements.txt. How used: Cited only.</a:t>
            </a:r>
          </a:p>
          <a:p>
            <a:r>
              <a:t>    &lt;- SCM-36: Source file TAM_SAM_ SOM Data.xlsx. How used: Cited only.</a:t>
            </a:r>
          </a:p>
          <a:p>
            <a:r>
              <a:t>    &lt;- SCM-37: Source file 2026-08-31_summary_cap_intermediate_cap_detailed_cap.xlsx. How used: Cited only.</a:t>
            </a:r>
          </a:p>
          <a:p>
            <a:r>
              <a:t>    &lt;- SCM-38: Source file 2_3_2 Assumption Supporting Projections__Please see Investor Workbook.txt. How used: Cited only.</a:t>
            </a:r>
          </a:p>
          <a:p>
            <a:r>
              <a:t>    &lt;- SCM-39: Source file 4_2_2 Equipment List__Please see CIM P46.txt. How used: Cited only.</a:t>
            </a:r>
          </a:p>
          <a:p>
            <a:r>
              <a:t>    &lt;- SCM-40: Source file CC - 12354 Parking Lease.pdf. How used: Cited only.</a:t>
            </a:r>
          </a:p>
          <a:p>
            <a:r>
              <a:t>    &lt;- SCM-41: Source file CC - Depreciation Schedule as on 07_31_2026.xlsx. How used: Cited only.</a:t>
            </a:r>
          </a:p>
          <a:p>
            <a:r>
              <a:t>    &lt;- SCM-42: Source file 2026 Commercial Sales Proposal.pptx. How used: Cited only.</a:t>
            </a:r>
          </a:p>
          <a:p>
            <a:r>
              <a:t>    &lt;- SCM-43: Source file 4280-2 Compost Crew FY25 FPEP.pdf. How used: Cited only.</a:t>
            </a:r>
          </a:p>
          <a:p>
            <a:r>
              <a:t>    &lt;- SCM-44: Source file CC_Investor_Workbook_EXTERNAL.xlsx. How used: Cited only.</a:t>
            </a:r>
          </a:p>
          <a:p>
            <a:r>
              <a:t>[table row 1] refs: SCM-21</a:t>
            </a:r>
          </a:p>
          <a:p>
            <a:r>
              <a:t>[table row 2] refs: SCM-22</a:t>
            </a:r>
          </a:p>
          <a:p>
            <a:r>
              <a:t>[table row 3] refs: SCM-23</a:t>
            </a:r>
          </a:p>
          <a:p>
            <a:r>
              <a:t>[table row 4] refs: SCM-24</a:t>
            </a:r>
          </a:p>
          <a:p>
            <a:r>
              <a:t>[table row 5] refs: SCM-25</a:t>
            </a:r>
          </a:p>
          <a:p>
            <a:r>
              <a:t>[table row 6] refs: SCM-26</a:t>
            </a:r>
          </a:p>
          <a:p>
            <a:r>
              <a:t>[table row 7] refs: SCM-27</a:t>
            </a:r>
          </a:p>
          <a:p>
            <a:r>
              <a:t>[table row 8] refs: SCM-28</a:t>
            </a:r>
          </a:p>
          <a:p>
            <a:r>
              <a:t>[takeaway] FACT: Read means the workbook was extracted into the evidence register. Cited only means the file was named by a module and was not read as a work</a:t>
            </a:r>
          </a:p>
          <a:p>
            <a:r>
              <a:t>    &lt;- SCM-21: Source file documents__CC - Depreciation Schedule as on 07_31_2026.xlsx. How used: Read.</a:t>
            </a:r>
          </a:p>
          <a:p>
            <a:r>
              <a:t>    &lt;- SCM-22: Source file documents__CC_Investor_Workbook_EXTERNAL.xlsx. How used: Read.</a:t>
            </a:r>
          </a:p>
          <a:p>
            <a:r>
              <a:t>    &lt;- SCM-23: Source file documents__Completed 2c2i Baseline Metrics Compost Crew.xlsx. How used: Read.</a:t>
            </a:r>
          </a:p>
          <a:p>
            <a:r>
              <a:t>    &lt;- SCM-24: Source file documents__Compost Crew Impact Metric -2024.xlsx. How used: Read.</a:t>
            </a:r>
          </a:p>
          <a:p>
            <a:r>
              <a:t>    &lt;- SCM-25: Source file documents__Compost Crew Monthly Financials 23YTD26.xlsx. How used: Read.</a:t>
            </a:r>
          </a:p>
          <a:p>
            <a:r>
              <a:t>    &lt;- SCM-26: Source file documents__MD_NOVA_ZIP Expansion Analysis_Final_10_22_2025.xlsx. How used: Read.</a:t>
            </a:r>
          </a:p>
          <a:p>
            <a:r>
              <a:t>    &lt;- SCM-27: Source file documents__OG Loan Schedules.xlsx. How used: Read.</a:t>
            </a:r>
          </a:p>
          <a:p>
            <a:r>
              <a:t>    &lt;- SCM-28: Source file documents__TAM_SAM_ SOM Data.xlsx. How used: Read.</a:t>
            </a:r>
          </a:p>
          <a:p>
            <a:r>
              <a:t>    &lt;- SCM-29: Source file documents__CC_CIM_JPC_FINAL_090126.pptx. How used: Read.</a:t>
            </a:r>
          </a:p>
          <a:p>
            <a:r>
              <a:t>    &lt;- SCM-30: Source file 2_2_1 Revenue by Service Line__Please see Investor Workbook.txt. How used: Cited only.</a:t>
            </a:r>
          </a:p>
          <a:p>
            <a:r>
              <a:t>    &lt;- SCM-31: Source file 2_3_1 Financial Projections__Please see Investor Workbook.txt. How used: Cited only.</a:t>
            </a:r>
          </a:p>
          <a:p>
            <a:r>
              <a:t>    &lt;- SCM-32: Source file Compost Crew Monthly Financials 23YTD26.xlsx. How used: Cited only.</a:t>
            </a:r>
          </a:p>
          <a:p>
            <a:r>
              <a:t>    &lt;- SCM-33: Source file Please see 2_1_1 Financial Statements for BS.txt. How used: Cited only.</a:t>
            </a:r>
          </a:p>
          <a:p>
            <a:r>
              <a:t>    &lt;- SCM-34: Source file Please see 2_1_1 Financial Statements for Cash Flow Statements.txt. How used: Cited only.</a:t>
            </a:r>
          </a:p>
          <a:p>
            <a:r>
              <a:t>    &lt;- SCM-35: Source file Please see 2_1_1 Financial Statements.txt. How used: Cited only.</a:t>
            </a:r>
          </a:p>
          <a:p>
            <a:r>
              <a:t>    &lt;- SCM-36: Source file TAM_SAM_ SOM Data.xlsx. How used: Cited only.</a:t>
            </a:r>
          </a:p>
          <a:p>
            <a:r>
              <a:t>    &lt;- SCM-37: Source file 2026-08-31_summary_cap_intermediate_cap_detailed_cap.xlsx. How used: Cited only.</a:t>
            </a:r>
          </a:p>
          <a:p>
            <a:r>
              <a:t>    &lt;- SCM-38: Source file 2_3_2 Assumption Supporting Projections__Please see Investor Workbook.txt. How used: Cited only.</a:t>
            </a:r>
          </a:p>
          <a:p>
            <a:r>
              <a:t>    &lt;- SCM-39: Source file 4_2_2 Equipment List__Please see CIM P46.txt. How used: Cited only.</a:t>
            </a:r>
          </a:p>
          <a:p>
            <a:r>
              <a:t>    &lt;- SCM-40: Source file CC - 12354 Parking Lease.pdf. How used: Cited only.</a:t>
            </a:r>
          </a:p>
          <a:p>
            <a:r>
              <a:t>    &lt;- SCM-41: Source file CC - Depreciation Schedule as on 07_31_2026.xlsx. How used: Cited only.</a:t>
            </a:r>
          </a:p>
          <a:p>
            <a:r>
              <a:t>    &lt;- SCM-42: Source file 2026 Commercial Sales Proposal.pptx. How used: Cited only.</a:t>
            </a:r>
          </a:p>
          <a:p>
            <a:r>
              <a:t>    &lt;- SCM-43: Source file 4280-2 Compost Crew FY25 FPEP.pdf. How used: Cited only.</a:t>
            </a:r>
          </a:p>
          <a:p>
            <a:r>
              <a:t>    &lt;- SCM-44: Source file CC_Investor_Workbook_EXTERNAL.xlsx. How used: Cited only.</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TRAIL - S101_exceptions</a:t>
            </a:r>
          </a:p>
          <a:p>
            <a:r>
              <a:t>Kinds: FACT = sourced; CALC = calculated (†); VIEW = DiligenceIQ interpretation</a:t>
            </a:r>
          </a:p>
          <a:p/>
          <a:p>
            <a:r>
              <a:t>[title] INTERPRETATION: What this report could not establish</a:t>
            </a:r>
          </a:p>
          <a:p>
            <a:r>
              <a:t>    &lt;- SCM-45: Exception HIGH. Rule E1-NOT-PROVIDED. Slide S099. 26 modules are marked blocked. Findings from a blocked module are not relied on.</a:t>
            </a:r>
          </a:p>
          <a:p>
            <a:r>
              <a:t>    &lt;- SCM-46: Exception HIGH. Rule E3-CONFLICT. Slide S020. 2025 accounts $13.41M, workbook $13.28M, CIM $13.3mn. The accounts figure is the one used on the results pages. Th</a:t>
            </a:r>
          </a:p>
          <a:p>
            <a:r>
              <a:t>    &lt;- SCM-47: Exception HIGH. Rule E3-CONFLICT. Slide S013. Gross retention 90.9% on the model basis and 87.3% on the cohort basis. The results pages use the actual cohort ba</a:t>
            </a:r>
          </a:p>
          <a:p>
            <a:r>
              <a:t>    &lt;- SCM-48: Exception MEDIUM. Rule E1-NOT-PROVIDED. Slide S046. Plan years are in the file and are not results. They carry a P suffix and stay off the actuals chart.</a:t>
            </a:r>
          </a:p>
          <a:p>
            <a:r>
              <a:t>    &lt;- SCM-49: Exception MEDIUM. Rule E11-NO-PRIMARY. Slide S065. No customer survey or interviews were loaded. NPS and quote pages stay withheld.</a:t>
            </a:r>
          </a:p>
          <a:p>
            <a:r>
              <a:t>    &lt;- SCM-50: Exception MEDIUM. Rule E1-NOT-PROVIDED. Slide S062. The competitor comparison is a self-assessment. Shown once, and not as customer evidence.</a:t>
            </a:r>
          </a:p>
          <a:p>
            <a:r>
              <a:t>    &lt;- SCM-51: Exception MEDIUM. Rule E1-NOT-PROVIDED. Slide S075. Quotas have no rep-level bookings behind them. They are shown as the plan stated them.</a:t>
            </a:r>
          </a:p>
          <a:p>
            <a:r>
              <a:t>    &lt;- SCM-52: Exception MEDIUM. Rule E1-NOT-PROVIDED. Slide S081. ZIP scores have no revenue attached. They are not converted into a market figure.</a:t>
            </a:r>
          </a:p>
          <a:p>
            <a:r>
              <a:t>    &lt;- SCM-53: Exception MEDIUM. Rule E11-NO-PRIMARY. Slide S006. 23 pages need a survey or interview file No survey or interview file was loaded.</a:t>
            </a:r>
          </a:p>
          <a:p>
            <a:r>
              <a:t>    &lt;- SCM-54: Exception MEDIUM. Rule E1-NOT-PROVIDED. Slide S012. 28 pages have nothing further in the loaded record Not in the loaded record.</a:t>
            </a:r>
          </a:p>
          <a:p>
            <a:r>
              <a:t>[subtitle] INTERPRETATION: Each row is a gap in the record. A withheld template page is not, by itself, a finding.</a:t>
            </a:r>
          </a:p>
          <a:p>
            <a:r>
              <a:t>    &lt;- SCM-45: Exception HIGH. Rule E1-NOT-PROVIDED. Slide S099. 26 modules are marked blocked. Findings from a blocked module are not relied on.</a:t>
            </a:r>
          </a:p>
          <a:p>
            <a:r>
              <a:t>    &lt;- SCM-46: Exception HIGH. Rule E3-CONFLICT. Slide S020. 2025 accounts $13.41M, workbook $13.28M, CIM $13.3mn. The accounts figure is the one used on the results pages. Th</a:t>
            </a:r>
          </a:p>
          <a:p>
            <a:r>
              <a:t>    &lt;- SCM-47: Exception HIGH. Rule E3-CONFLICT. Slide S013. Gross retention 90.9% on the model basis and 87.3% on the cohort basis. The results pages use the actual cohort ba</a:t>
            </a:r>
          </a:p>
          <a:p>
            <a:r>
              <a:t>    &lt;- SCM-48: Exception MEDIUM. Rule E1-NOT-PROVIDED. Slide S046. Plan years are in the file and are not results. They carry a P suffix and stay off the actuals chart.</a:t>
            </a:r>
          </a:p>
          <a:p>
            <a:r>
              <a:t>    &lt;- SCM-49: Exception MEDIUM. Rule E11-NO-PRIMARY. Slide S065. No customer survey or interviews were loaded. NPS and quote pages stay withheld.</a:t>
            </a:r>
          </a:p>
          <a:p>
            <a:r>
              <a:t>    &lt;- SCM-50: Exception MEDIUM. Rule E1-NOT-PROVIDED. Slide S062. The competitor comparison is a self-assessment. Shown once, and not as customer evidence.</a:t>
            </a:r>
          </a:p>
          <a:p>
            <a:r>
              <a:t>    &lt;- SCM-51: Exception MEDIUM. Rule E1-NOT-PROVIDED. Slide S075. Quotas have no rep-level bookings behind them. They are shown as the plan stated them.</a:t>
            </a:r>
          </a:p>
          <a:p>
            <a:r>
              <a:t>    &lt;- SCM-52: Exception MEDIUM. Rule E1-NOT-PROVIDED. Slide S081. ZIP scores have no revenue attached. They are not converted into a market figure.</a:t>
            </a:r>
          </a:p>
          <a:p>
            <a:r>
              <a:t>    &lt;- SCM-53: Exception MEDIUM. Rule E11-NO-PRIMARY. Slide S006. 23 pages need a survey or interview file No survey or interview file was loaded.</a:t>
            </a:r>
          </a:p>
          <a:p>
            <a:r>
              <a:t>    &lt;- SCM-54: Exception MEDIUM. Rule E1-NOT-PROVIDED. Slide S012. 28 pages have nothing further in the loaded record Not in the loaded record.</a:t>
            </a:r>
          </a:p>
          <a:p>
            <a:r>
              <a:t>[table row 1] refs: SCM-45, SCM-46, SCM-47, SCM-48, SCM-49, SCM-50, SCM-51, SCM-52, SCM-53, SCM-54</a:t>
            </a:r>
          </a:p>
          <a:p>
            <a:r>
              <a:t>[table row 2] refs: SCM-45, SCM-46, SCM-47, SCM-48, SCM-49, SCM-50, SCM-51, SCM-52, SCM-53, SCM-54</a:t>
            </a:r>
          </a:p>
          <a:p>
            <a:r>
              <a:t>[table row 3] refs: SCM-45, SCM-46, SCM-47, SCM-48, SCM-49, SCM-50, SCM-51, SCM-52, SCM-53, SCM-54</a:t>
            </a:r>
          </a:p>
          <a:p>
            <a:r>
              <a:t>[table row 4] refs: SCM-45, SCM-46, SCM-47, SCM-48, SCM-49, SCM-50, SCM-51, SCM-52, SCM-53, SCM-54</a:t>
            </a:r>
          </a:p>
          <a:p>
            <a:r>
              <a:t>[table row 5] refs: SCM-45, SCM-46, SCM-47, SCM-48, SCM-49, SCM-50, SCM-51, SCM-52, SCM-53, SCM-54</a:t>
            </a:r>
          </a:p>
          <a:p>
            <a:r>
              <a:t>[table row 6] refs: SCM-45, SCM-46, SCM-47, SCM-48, SCM-49, SCM-50, SCM-51, SCM-52, SCM-53, SCM-54</a:t>
            </a:r>
          </a:p>
          <a:p>
            <a:r>
              <a:t>[table row 7] refs: SCM-45, SCM-46, SCM-47, SCM-48, SCM-49, SCM-50, SCM-51, SCM-52, SCM-53, SCM-54</a:t>
            </a:r>
          </a:p>
          <a:p>
            <a:r>
              <a:t>[table row 8] refs: SCM-45, SCM-46, SCM-47, SCM-48, SCM-49, SCM-50, SCM-51, SCM-52, SCM-53, SCM-54</a:t>
            </a:r>
          </a:p>
          <a:p>
            <a:r>
              <a:t>[takeaway] FACT: The adjusted verdicts and the source register are the other half of this audit.</a:t>
            </a:r>
          </a:p>
          <a:p>
            <a:r>
              <a:t>    &lt;- SCM-45: Exception HIGH. Rule E1-NOT-PROVIDED. Slide S099. 26 modules are marked blocked. Findings from a blocked module are not relied on.</a:t>
            </a:r>
          </a:p>
          <a:p>
            <a:r>
              <a:t>    &lt;- SCM-46: Exception HIGH. Rule E3-CONFLICT. Slide S020. 2025 accounts $13.41M, workbook $13.28M, CIM $13.3mn. The accounts figure is the one used on the results pages. Th</a:t>
            </a:r>
          </a:p>
          <a:p>
            <a:r>
              <a:t>    &lt;- SCM-47: Exception HIGH. Rule E3-CONFLICT. Slide S013. Gross retention 90.9% on the model basis and 87.3% on the cohort basis. The results pages use the actual cohort ba</a:t>
            </a:r>
          </a:p>
          <a:p>
            <a:r>
              <a:t>    &lt;- SCM-48: Exception MEDIUM. Rule E1-NOT-PROVIDED. Slide S046. Plan years are in the file and are not results. They carry a P suffix and stay off the actuals chart.</a:t>
            </a:r>
          </a:p>
          <a:p>
            <a:r>
              <a:t>    &lt;- SCM-49: Exception MEDIUM. Rule E11-NO-PRIMARY. Slide S065. No customer survey or interviews were loaded. NPS and quote pages stay withheld.</a:t>
            </a:r>
          </a:p>
          <a:p>
            <a:r>
              <a:t>    &lt;- SCM-50: Exception MEDIUM. Rule E1-NOT-PROVIDED. Slide S062. The competitor comparison is a self-assessment. Shown once, and not as customer evidence.</a:t>
            </a:r>
          </a:p>
          <a:p>
            <a:r>
              <a:t>    &lt;- SCM-51: Exception MEDIUM. Rule E1-NOT-PROVIDED. Slide S075. Quotas have no rep-level bookings behind them. They are shown as the plan stated them.</a:t>
            </a:r>
          </a:p>
          <a:p>
            <a:r>
              <a:t>    &lt;- SCM-52: Exception MEDIUM. Rule E1-NOT-PROVIDED. Slide S081. ZIP scores have no revenue attached. They are not converted into a market figure.</a:t>
            </a:r>
          </a:p>
          <a:p>
            <a:r>
              <a:t>    &lt;- SCM-53: Exception MEDIUM. Rule E11-NO-PRIMARY. Slide S006. 23 pages need a survey or interview file No survey or interview file was loaded.</a:t>
            </a:r>
          </a:p>
          <a:p>
            <a:r>
              <a:t>    &lt;- SCM-54: Exception MEDIUM. Rule E1-NOT-PROVIDED. Slide S012. 28 pages have nothing further in the loaded record Not in the loaded record.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Q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14213D"/>
          </a:solidFill>
          <a:ln/>
        </p:spPr>
        <p:txBody>
          <a:bodyPr/>
          <a:p/>
        </p:txBody>
      </p:sp>
      <p:sp>
        <p:nvSpPr>
          <p:cNvPr id="3" name="Text 1"/>
          <p:cNvSpPr/>
          <p:nvPr/>
        </p:nvSpPr>
        <p:spPr>
          <a:xfrm>
            <a:off x="9966960" y="91440"/>
            <a:ext cx="1828800" cy="310896"/>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DiligenceIQ</a:t>
            </a:r>
            <a:endParaRPr lang="en-US" sz="1300" dirty="0"/>
          </a:p>
        </p:txBody>
      </p:sp>
      <p:sp>
        <p:nvSpPr>
          <p:cNvPr id="4" name="Shape 2"/>
          <p:cNvSpPr/>
          <p:nvPr/>
        </p:nvSpPr>
        <p:spPr>
          <a:xfrm>
            <a:off x="0" y="6473952"/>
            <a:ext cx="12191695" cy="384048"/>
          </a:xfrm>
          <a:prstGeom prst="rect">
            <a:avLst/>
          </a:prstGeom>
          <a:solidFill>
            <a:srgbClr val="EEF1F5"/>
          </a:solidFill>
          <a:ln/>
        </p:spPr>
        <p:txBody>
          <a:bodyPr/>
          <a:p/>
        </p:txBody>
      </p:sp>
      <p:sp>
        <p:nvSpPr>
          <p:cNvPr id="5" name="Text 3"/>
          <p:cNvSpPr/>
          <p:nvPr/>
        </p:nvSpPr>
        <p:spPr>
          <a:xfrm>
            <a:off x="411480" y="6510528"/>
            <a:ext cx="4114800" cy="292608"/>
          </a:xfrm>
          <a:prstGeom prst="rect">
            <a:avLst/>
          </a:prstGeom>
          <a:noFill/>
          <a:ln/>
        </p:spPr>
        <p:txBody>
          <a:bodyPr wrap="square" lIns="0" tIns="0" rIns="0" bIns="0" rtlCol="0" anchor="ctr"/>
          <a:lstStyle/>
          <a:p>
            <a:pPr indent="0" marL="0">
              <a:buNone/>
            </a:pPr>
            <a:r>
              <a:rPr lang="en-US" sz="800" dirty="0">
                <a:solidFill>
                  <a:srgbClr val="5B6B7F"/>
                </a:solidFill>
                <a:latin typeface="Calibri" pitchFamily="34" charset="0"/>
                <a:ea typeface="Calibri" pitchFamily="34" charset="-122"/>
                <a:cs typeface="Calibri" pitchFamily="34" charset="-120"/>
              </a:rPr>
              <a:t>Compost Crew · Commercial due diligence · Draft for discussion</a:t>
            </a:r>
            <a:endParaRPr lang="en-US" sz="800" dirty="0"/>
          </a:p>
        </p:txBody>
      </p:sp>
      <p:sp>
        <p:nvSpPr>
          <p:cNvPr id="6" name="Text 4"/>
          <p:cNvSpPr/>
          <p:nvPr/>
        </p:nvSpPr>
        <p:spPr>
          <a:xfrm>
            <a:off x="4023360" y="6510528"/>
            <a:ext cx="4114800" cy="292608"/>
          </a:xfrm>
          <a:prstGeom prst="rect">
            <a:avLst/>
          </a:prstGeom>
          <a:noFill/>
          <a:ln/>
        </p:spPr>
        <p:txBody>
          <a:bodyPr wrap="square" lIns="0" tIns="0" rIns="0" bIns="0" rtlCol="0" anchor="ctr"/>
          <a:lstStyle/>
          <a:p>
            <a:pPr algn="ctr" indent="0" marL="0">
              <a:buNone/>
            </a:pPr>
            <a:r>
              <a:rPr lang="en-US" sz="800" dirty="0">
                <a:solidFill>
                  <a:srgbClr val="5B6B7F"/>
                </a:solidFill>
                <a:latin typeface="Calibri" pitchFamily="34" charset="0"/>
                <a:ea typeface="Calibri" pitchFamily="34" charset="-122"/>
                <a:cs typeface="Calibri" pitchFamily="34" charset="-120"/>
              </a:rPr>
              <a:t>DiligenceIQ  |  Strictly private &amp; confidential</a:t>
            </a:r>
            <a:endParaRPr lang="en-US" sz="800" dirty="0"/>
          </a:p>
        </p:txBody>
      </p:sp>
      <p:sp>
        <p:nvSpPr>
          <p:cNvPr id="25" name="Slide Number Placeholder 0"/>
          <p:cNvSpPr>
            <a:spLocks noGrp="1"/>
          </p:cNvSpPr>
          <p:nvPr>
            <p:ph type="sldNum" sz="quarter" idx="4294967295"/>
          </p:nvPr>
        </p:nvSpPr>
        <p:spPr>
          <a:xfrm>
            <a:off x="11247120" y="6528816"/>
            <a:ext cx="54864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5B6B7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Q_DIVIDER">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126480"/>
            <a:ext cx="2743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DiligenceIQ</a:t>
            </a:r>
            <a:endParaRPr lang="en-US" sz="1400" dirty="0"/>
          </a:p>
        </p:txBody>
      </p:sp>
      <p:sp>
        <p:nvSpPr>
          <p:cNvPr id="3" name="Text 1"/>
          <p:cNvSpPr/>
          <p:nvPr/>
        </p:nvSpPr>
        <p:spPr>
          <a:xfrm>
            <a:off x="7589520" y="6172200"/>
            <a:ext cx="4206240" cy="292608"/>
          </a:xfrm>
          <a:prstGeom prst="rect">
            <a:avLst/>
          </a:prstGeom>
          <a:noFill/>
          <a:ln/>
        </p:spPr>
        <p:txBody>
          <a:bodyPr wrap="square" lIns="0" tIns="0" rIns="0" bIns="0" rtlCol="0" anchor="ctr"/>
          <a:lstStyle/>
          <a:p>
            <a:pPr algn="r" indent="0" marL="0">
              <a:buNone/>
            </a:pPr>
            <a:r>
              <a:rPr lang="en-US" sz="900" dirty="0">
                <a:solidFill>
                  <a:srgbClr val="B9C3D1"/>
                </a:solidFill>
                <a:latin typeface="Calibri" pitchFamily="34" charset="0"/>
                <a:ea typeface="Calibri" pitchFamily="34" charset="-122"/>
                <a:cs typeface="Calibri" pitchFamily="34" charset="-120"/>
              </a:rPr>
              <a:t>Compost Crew · Commercial due diligence · Draft for discussion</a:t>
            </a:r>
            <a:endParaRPr lang="en-US" sz="900" dirty="0"/>
          </a:p>
        </p:txBody>
      </p:sp>
      <p:sp>
        <p:nvSpPr>
          <p:cNvPr id="25" name="Slide Number Placeholder 0"/>
          <p:cNvSpPr>
            <a:spLocks noGrp="1"/>
          </p:cNvSpPr>
          <p:nvPr>
            <p:ph type="sldNum" sz="quarter" idx="4294967295"/>
          </p:nvPr>
        </p:nvSpPr>
        <p:spPr>
          <a:xfrm>
            <a:off x="11247120" y="6492240"/>
            <a:ext cx="54864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B9C3D1"/>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Q_COV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14213D"/>
          </a:solidFill>
          <a:ln/>
        </p:spPr>
        <p:txBody>
          <a:body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528816"/>
            <a:ext cx="54864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5B6B7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chart" Target="../charts/char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chart" Target="../charts/char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chart" Target="../charts/char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chart" Target="../charts/char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chart" Target="../charts/char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chart" Target="../charts/char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chart" Target="../charts/chart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slide1.xml><?xml version="1.0" encoding="utf-8"?>
<p:sld xmlns:a="http://schemas.openxmlformats.org/drawingml/2006/main" xmlns:p="http://schemas.openxmlformats.org/presentationml/2006/main" xmlns:r="http://schemas.openxmlformats.org/officeDocument/2006/relationships">
  <p:cSld name="S001_cover">
    <p:spTree>
      <p:nvGrpSpPr>
        <p:cNvPr id="1" name=""/>
        <p:cNvGrpSpPr/>
        <p:nvPr/>
      </p:nvGrpSpPr>
      <p:grpSpPr/>
      <p:sp>
        <p:nvSpPr>
          <p:cNvPr id="2" name="cover_brand"/>
          <p:cNvSpPr txBox="1"/>
          <p:nvPr/>
        </p:nvSpPr>
        <p:spPr>
          <a:xfrm>
            <a:off x="502920" y="457200"/>
            <a:ext cx="3657600" cy="411480"/>
          </a:xfrm>
          <a:prstGeom prst="rect">
            <a:avLst/>
          </a:prstGeom>
          <a:noFill/>
        </p:spPr>
        <p:txBody>
          <a:bodyPr wrap="square" anchor="t" lIns="0" rIns="0" tIns="0" bIns="0">
            <a:spAutoFit/>
          </a:bodyPr>
          <a:lstStyle/>
          <a:p>
            <a:pPr algn="l"/>
            <a:r>
              <a:rPr sz="1800" b="1" i="0">
                <a:solidFill>
                  <a:srgbClr val="FFFFFF"/>
                </a:solidFill>
                <a:latin typeface="Calibri"/>
              </a:rPr>
              <a:t>DiligenceIQ</a:t>
            </a:r>
          </a:p>
        </p:txBody>
      </p:sp>
      <p:sp>
        <p:nvSpPr>
          <p:cNvPr id="3" name="cover_tag"/>
          <p:cNvSpPr txBox="1"/>
          <p:nvPr/>
        </p:nvSpPr>
        <p:spPr>
          <a:xfrm>
            <a:off x="502920" y="868680"/>
            <a:ext cx="3840480" cy="274320"/>
          </a:xfrm>
          <a:prstGeom prst="rect">
            <a:avLst/>
          </a:prstGeom>
          <a:noFill/>
        </p:spPr>
        <p:txBody>
          <a:bodyPr wrap="square" anchor="t" lIns="0" rIns="0" tIns="0" bIns="0">
            <a:spAutoFit/>
          </a:bodyPr>
          <a:lstStyle/>
          <a:p>
            <a:pPr algn="l"/>
            <a:r>
              <a:rPr sz="1100" b="0" i="0">
                <a:solidFill>
                  <a:srgbClr val="B9C3D1"/>
                </a:solidFill>
                <a:latin typeface="Calibri"/>
              </a:rPr>
              <a:t>Commercial due diligence</a:t>
            </a:r>
          </a:p>
        </p:txBody>
      </p:sp>
      <p:sp>
        <p:nvSpPr>
          <p:cNvPr id="4" name="report_title"/>
          <p:cNvSpPr txBox="1"/>
          <p:nvPr/>
        </p:nvSpPr>
        <p:spPr>
          <a:xfrm>
            <a:off x="502920" y="2377440"/>
            <a:ext cx="3886200" cy="1371600"/>
          </a:xfrm>
          <a:prstGeom prst="rect">
            <a:avLst/>
          </a:prstGeom>
          <a:noFill/>
        </p:spPr>
        <p:txBody>
          <a:bodyPr wrap="square" anchor="b" lIns="0" rIns="0" tIns="0" bIns="0">
            <a:spAutoFit/>
          </a:bodyPr>
          <a:lstStyle/>
          <a:p>
            <a:pPr algn="l"/>
            <a:r>
              <a:rPr sz="2600" b="1" i="0">
                <a:solidFill>
                  <a:srgbClr val="FFFFFF"/>
                </a:solidFill>
                <a:latin typeface="Calibri"/>
              </a:rPr>
              <a:t>Commercial Due Diligence: Compost Crew</a:t>
            </a:r>
          </a:p>
        </p:txBody>
      </p:sp>
      <p:sp>
        <p:nvSpPr>
          <p:cNvPr id="5" name="report_subtitle"/>
          <p:cNvSpPr txBox="1"/>
          <p:nvPr/>
        </p:nvSpPr>
        <p:spPr>
          <a:xfrm>
            <a:off x="502920" y="3822191"/>
            <a:ext cx="3886200" cy="457200"/>
          </a:xfrm>
          <a:prstGeom prst="rect">
            <a:avLst/>
          </a:prstGeom>
          <a:noFill/>
        </p:spPr>
        <p:txBody>
          <a:bodyPr wrap="square" anchor="t" lIns="0" rIns="0" tIns="0" bIns="0">
            <a:spAutoFit/>
          </a:bodyPr>
          <a:lstStyle/>
          <a:p>
            <a:pPr algn="l"/>
            <a:r>
              <a:rPr sz="1500" b="0" i="1">
                <a:solidFill>
                  <a:srgbClr val="F2C879"/>
                </a:solidFill>
                <a:latin typeface="Calibri"/>
              </a:rPr>
              <a:t>Draft for discussion</a:t>
            </a:r>
          </a:p>
        </p:txBody>
      </p:sp>
      <p:sp>
        <p:nvSpPr>
          <p:cNvPr id="6" name="prepared_for"/>
          <p:cNvSpPr txBox="1"/>
          <p:nvPr/>
        </p:nvSpPr>
        <p:spPr>
          <a:xfrm>
            <a:off x="502920" y="5257800"/>
            <a:ext cx="3886200" cy="457200"/>
          </a:xfrm>
          <a:prstGeom prst="rect">
            <a:avLst/>
          </a:prstGeom>
          <a:noFill/>
        </p:spPr>
        <p:txBody>
          <a:bodyPr wrap="square" anchor="t" lIns="0" rIns="0" tIns="0" bIns="0">
            <a:spAutoFit/>
          </a:bodyPr>
          <a:lstStyle/>
          <a:p>
            <a:pPr algn="l"/>
            <a:r>
              <a:rPr sz="1100" b="0" i="0">
                <a:solidFill>
                  <a:srgbClr val="FFFFFF"/>
                </a:solidFill>
                <a:latin typeface="Calibri"/>
              </a:rPr>
              <a:t>Prepared for DiligenceIQ</a:t>
            </a:r>
          </a:p>
        </p:txBody>
      </p:sp>
      <p:sp>
        <p:nvSpPr>
          <p:cNvPr id="7" name="report_date"/>
          <p:cNvSpPr txBox="1"/>
          <p:nvPr/>
        </p:nvSpPr>
        <p:spPr>
          <a:xfrm>
            <a:off x="502920" y="5715000"/>
            <a:ext cx="3886200" cy="320040"/>
          </a:xfrm>
          <a:prstGeom prst="rect">
            <a:avLst/>
          </a:prstGeom>
          <a:noFill/>
        </p:spPr>
        <p:txBody>
          <a:bodyPr wrap="square" anchor="t" lIns="0" rIns="0" tIns="0" bIns="0">
            <a:spAutoFit/>
          </a:bodyPr>
          <a:lstStyle/>
          <a:p>
            <a:pPr algn="l"/>
            <a:r>
              <a:rPr sz="1100" b="0" i="0">
                <a:solidFill>
                  <a:srgbClr val="B9C3D1"/>
                </a:solidFill>
                <a:latin typeface="Calibri"/>
              </a:rPr>
              <a:t>October 2026</a:t>
            </a:r>
          </a:p>
        </p:txBody>
      </p:sp>
      <p:sp>
        <p:nvSpPr>
          <p:cNvPr id="8" name="confidential"/>
          <p:cNvSpPr txBox="1"/>
          <p:nvPr/>
        </p:nvSpPr>
        <p:spPr>
          <a:xfrm>
            <a:off x="502920" y="6144768"/>
            <a:ext cx="3886200" cy="274320"/>
          </a:xfrm>
          <a:prstGeom prst="rect">
            <a:avLst/>
          </a:prstGeom>
          <a:noFill/>
        </p:spPr>
        <p:txBody>
          <a:bodyPr wrap="square" anchor="t" lIns="0" rIns="0" tIns="0" bIns="0">
            <a:spAutoFit/>
          </a:bodyPr>
          <a:lstStyle/>
          <a:p>
            <a:pPr algn="l"/>
            <a:r>
              <a:rPr sz="900" b="1" i="0">
                <a:solidFill>
                  <a:srgbClr val="B7791F"/>
                </a:solidFill>
                <a:latin typeface="Calibri"/>
              </a:rPr>
              <a:t>CONFIDENTIAL</a:t>
            </a:r>
          </a:p>
        </p:txBody>
      </p:sp>
      <p:sp>
        <p:nvSpPr>
          <p:cNvPr id="9" name="motif_0"/>
          <p:cNvSpPr/>
          <p:nvPr/>
        </p:nvSpPr>
        <p:spPr>
          <a:xfrm>
            <a:off x="5486400" y="5029200"/>
            <a:ext cx="566928" cy="100584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otif_1"/>
          <p:cNvSpPr/>
          <p:nvPr/>
        </p:nvSpPr>
        <p:spPr>
          <a:xfrm>
            <a:off x="6355080" y="4572000"/>
            <a:ext cx="566928" cy="1463040"/>
          </a:xfrm>
          <a:prstGeom prst="rect">
            <a:avLst/>
          </a:prstGeom>
          <a:solidFill>
            <a:srgbClr val="A9C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otif_2"/>
          <p:cNvSpPr/>
          <p:nvPr/>
        </p:nvSpPr>
        <p:spPr>
          <a:xfrm>
            <a:off x="7223760" y="4754879"/>
            <a:ext cx="566928" cy="128016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tif_3"/>
          <p:cNvSpPr/>
          <p:nvPr/>
        </p:nvSpPr>
        <p:spPr>
          <a:xfrm>
            <a:off x="8092440" y="4023359"/>
            <a:ext cx="566928" cy="2011680"/>
          </a:xfrm>
          <a:prstGeom prst="rect">
            <a:avLst/>
          </a:prstGeom>
          <a:solidFill>
            <a:srgbClr val="A9C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motif_4"/>
          <p:cNvSpPr/>
          <p:nvPr/>
        </p:nvSpPr>
        <p:spPr>
          <a:xfrm>
            <a:off x="8961120" y="3566159"/>
            <a:ext cx="566928" cy="246888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otif_5"/>
          <p:cNvSpPr/>
          <p:nvPr/>
        </p:nvSpPr>
        <p:spPr>
          <a:xfrm>
            <a:off x="9829800" y="2926079"/>
            <a:ext cx="566928" cy="3108960"/>
          </a:xfrm>
          <a:prstGeom prst="rect">
            <a:avLst/>
          </a:prstGeom>
          <a:solidFill>
            <a:srgbClr val="2E4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otif_6"/>
          <p:cNvSpPr/>
          <p:nvPr/>
        </p:nvSpPr>
        <p:spPr>
          <a:xfrm>
            <a:off x="10698480" y="2103120"/>
            <a:ext cx="566928" cy="393192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motif_axis"/>
          <p:cNvCxnSpPr/>
          <p:nvPr/>
        </p:nvCxnSpPr>
        <p:spPr>
          <a:xfrm>
            <a:off x="5303520" y="6053328"/>
            <a:ext cx="6492240" cy="0"/>
          </a:xfrm>
          <a:prstGeom prst="line">
            <a:avLst/>
          </a:prstGeom>
          <a:ln w="12700">
            <a:solidFill>
              <a:srgbClr val="5B6B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S002_disclaimer">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ENGAGEMENT OVERVIEW</a:t>
            </a:r>
          </a:p>
        </p:txBody>
      </p:sp>
      <p:sp>
        <p:nvSpPr>
          <p:cNvPr id="4" name="title"/>
          <p:cNvSpPr txBox="1"/>
          <p:nvPr/>
        </p:nvSpPr>
        <p:spPr>
          <a:xfrm>
            <a:off x="411480" y="384048"/>
            <a:ext cx="11338560" cy="603504"/>
          </a:xfrm>
          <a:prstGeom prst="rect">
            <a:avLst/>
          </a:prstGeom>
          <a:noFill/>
        </p:spPr>
        <p:txBody>
          <a:bodyPr wrap="square" anchor="t" lIns="0" rIns="0" tIns="0" bIns="0">
            <a:spAutoFit/>
          </a:bodyPr>
          <a:lstStyle/>
          <a:p>
            <a:pPr algn="l"/>
            <a:r>
              <a:rPr sz="2000" b="1" i="0">
                <a:solidFill>
                  <a:srgbClr val="FFFFFF"/>
                </a:solidFill>
                <a:latin typeface="Calibri"/>
              </a:rPr>
              <a:t>Disclaimer &amp; reliance limitations</a:t>
            </a:r>
          </a:p>
        </p:txBody>
      </p:sp>
      <p:sp>
        <p:nvSpPr>
          <p:cNvPr id="5" name="disclaimer_body"/>
          <p:cNvSpPr txBox="1"/>
          <p:nvPr/>
        </p:nvSpPr>
        <p:spPr>
          <a:xfrm>
            <a:off x="411480" y="1691640"/>
            <a:ext cx="11365992" cy="3291840"/>
          </a:xfrm>
          <a:prstGeom prst="rect">
            <a:avLst/>
          </a:prstGeom>
          <a:solidFill>
            <a:srgbClr val="EEF1F5"/>
          </a:solidFill>
          <a:ln>
            <a:noFill/>
          </a:ln>
        </p:spPr>
        <p:txBody>
          <a:bodyPr wrap="square" anchor="ctr" lIns="109728" rIns="109728" tIns="0" bIns="0">
            <a:spAutoFit/>
          </a:bodyPr>
          <a:lstStyle/>
          <a:p>
            <a:pPr algn="l"/>
            <a:r>
              <a:rPr sz="1200" b="0" i="0">
                <a:solidFill>
                  <a:srgbClr val="14213D"/>
                </a:solidFill>
                <a:latin typeface="Calibri"/>
              </a:rPr>
              <a:t>Prepared for discussion of Compost Crew. It is not a recommendation to invest. Accounts and workbooks outrank the CIM, and the CIM outranks agent outputs.</a:t>
            </a:r>
          </a:p>
        </p:txBody>
      </p:sp>
      <p:sp>
        <p:nvSpPr>
          <p:cNvPr id="6" name="data_notice"/>
          <p:cNvSpPr/>
          <p:nvPr/>
        </p:nvSpPr>
        <p:spPr>
          <a:xfrm>
            <a:off x="411480" y="5212080"/>
            <a:ext cx="11365992" cy="868680"/>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0" i="0">
                <a:solidFill>
                  <a:srgbClr val="14213D"/>
                </a:solidFill>
                <a:latin typeface="Calibri"/>
              </a:rPr>
              <a:t>Evidence is limited to the diligence modules loaded for this deal. A module with no fact base is an open request, not a negative finding. Plan years carry a P suffix and are not results.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S003_engagement">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ENGAGEMENT OVERVIEW</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The mandate: test whether Compost Crew's trading, customers and market support the management plan</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Each finding is graded by the evidence behind it: established, indicated or asserted.</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Scope &amp; Methodology; data room: 2 2 1 Revenue by Service Line  Please see Investor Workbook.txt, 2 3 1 Financial Projections  Please see Investor Workbook.txt, Compost Crew Monthly Financials 23YTD26, Please see 2 1 1 Financial Statements for BS.txt, Please see 2 1 1 Financial Statements for Cash Flow Statements.txt, Please see 2 1 1 Financial Statements.txt</a:t>
            </a:r>
          </a:p>
        </p:txBody>
      </p:sp>
      <p:sp>
        <p:nvSpPr>
          <p:cNvPr id="7" name="lead"/>
          <p:cNvSpPr/>
          <p:nvPr/>
        </p:nvSpPr>
        <p:spPr>
          <a:xfrm>
            <a:off x="411480" y="1691640"/>
            <a:ext cx="11365992" cy="65836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0" i="0">
                <a:solidFill>
                  <a:srgbClr val="14213D"/>
                </a:solidFill>
                <a:latin typeface="Calibri"/>
              </a:rPr>
              <a:t>Commercial due diligence on Compost Crew using the data room and the diligence modules loaded for this deal.</a:t>
            </a:r>
          </a:p>
        </p:txBody>
      </p:sp>
      <p:sp>
        <p:nvSpPr>
          <p:cNvPr id="8" name="col1_head"/>
          <p:cNvSpPr/>
          <p:nvPr/>
        </p:nvSpPr>
        <p:spPr>
          <a:xfrm>
            <a:off x="411480" y="2487168"/>
            <a:ext cx="2141524" cy="45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050" b="1">
                <a:solidFill>
                  <a:srgbClr val="FFFFFF"/>
                </a:solidFill>
                <a:latin typeface="Calibri"/>
              </a:rPr>
              <a:t>Business &amp; Financials</a:t>
            </a:r>
          </a:p>
        </p:txBody>
      </p:sp>
      <p:sp>
        <p:nvSpPr>
          <p:cNvPr id="9" name="col1_body"/>
          <p:cNvSpPr/>
          <p:nvPr/>
        </p:nvSpPr>
        <p:spPr>
          <a:xfrm>
            <a:off x="411480" y="3017520"/>
            <a:ext cx="2141524" cy="310896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What has the business delivered?</a:t>
            </a:r>
          </a:p>
          <a:p>
            <a:pPr algn="l" marL="155448" indent="-155448">
              <a:spcAft>
                <a:spcPts val="600"/>
              </a:spcAft>
              <a:buChar char="•"/>
            </a:pPr>
            <a:r>
              <a:rPr sz="1400" b="0" i="0">
                <a:solidFill>
                  <a:srgbClr val="1F2937"/>
                </a:solidFill>
                <a:latin typeface="Calibri"/>
              </a:rPr>
              <a:t>How do margins trend?</a:t>
            </a:r>
          </a:p>
          <a:p>
            <a:pPr algn="l" marL="155448" indent="-155448">
              <a:spcAft>
                <a:spcPts val="600"/>
              </a:spcAft>
              <a:buChar char="•"/>
            </a:pPr>
            <a:r>
              <a:rPr sz="1400" b="0" i="0">
                <a:solidFill>
                  <a:srgbClr val="1F2937"/>
                </a:solidFill>
                <a:latin typeface="Calibri"/>
              </a:rPr>
              <a:t>What is contracted?</a:t>
            </a:r>
          </a:p>
        </p:txBody>
      </p:sp>
      <p:sp>
        <p:nvSpPr>
          <p:cNvPr id="10" name="col2_head"/>
          <p:cNvSpPr/>
          <p:nvPr/>
        </p:nvSpPr>
        <p:spPr>
          <a:xfrm>
            <a:off x="2717596" y="2487168"/>
            <a:ext cx="2141524" cy="45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050" b="1">
                <a:solidFill>
                  <a:srgbClr val="FFFFFF"/>
                </a:solidFill>
                <a:latin typeface="Calibri"/>
              </a:rPr>
              <a:t>Market &amp; Geography</a:t>
            </a:r>
          </a:p>
        </p:txBody>
      </p:sp>
      <p:sp>
        <p:nvSpPr>
          <p:cNvPr id="11" name="col2_body"/>
          <p:cNvSpPr/>
          <p:nvPr/>
        </p:nvSpPr>
        <p:spPr>
          <a:xfrm>
            <a:off x="2717596" y="3017520"/>
            <a:ext cx="2141524" cy="310896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How large is the serviceable market?</a:t>
            </a:r>
          </a:p>
          <a:p>
            <a:pPr algn="l" marL="155448" indent="-155448">
              <a:spcAft>
                <a:spcPts val="600"/>
              </a:spcAft>
              <a:buChar char="•"/>
            </a:pPr>
            <a:r>
              <a:rPr sz="1400" b="0" i="0">
                <a:solidFill>
                  <a:srgbClr val="1F2937"/>
                </a:solidFill>
                <a:latin typeface="Calibri"/>
              </a:rPr>
              <a:t>Is the sizing method sound?</a:t>
            </a:r>
          </a:p>
          <a:p>
            <a:pPr algn="l" marL="155448" indent="-155448">
              <a:spcAft>
                <a:spcPts val="600"/>
              </a:spcAft>
              <a:buChar char="•"/>
            </a:pPr>
            <a:r>
              <a:rPr sz="1400" b="0" i="0">
                <a:solidFill>
                  <a:srgbClr val="1F2937"/>
                </a:solidFill>
                <a:latin typeface="Calibri"/>
              </a:rPr>
              <a:t>Which geographies are next?</a:t>
            </a:r>
          </a:p>
        </p:txBody>
      </p:sp>
      <p:sp>
        <p:nvSpPr>
          <p:cNvPr id="12" name="col3_head"/>
          <p:cNvSpPr/>
          <p:nvPr/>
        </p:nvSpPr>
        <p:spPr>
          <a:xfrm>
            <a:off x="5023713" y="2487168"/>
            <a:ext cx="2141524" cy="45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050" b="1">
                <a:solidFill>
                  <a:srgbClr val="FFFFFF"/>
                </a:solidFill>
                <a:latin typeface="Calibri"/>
              </a:rPr>
              <a:t>Customers &amp; Retention</a:t>
            </a:r>
          </a:p>
        </p:txBody>
      </p:sp>
      <p:sp>
        <p:nvSpPr>
          <p:cNvPr id="13" name="col3_body"/>
          <p:cNvSpPr/>
          <p:nvPr/>
        </p:nvSpPr>
        <p:spPr>
          <a:xfrm>
            <a:off x="5023713" y="3017520"/>
            <a:ext cx="2141524" cy="310896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How are customers retained?</a:t>
            </a:r>
          </a:p>
          <a:p>
            <a:pPr algn="l" marL="155448" indent="-155448">
              <a:spcAft>
                <a:spcPts val="600"/>
              </a:spcAft>
              <a:buChar char="•"/>
            </a:pPr>
            <a:r>
              <a:rPr sz="1400" b="0" i="0">
                <a:solidFill>
                  <a:srgbClr val="1F2937"/>
                </a:solidFill>
                <a:latin typeface="Calibri"/>
              </a:rPr>
              <a:t>How concentrated is revenue?</a:t>
            </a:r>
          </a:p>
          <a:p>
            <a:pPr algn="l" marL="155448" indent="-155448">
              <a:spcAft>
                <a:spcPts val="600"/>
              </a:spcAft>
              <a:buChar char="•"/>
            </a:pPr>
            <a:r>
              <a:rPr sz="1400" b="0" i="0">
                <a:solidFill>
                  <a:srgbClr val="1F2937"/>
                </a:solidFill>
                <a:latin typeface="Calibri"/>
              </a:rPr>
              <a:t>What is untested without research?</a:t>
            </a:r>
          </a:p>
        </p:txBody>
      </p:sp>
      <p:sp>
        <p:nvSpPr>
          <p:cNvPr id="14" name="col4_head"/>
          <p:cNvSpPr/>
          <p:nvPr/>
        </p:nvSpPr>
        <p:spPr>
          <a:xfrm>
            <a:off x="7329830" y="2487168"/>
            <a:ext cx="2141524" cy="45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050" b="1">
                <a:solidFill>
                  <a:srgbClr val="FFFFFF"/>
                </a:solidFill>
                <a:latin typeface="Calibri"/>
              </a:rPr>
              <a:t>Competitive Landscape</a:t>
            </a:r>
          </a:p>
        </p:txBody>
      </p:sp>
      <p:sp>
        <p:nvSpPr>
          <p:cNvPr id="15" name="col4_body"/>
          <p:cNvSpPr/>
          <p:nvPr/>
        </p:nvSpPr>
        <p:spPr>
          <a:xfrm>
            <a:off x="7329830" y="3017520"/>
            <a:ext cx="2141524" cy="310896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Who competes for the same customers?</a:t>
            </a:r>
          </a:p>
          <a:p>
            <a:pPr algn="l" marL="155448" indent="-155448">
              <a:spcAft>
                <a:spcPts val="600"/>
              </a:spcAft>
              <a:buChar char="•"/>
            </a:pPr>
            <a:r>
              <a:rPr sz="1400" b="0" i="0">
                <a:solidFill>
                  <a:srgbClr val="1F2937"/>
                </a:solidFill>
                <a:latin typeface="Calibri"/>
              </a:rPr>
              <a:t>Is price in line?</a:t>
            </a:r>
          </a:p>
          <a:p>
            <a:pPr algn="l" marL="155448" indent="-155448">
              <a:spcAft>
                <a:spcPts val="600"/>
              </a:spcAft>
              <a:buChar char="•"/>
            </a:pPr>
            <a:r>
              <a:rPr sz="1400" b="0" i="0">
                <a:solidFill>
                  <a:srgbClr val="1F2937"/>
                </a:solidFill>
                <a:latin typeface="Calibri"/>
              </a:rPr>
              <a:t>Which differentiators hold?</a:t>
            </a:r>
          </a:p>
        </p:txBody>
      </p:sp>
      <p:sp>
        <p:nvSpPr>
          <p:cNvPr id="16" name="col5_head"/>
          <p:cNvSpPr/>
          <p:nvPr/>
        </p:nvSpPr>
        <p:spPr>
          <a:xfrm>
            <a:off x="9635947" y="2487168"/>
            <a:ext cx="2141524" cy="45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050" b="1">
                <a:solidFill>
                  <a:srgbClr val="FFFFFF"/>
                </a:solidFill>
                <a:latin typeface="Calibri"/>
              </a:rPr>
              <a:t>Growth Opportunities</a:t>
            </a:r>
          </a:p>
        </p:txBody>
      </p:sp>
      <p:sp>
        <p:nvSpPr>
          <p:cNvPr id="17" name="col5_body"/>
          <p:cNvSpPr/>
          <p:nvPr/>
        </p:nvSpPr>
        <p:spPr>
          <a:xfrm>
            <a:off x="9635947" y="3017520"/>
            <a:ext cx="2141524" cy="310896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Which levers are in the plan?</a:t>
            </a:r>
          </a:p>
          <a:p>
            <a:pPr algn="l" marL="155448" indent="-155448">
              <a:spcAft>
                <a:spcPts val="600"/>
              </a:spcAft>
              <a:buChar char="•"/>
            </a:pPr>
            <a:r>
              <a:rPr sz="1400" b="0" i="0">
                <a:solidFill>
                  <a:srgbClr val="1F2937"/>
                </a:solidFill>
                <a:latin typeface="Calibri"/>
              </a:rPr>
              <a:t>What must be true for each?</a:t>
            </a:r>
          </a:p>
          <a:p>
            <a:pPr algn="l" marL="155448" indent="-155448">
              <a:spcAft>
                <a:spcPts val="600"/>
              </a:spcAft>
              <a:buChar char="•"/>
            </a:pPr>
            <a:r>
              <a:rPr sz="1400" b="0" i="0">
                <a:solidFill>
                  <a:srgbClr val="1F2937"/>
                </a:solidFill>
                <a:latin typeface="Calibri"/>
              </a:rPr>
              <a:t>What would change the 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S004_content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ENGAGEMENT OVERVIEW</a:t>
            </a:r>
          </a:p>
        </p:txBody>
      </p:sp>
      <p:sp>
        <p:nvSpPr>
          <p:cNvPr id="4" name="title"/>
          <p:cNvSpPr txBox="1"/>
          <p:nvPr/>
        </p:nvSpPr>
        <p:spPr>
          <a:xfrm>
            <a:off x="411480" y="384048"/>
            <a:ext cx="11338560" cy="603504"/>
          </a:xfrm>
          <a:prstGeom prst="rect">
            <a:avLst/>
          </a:prstGeom>
          <a:noFill/>
        </p:spPr>
        <p:txBody>
          <a:bodyPr wrap="square" anchor="t" lIns="0" rIns="0" tIns="0" bIns="0">
            <a:spAutoFit/>
          </a:bodyPr>
          <a:lstStyle/>
          <a:p>
            <a:pPr algn="l"/>
            <a:r>
              <a:rPr sz="2000" b="1" i="0">
                <a:solidFill>
                  <a:srgbClr val="FFFFFF"/>
                </a:solidFill>
                <a:latin typeface="Calibri"/>
              </a:rPr>
              <a:t>Contents</a:t>
            </a:r>
          </a:p>
        </p:txBody>
      </p:sp>
      <p:graphicFrame>
        <p:nvGraphicFramePr>
          <p:cNvPr id="5" name="contents_body"/>
          <p:cNvGraphicFramePr>
            <a:graphicFrameLocks noGrp="1"/>
          </p:cNvGraphicFramePr>
          <p:nvPr/>
        </p:nvGraphicFramePr>
        <p:xfrm>
          <a:off x="1097280" y="1463040"/>
          <a:ext cx="10058400" cy="2944368"/>
        </p:xfrm>
        <a:graphic>
          <a:graphicData uri="http://schemas.openxmlformats.org/drawingml/2006/table">
            <a:tbl>
              <a:tblPr bandRow="1">
                <a:tableStyleId>{2D5ABB26-0587-4C30-8999-92F81FD0307C}</a:tableStyleId>
              </a:tblPr>
              <a:tblGrid>
                <a:gridCol w="8549640"/>
                <a:gridCol w="1508760"/>
              </a:tblGrid>
              <a:tr h="420624">
                <a:tc>
                  <a:txBody>
                    <a:bodyPr/>
                    <a:lstStyle/>
                    <a:p>
                      <a:pPr algn="l"/>
                      <a:r>
                        <a:rPr sz="1600" b="1" i="0">
                          <a:solidFill>
                            <a:srgbClr val="14213D"/>
                          </a:solidFill>
                          <a:latin typeface="Calibri"/>
                        </a:rPr>
                        <a:t>01   Business Introduction &amp; Market Primer</a:t>
                      </a:r>
                    </a:p>
                  </a:txBody>
                  <a:tcPr>
                    <a:noFill/>
                    <a:lnB w="6350">
                      <a:solidFill>
                        <a:srgbClr val="D5DBE3"/>
                      </a:solidFill>
                    </a:lnB>
                  </a:tcPr>
                </a:tc>
                <a:tc>
                  <a:txBody>
                    <a:bodyPr/>
                    <a:lstStyle/>
                    <a:p>
                      <a:pPr algn="r"/>
                      <a:r>
                        <a:rPr sz="1600" b="0" i="0">
                          <a:solidFill>
                            <a:srgbClr val="14213D"/>
                          </a:solidFill>
                          <a:latin typeface="Calibri"/>
                        </a:rPr>
                        <a:t>08</a:t>
                      </a:r>
                    </a:p>
                  </a:txBody>
                  <a:tcPr>
                    <a:noFill/>
                    <a:lnB w="6350">
                      <a:solidFill>
                        <a:srgbClr val="D5DBE3"/>
                      </a:solidFill>
                    </a:lnB>
                  </a:tcPr>
                </a:tc>
              </a:tr>
              <a:tr h="420624">
                <a:tc>
                  <a:txBody>
                    <a:bodyPr/>
                    <a:lstStyle/>
                    <a:p>
                      <a:pPr algn="l"/>
                      <a:r>
                        <a:rPr sz="1600" b="1" i="0">
                          <a:solidFill>
                            <a:srgbClr val="14213D"/>
                          </a:solidFill>
                          <a:latin typeface="Calibri"/>
                        </a:rPr>
                        <a:t>02   Investment Highlights</a:t>
                      </a:r>
                    </a:p>
                  </a:txBody>
                  <a:tcPr>
                    <a:noFill/>
                    <a:lnB w="6350">
                      <a:solidFill>
                        <a:srgbClr val="D5DBE3"/>
                      </a:solidFill>
                    </a:lnB>
                  </a:tcPr>
                </a:tc>
                <a:tc>
                  <a:txBody>
                    <a:bodyPr/>
                    <a:lstStyle/>
                    <a:p>
                      <a:pPr algn="r"/>
                      <a:r>
                        <a:rPr sz="1600" b="0" i="0">
                          <a:solidFill>
                            <a:srgbClr val="14213D"/>
                          </a:solidFill>
                          <a:latin typeface="Calibri"/>
                        </a:rPr>
                        <a:t>15</a:t>
                      </a:r>
                    </a:p>
                  </a:txBody>
                  <a:tcPr>
                    <a:noFill/>
                    <a:lnB w="6350">
                      <a:solidFill>
                        <a:srgbClr val="D5DBE3"/>
                      </a:solidFill>
                    </a:lnB>
                  </a:tcPr>
                </a:tc>
              </a:tr>
              <a:tr h="420624">
                <a:tc>
                  <a:txBody>
                    <a:bodyPr/>
                    <a:lstStyle/>
                    <a:p>
                      <a:pPr algn="l"/>
                      <a:r>
                        <a:rPr sz="1600" b="1" i="0">
                          <a:solidFill>
                            <a:srgbClr val="14213D"/>
                          </a:solidFill>
                          <a:latin typeface="Calibri"/>
                        </a:rPr>
                        <a:t>03   Market Dynamics &amp; Opportunity</a:t>
                      </a:r>
                    </a:p>
                  </a:txBody>
                  <a:tcPr>
                    <a:noFill/>
                    <a:lnB w="6350">
                      <a:solidFill>
                        <a:srgbClr val="D5DBE3"/>
                      </a:solidFill>
                    </a:lnB>
                  </a:tcPr>
                </a:tc>
                <a:tc>
                  <a:txBody>
                    <a:bodyPr/>
                    <a:lstStyle/>
                    <a:p>
                      <a:pPr algn="r"/>
                      <a:r>
                        <a:rPr sz="1600" b="0" i="0">
                          <a:solidFill>
                            <a:srgbClr val="14213D"/>
                          </a:solidFill>
                          <a:latin typeface="Calibri"/>
                        </a:rPr>
                        <a:t>20</a:t>
                      </a:r>
                    </a:p>
                  </a:txBody>
                  <a:tcPr>
                    <a:noFill/>
                    <a:lnB w="6350">
                      <a:solidFill>
                        <a:srgbClr val="D5DBE3"/>
                      </a:solidFill>
                    </a:lnB>
                  </a:tcPr>
                </a:tc>
              </a:tr>
              <a:tr h="420624">
                <a:tc>
                  <a:txBody>
                    <a:bodyPr/>
                    <a:lstStyle/>
                    <a:p>
                      <a:pPr algn="l"/>
                      <a:r>
                        <a:rPr sz="1600" b="1" i="0">
                          <a:solidFill>
                            <a:srgbClr val="14213D"/>
                          </a:solidFill>
                          <a:latin typeface="Calibri"/>
                        </a:rPr>
                        <a:t>04   Competitive Landscape</a:t>
                      </a:r>
                    </a:p>
                  </a:txBody>
                  <a:tcPr>
                    <a:noFill/>
                    <a:lnB w="6350">
                      <a:solidFill>
                        <a:srgbClr val="D5DBE3"/>
                      </a:solidFill>
                    </a:lnB>
                  </a:tcPr>
                </a:tc>
                <a:tc>
                  <a:txBody>
                    <a:bodyPr/>
                    <a:lstStyle/>
                    <a:p>
                      <a:pPr algn="r"/>
                      <a:r>
                        <a:rPr sz="1600" b="0" i="0">
                          <a:solidFill>
                            <a:srgbClr val="14213D"/>
                          </a:solidFill>
                          <a:latin typeface="Calibri"/>
                        </a:rPr>
                        <a:t>27</a:t>
                      </a:r>
                    </a:p>
                  </a:txBody>
                  <a:tcPr>
                    <a:noFill/>
                    <a:lnB w="6350">
                      <a:solidFill>
                        <a:srgbClr val="D5DBE3"/>
                      </a:solidFill>
                    </a:lnB>
                  </a:tcPr>
                </a:tc>
              </a:tr>
              <a:tr h="420624">
                <a:tc>
                  <a:txBody>
                    <a:bodyPr/>
                    <a:lstStyle/>
                    <a:p>
                      <a:pPr algn="l"/>
                      <a:r>
                        <a:rPr sz="1600" b="1" i="0">
                          <a:solidFill>
                            <a:srgbClr val="14213D"/>
                          </a:solidFill>
                          <a:latin typeface="Calibri"/>
                        </a:rPr>
                        <a:t>05   Growth Opportunities</a:t>
                      </a:r>
                    </a:p>
                  </a:txBody>
                  <a:tcPr>
                    <a:noFill/>
                    <a:lnB w="6350">
                      <a:solidFill>
                        <a:srgbClr val="D5DBE3"/>
                      </a:solidFill>
                    </a:lnB>
                  </a:tcPr>
                </a:tc>
                <a:tc>
                  <a:txBody>
                    <a:bodyPr/>
                    <a:lstStyle/>
                    <a:p>
                      <a:pPr algn="r"/>
                      <a:r>
                        <a:rPr sz="1600" b="0" i="0">
                          <a:solidFill>
                            <a:srgbClr val="14213D"/>
                          </a:solidFill>
                          <a:latin typeface="Calibri"/>
                        </a:rPr>
                        <a:t>31</a:t>
                      </a:r>
                    </a:p>
                  </a:txBody>
                  <a:tcPr>
                    <a:noFill/>
                    <a:lnB w="6350">
                      <a:solidFill>
                        <a:srgbClr val="D5DBE3"/>
                      </a:solidFill>
                    </a:lnB>
                  </a:tcPr>
                </a:tc>
              </a:tr>
              <a:tr h="420624">
                <a:tc>
                  <a:txBody>
                    <a:bodyPr/>
                    <a:lstStyle/>
                    <a:p>
                      <a:pPr algn="l"/>
                      <a:r>
                        <a:rPr sz="1600" b="1" i="0">
                          <a:solidFill>
                            <a:srgbClr val="14213D"/>
                          </a:solidFill>
                          <a:latin typeface="Calibri"/>
                        </a:rPr>
                        <a:t>06   Appendix A - Market Sizing Methodology</a:t>
                      </a:r>
                    </a:p>
                  </a:txBody>
                  <a:tcPr>
                    <a:noFill/>
                    <a:lnB w="6350">
                      <a:solidFill>
                        <a:srgbClr val="D5DBE3"/>
                      </a:solidFill>
                    </a:lnB>
                  </a:tcPr>
                </a:tc>
                <a:tc>
                  <a:txBody>
                    <a:bodyPr/>
                    <a:lstStyle/>
                    <a:p>
                      <a:pPr algn="r"/>
                      <a:r>
                        <a:rPr sz="1600" b="0" i="0">
                          <a:solidFill>
                            <a:srgbClr val="14213D"/>
                          </a:solidFill>
                          <a:latin typeface="Calibri"/>
                        </a:rPr>
                        <a:t>40</a:t>
                      </a:r>
                    </a:p>
                  </a:txBody>
                  <a:tcPr>
                    <a:noFill/>
                    <a:lnB w="6350">
                      <a:solidFill>
                        <a:srgbClr val="D5DBE3"/>
                      </a:solidFill>
                    </a:lnB>
                  </a:tcPr>
                </a:tc>
              </a:tr>
              <a:tr h="420624">
                <a:tc>
                  <a:txBody>
                    <a:bodyPr/>
                    <a:lstStyle/>
                    <a:p>
                      <a:pPr algn="l"/>
                      <a:r>
                        <a:rPr sz="1600" b="1" i="0">
                          <a:solidFill>
                            <a:srgbClr val="14213D"/>
                          </a:solidFill>
                          <a:latin typeface="Calibri"/>
                        </a:rPr>
                        <a:t>07   Appendix B - Evidence &amp; Audit Trail</a:t>
                      </a:r>
                    </a:p>
                  </a:txBody>
                  <a:tcPr>
                    <a:noFill/>
                    <a:lnB w="6350">
                      <a:solidFill>
                        <a:srgbClr val="D5DBE3"/>
                      </a:solidFill>
                    </a:lnB>
                  </a:tcPr>
                </a:tc>
                <a:tc>
                  <a:txBody>
                    <a:bodyPr/>
                    <a:lstStyle/>
                    <a:p>
                      <a:pPr algn="r"/>
                      <a:r>
                        <a:rPr sz="1600" b="0" i="0">
                          <a:solidFill>
                            <a:srgbClr val="14213D"/>
                          </a:solidFill>
                          <a:latin typeface="Calibri"/>
                        </a:rPr>
                        <a:t>44</a:t>
                      </a:r>
                    </a:p>
                  </a:txBody>
                  <a:tcPr>
                    <a:noFill/>
                    <a:lnB w="6350">
                      <a:solidFill>
                        <a:srgbClr val="D5DBE3"/>
                      </a:solidFill>
                    </a:lnB>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S005_research_approach">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ENGAGEMENT OVERVIEW</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The findings rest on the data room first: accounts and workbooks outrank the CIM, and the CIM outranks the agent outputs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Where they disagree, the data room is used and the agent finding is an exception.</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Scope &amp; Methodology; data room: 2 2 1 Revenue by Service Line  Please see Investor Workbook.txt, 2 3 1 Financial Projections  Please see Investor Workbook.txt, Compost Crew Monthly Financials 23YTD26, Please see 2 1 1 Financial Statements for BS.txt, Please see 2 1 1 Financial Statements for Cash Flow Statements.txt, Please see 2 1 1 Financial Statements.txt</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Evidence base by source type</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Coverage, limitations and what was not available</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No customer survey is assumed.</a:t>
            </a:r>
          </a:p>
          <a:p>
            <a:pPr algn="l" marL="155448" indent="-155448">
              <a:spcAft>
                <a:spcPts val="600"/>
              </a:spcAft>
              <a:buChar char="•"/>
            </a:pPr>
            <a:r>
              <a:rPr sz="1400" b="0" i="0">
                <a:solidFill>
                  <a:srgbClr val="1F2937"/>
                </a:solidFill>
                <a:latin typeface="Calibri"/>
              </a:rPr>
              <a:t>Plan years are marked P and are not results.</a:t>
            </a:r>
          </a:p>
          <a:p>
            <a:pPr algn="l" marL="155448" indent="-155448">
              <a:spcAft>
                <a:spcPts val="600"/>
              </a:spcAft>
              <a:buChar char="•"/>
            </a:pPr>
            <a:r>
              <a:rPr sz="1400" b="0" i="0">
                <a:solidFill>
                  <a:srgbClr val="1F2937"/>
                </a:solidFill>
                <a:latin typeface="Calibri"/>
              </a:rPr>
              <a:t>Pages without an exhibit are withheld.</a:t>
            </a:r>
          </a:p>
        </p:txBody>
      </p:sp>
      <p:graphicFrame>
        <p:nvGraphicFramePr>
          <p:cNvPr id="11" name="left"/>
          <p:cNvGraphicFramePr>
            <a:graphicFrameLocks noGrp="1"/>
          </p:cNvGraphicFramePr>
          <p:nvPr/>
        </p:nvGraphicFramePr>
        <p:xfrm>
          <a:off x="411480" y="2112264"/>
          <a:ext cx="7086599" cy="2123948"/>
        </p:xfrm>
        <a:graphic>
          <a:graphicData uri="http://schemas.openxmlformats.org/drawingml/2006/table">
            <a:tbl>
              <a:tblPr firstRow="1">
                <a:tableStyleId>{5940675A-B579-460E-94D1-54222C63F5DA}</a:tableStyleId>
              </a:tblPr>
              <a:tblGrid>
                <a:gridCol w="938894"/>
                <a:gridCol w="2654813"/>
                <a:gridCol w="3492892"/>
              </a:tblGrid>
              <a:tr h="287020">
                <a:tc>
                  <a:txBody>
                    <a:bodyPr wrap="square"/>
                    <a:lstStyle/>
                    <a:p>
                      <a:r>
                        <a:rPr sz="1300" b="1" i="0">
                          <a:solidFill>
                            <a:srgbClr val="FFFFFF"/>
                          </a:solidFill>
                          <a:latin typeface="Calibri"/>
                        </a:rPr>
                        <a:t>Rank</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Source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Use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Accounts / QBO actuals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Established results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2</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Company workbook</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Indicated, company's model</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CIM / management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Asserted until tied to accounts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4</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Agent outputs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A lead, rejected if uncited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007_glossary__2">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ENGAGEMENT OVERVIEW</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Terms used in this report</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A term is listed only when it appears in this report. Plan years carry a P suffix.</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analysis</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A term that does not appear in the report is not defined here.</a:t>
            </a:r>
          </a:p>
        </p:txBody>
      </p:sp>
      <p:graphicFrame>
        <p:nvGraphicFramePr>
          <p:cNvPr id="9" name="table"/>
          <p:cNvGraphicFramePr>
            <a:graphicFrameLocks noGrp="1"/>
          </p:cNvGraphicFramePr>
          <p:nvPr/>
        </p:nvGraphicFramePr>
        <p:xfrm>
          <a:off x="411480" y="1691640"/>
          <a:ext cx="11365991" cy="1664716"/>
        </p:xfrm>
        <a:graphic>
          <a:graphicData uri="http://schemas.openxmlformats.org/drawingml/2006/table">
            <a:tbl>
              <a:tblPr firstRow="1">
                <a:tableStyleId>{5940675A-B579-460E-94D1-54222C63F5DA}</a:tableStyleId>
              </a:tblPr>
              <a:tblGrid>
                <a:gridCol w="1554946"/>
                <a:gridCol w="9811045"/>
              </a:tblGrid>
              <a:tr h="287020">
                <a:tc>
                  <a:txBody>
                    <a:bodyPr wrap="square"/>
                    <a:lstStyle/>
                    <a:p>
                      <a:r>
                        <a:rPr sz="1300" b="1" i="0">
                          <a:solidFill>
                            <a:srgbClr val="FFFFFF"/>
                          </a:solidFill>
                          <a:latin typeface="Calibri"/>
                        </a:rPr>
                        <a:t>Term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Meaning in this report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SOM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Serviceable obtainable market - the part of SAM a single operator can realistically win.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TAM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Total addressable market - every customer in the defined territory multiplied by average spend.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YTD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Year to date.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S007_glossary">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ENGAGEMENT OVERVIEW</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Terms used in this report</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A term is listed only when it appears in this report. Plan years carry a P suffix.</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analysis</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A term that does not appear in the report is not defined here.</a:t>
            </a:r>
          </a:p>
        </p:txBody>
      </p:sp>
      <p:graphicFrame>
        <p:nvGraphicFramePr>
          <p:cNvPr id="9" name="table"/>
          <p:cNvGraphicFramePr>
            <a:graphicFrameLocks noGrp="1"/>
          </p:cNvGraphicFramePr>
          <p:nvPr/>
        </p:nvGraphicFramePr>
        <p:xfrm>
          <a:off x="411480" y="1691640"/>
          <a:ext cx="11365991" cy="3812300"/>
        </p:xfrm>
        <a:graphic>
          <a:graphicData uri="http://schemas.openxmlformats.org/drawingml/2006/table">
            <a:tbl>
              <a:tblPr firstRow="1">
                <a:tableStyleId>{5940675A-B579-460E-94D1-54222C63F5DA}</a:tableStyleId>
              </a:tblPr>
              <a:tblGrid>
                <a:gridCol w="2703964"/>
                <a:gridCol w="8662027"/>
              </a:tblGrid>
              <a:tr h="279400">
                <a:tc>
                  <a:txBody>
                    <a:bodyPr wrap="square"/>
                    <a:lstStyle/>
                    <a:p>
                      <a:r>
                        <a:rPr sz="1250" b="1" i="0">
                          <a:solidFill>
                            <a:srgbClr val="FFFFFF"/>
                          </a:solidFill>
                          <a:latin typeface="Calibri"/>
                        </a:rPr>
                        <a:t>Term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250" b="1" i="0">
                          <a:solidFill>
                            <a:srgbClr val="FFFFFF"/>
                          </a:solidFill>
                          <a:latin typeface="Calibri"/>
                        </a:rPr>
                        <a:t>Meaning in this report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353290">
                <a:tc>
                  <a:txBody>
                    <a:bodyPr wrap="square"/>
                    <a:lstStyle/>
                    <a:p>
                      <a:r>
                        <a:rPr sz="1250" b="1" i="0">
                          <a:solidFill>
                            <a:srgbClr val="14213D"/>
                          </a:solidFill>
                          <a:latin typeface="Calibri"/>
                        </a:rPr>
                        <a:t>AAOV</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250" b="0" i="0">
                          <a:solidFill>
                            <a:srgbClr val="1F2937"/>
                          </a:solidFill>
                          <a:latin typeface="Calibri"/>
                        </a:rPr>
                        <a:t>Average annual order value per account.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353290">
                <a:tc>
                  <a:txBody>
                    <a:bodyPr wrap="square"/>
                    <a:lstStyle/>
                    <a:p>
                      <a:r>
                        <a:rPr sz="1250" b="1" i="0">
                          <a:solidFill>
                            <a:srgbClr val="14213D"/>
                          </a:solidFill>
                          <a:latin typeface="Calibri"/>
                        </a:rPr>
                        <a:t>ARR</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250" b="0" i="0">
                          <a:solidFill>
                            <a:srgbClr val="1F2937"/>
                          </a:solidFill>
                          <a:latin typeface="Calibri"/>
                        </a:rPr>
                        <a:t>Annual recurring revenue - contracted or subscription revenue at a point in time, annualised.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353290">
                <a:tc>
                  <a:txBody>
                    <a:bodyPr wrap="square"/>
                    <a:lstStyle/>
                    <a:p>
                      <a:r>
                        <a:rPr sz="1250" b="1" i="0">
                          <a:solidFill>
                            <a:srgbClr val="14213D"/>
                          </a:solidFill>
                          <a:latin typeface="Calibri"/>
                        </a:rPr>
                        <a:t>Cohort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250" b="0" i="0">
                          <a:solidFill>
                            <a:srgbClr val="1F2937"/>
                          </a:solidFill>
                          <a:latin typeface="Calibri"/>
                        </a:rPr>
                        <a:t>The group of customers acquired in the same period, tracked over time.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353290">
                <a:tc>
                  <a:txBody>
                    <a:bodyPr wrap="square"/>
                    <a:lstStyle/>
                    <a:p>
                      <a:r>
                        <a:rPr sz="1250" b="1" i="0">
                          <a:solidFill>
                            <a:srgbClr val="14213D"/>
                          </a:solidFill>
                          <a:latin typeface="Calibri"/>
                        </a:rPr>
                        <a:t>EBITDA</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250" b="0" i="0">
                          <a:solidFill>
                            <a:srgbClr val="1F2937"/>
                          </a:solidFill>
                          <a:latin typeface="Calibri"/>
                        </a:rPr>
                        <a:t>Earnings before interest, tax, depreciation and amortisation, as reported in the management accounts.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353290">
                <a:tc>
                  <a:txBody>
                    <a:bodyPr wrap="square"/>
                    <a:lstStyle/>
                    <a:p>
                      <a:r>
                        <a:rPr sz="1250" b="1" i="0">
                          <a:solidFill>
                            <a:srgbClr val="14213D"/>
                          </a:solidFill>
                          <a:latin typeface="Calibri"/>
                        </a:rPr>
                        <a:t>Gross margin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250" b="0" i="0">
                          <a:solidFill>
                            <a:srgbClr val="1F2937"/>
                          </a:solidFill>
                          <a:latin typeface="Calibri"/>
                        </a:rPr>
                        <a:t>Gross profit as a share of revenue; gross profit is revenue less cost of operations.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353290">
                <a:tc>
                  <a:txBody>
                    <a:bodyPr wrap="square"/>
                    <a:lstStyle/>
                    <a:p>
                      <a:r>
                        <a:rPr sz="1250" b="1" i="0">
                          <a:solidFill>
                            <a:srgbClr val="14213D"/>
                          </a:solidFill>
                          <a:latin typeface="Calibri"/>
                        </a:rPr>
                        <a:t>GRR</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250" b="0" i="0">
                          <a:solidFill>
                            <a:srgbClr val="1F2937"/>
                          </a:solidFill>
                          <a:latin typeface="Calibri"/>
                        </a:rPr>
                        <a:t>Gross revenue retention - revenue kept from a starting cohort after churn and contraction, before any expansion.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353290">
                <a:tc>
                  <a:txBody>
                    <a:bodyPr wrap="square"/>
                    <a:lstStyle/>
                    <a:p>
                      <a:r>
                        <a:rPr sz="1250" b="1" i="0">
                          <a:solidFill>
                            <a:srgbClr val="14213D"/>
                          </a:solidFill>
                          <a:latin typeface="Calibri"/>
                        </a:rPr>
                        <a:t>Logo retention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250" b="0" i="0">
                          <a:solidFill>
                            <a:srgbClr val="1F2937"/>
                          </a:solidFill>
                          <a:latin typeface="Calibri"/>
                        </a:rPr>
                        <a:t>Share of customers (accounts, subscribers) still active at the end of a period.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353290">
                <a:tc>
                  <a:txBody>
                    <a:bodyPr wrap="square"/>
                    <a:lstStyle/>
                    <a:p>
                      <a:r>
                        <a:rPr sz="1250" b="1" i="0">
                          <a:solidFill>
                            <a:srgbClr val="14213D"/>
                          </a:solidFill>
                          <a:latin typeface="Calibri"/>
                        </a:rPr>
                        <a:t>NRR</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250" b="0" i="0">
                          <a:solidFill>
                            <a:srgbClr val="1F2937"/>
                          </a:solidFill>
                          <a:latin typeface="Calibri"/>
                        </a:rPr>
                        <a:t>Net revenue retention - GRR plus expansion from the same cohort; above 100% means the cohort grew.</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353290">
                <a:tc>
                  <a:txBody>
                    <a:bodyPr wrap="square"/>
                    <a:lstStyle/>
                    <a:p>
                      <a:r>
                        <a:rPr sz="1250" b="1" i="0">
                          <a:solidFill>
                            <a:srgbClr val="14213D"/>
                          </a:solidFill>
                          <a:latin typeface="Calibri"/>
                        </a:rPr>
                        <a:t>P (suffix)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250" b="0" i="0">
                          <a:solidFill>
                            <a:srgbClr val="1F2937"/>
                          </a:solidFill>
                          <a:latin typeface="Calibri"/>
                        </a:rPr>
                        <a:t>Plan or projection year, e.g. 2030P - management's forecast, not a result.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353290">
                <a:tc>
                  <a:txBody>
                    <a:bodyPr wrap="square"/>
                    <a:lstStyle/>
                    <a:p>
                      <a:r>
                        <a:rPr sz="1250" b="1" i="0">
                          <a:solidFill>
                            <a:srgbClr val="14213D"/>
                          </a:solidFill>
                          <a:latin typeface="Calibri"/>
                        </a:rPr>
                        <a:t>SAM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250" b="0" i="0">
                          <a:solidFill>
                            <a:srgbClr val="1F2937"/>
                          </a:solidFill>
                          <a:latin typeface="Calibri"/>
                        </a:rPr>
                        <a:t>Serviceable addressable market - the part of TAM the business model can serve.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S008_div_business">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01</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Business Introduction &amp; Market Primer</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Who the target is, how the industry works and where the target sits in it</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1" i="0">
                <a:solidFill>
                  <a:srgbClr val="F2C879"/>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0" i="0">
                <a:solidFill>
                  <a:srgbClr val="B9C3D1"/>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0" i="0">
                <a:solidFill>
                  <a:srgbClr val="B9C3D1"/>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0" i="0">
                <a:solidFill>
                  <a:srgbClr val="B9C3D1"/>
                </a:solidFill>
                <a:latin typeface="Calibri"/>
              </a:rPr>
              <a:t>04  Competitive Landscape</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0" i="0">
                <a:solidFill>
                  <a:srgbClr val="B9C3D1"/>
                </a:solidFill>
                <a:latin typeface="Calibri"/>
              </a:rPr>
              <a:t>05  Growth Opportunities</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0" i="0">
                <a:solidFill>
                  <a:srgbClr val="B9C3D1"/>
                </a:solidFill>
                <a:latin typeface="Calibri"/>
              </a:rPr>
              <a:t>06  Appendix A - Market Sizing Methodology</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0" i="0">
                <a:solidFill>
                  <a:srgbClr val="B9C3D1"/>
                </a:solidFill>
                <a:latin typeface="Calibri"/>
              </a:rPr>
              <a:t>07  Appendix B - Evidence &amp; Audit Trail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S009_company_snapshot">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BUSINESS INTRODUCTION &amp; MARKET PRIMER</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Revenue was $11.9M in 2024 and $13.4M in 2025 (+13.0%)</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Actuals from the accounts extract. Plan years are not on this chart.</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Statement of operations (management accounts, annual roll-up), Historical Performance; 7 data-room documents; 0 external sources (full list in notes)</a:t>
            </a:r>
          </a:p>
        </p:txBody>
      </p:sp>
      <p:sp>
        <p:nvSpPr>
          <p:cNvPr id="7" name="kpi1"/>
          <p:cNvSpPr/>
          <p:nvPr/>
        </p:nvSpPr>
        <p:spPr>
          <a:xfrm>
            <a:off x="411480" y="1691640"/>
            <a:ext cx="2157984" cy="102412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2400" b="1" i="0">
                <a:solidFill>
                  <a:srgbClr val="14213D"/>
                </a:solidFill>
                <a:latin typeface="Calibri"/>
              </a:rPr>
              <a:t>$7.6M</a:t>
            </a:r>
          </a:p>
          <a:p>
            <a:r>
              <a:rPr sz="1000" b="1" i="0">
                <a:solidFill>
                  <a:srgbClr val="5B6B7F"/>
                </a:solidFill>
                <a:latin typeface="Calibri"/>
              </a:rPr>
              <a:t>Revenue 2023</a:t>
            </a:r>
          </a:p>
        </p:txBody>
      </p:sp>
      <p:sp>
        <p:nvSpPr>
          <p:cNvPr id="8" name="kpi2"/>
          <p:cNvSpPr/>
          <p:nvPr/>
        </p:nvSpPr>
        <p:spPr>
          <a:xfrm>
            <a:off x="2724912" y="1691640"/>
            <a:ext cx="2157984" cy="102412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2400" b="1" i="0">
                <a:solidFill>
                  <a:srgbClr val="14213D"/>
                </a:solidFill>
                <a:latin typeface="Calibri"/>
              </a:rPr>
              <a:t>$11.9M</a:t>
            </a:r>
          </a:p>
          <a:p>
            <a:r>
              <a:rPr sz="1000" b="1" i="0">
                <a:solidFill>
                  <a:srgbClr val="5B6B7F"/>
                </a:solidFill>
                <a:latin typeface="Calibri"/>
              </a:rPr>
              <a:t>Revenue 2024</a:t>
            </a:r>
          </a:p>
        </p:txBody>
      </p:sp>
      <p:sp>
        <p:nvSpPr>
          <p:cNvPr id="9" name="kpi3"/>
          <p:cNvSpPr/>
          <p:nvPr/>
        </p:nvSpPr>
        <p:spPr>
          <a:xfrm>
            <a:off x="5038344" y="1691640"/>
            <a:ext cx="2157984" cy="102412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2400" b="1" i="0">
                <a:solidFill>
                  <a:srgbClr val="14213D"/>
                </a:solidFill>
                <a:latin typeface="Calibri"/>
              </a:rPr>
              <a:t>$13.4M</a:t>
            </a:r>
          </a:p>
          <a:p>
            <a:r>
              <a:rPr sz="1000" b="1" i="0">
                <a:solidFill>
                  <a:srgbClr val="5B6B7F"/>
                </a:solidFill>
                <a:latin typeface="Calibri"/>
              </a:rPr>
              <a:t>Revenue 2025</a:t>
            </a:r>
          </a:p>
        </p:txBody>
      </p:sp>
      <p:sp>
        <p:nvSpPr>
          <p:cNvPr id="10" name="kpi4"/>
          <p:cNvSpPr/>
          <p:nvPr/>
        </p:nvSpPr>
        <p:spPr>
          <a:xfrm>
            <a:off x="7351775" y="1691640"/>
            <a:ext cx="2157984" cy="102412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2400" b="1" i="0">
                <a:solidFill>
                  <a:srgbClr val="14213D"/>
                </a:solidFill>
                <a:latin typeface="Calibri"/>
              </a:rPr>
              <a:t>$8.1M</a:t>
            </a:r>
          </a:p>
          <a:p>
            <a:r>
              <a:rPr sz="1000" b="1" i="0">
                <a:solidFill>
                  <a:srgbClr val="5B6B7F"/>
                </a:solidFill>
                <a:latin typeface="Calibri"/>
              </a:rPr>
              <a:t>Revenue 2026 YTD (Jul)</a:t>
            </a:r>
          </a:p>
        </p:txBody>
      </p:sp>
      <p:sp>
        <p:nvSpPr>
          <p:cNvPr id="11" name="kpi5"/>
          <p:cNvSpPr/>
          <p:nvPr/>
        </p:nvSpPr>
        <p:spPr>
          <a:xfrm>
            <a:off x="9665207" y="1691640"/>
            <a:ext cx="2157984" cy="102412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2400" b="1" i="0">
                <a:solidFill>
                  <a:srgbClr val="14213D"/>
                </a:solidFill>
                <a:latin typeface="Calibri"/>
              </a:rPr>
              <a:t>-9.5%</a:t>
            </a:r>
          </a:p>
          <a:p>
            <a:r>
              <a:rPr sz="1000" b="1" i="0">
                <a:solidFill>
                  <a:srgbClr val="5B6B7F"/>
                </a:solidFill>
                <a:latin typeface="Calibri"/>
              </a:rPr>
              <a:t>EBITDA margin 2023</a:t>
            </a:r>
          </a:p>
        </p:txBody>
      </p:sp>
      <p:sp>
        <p:nvSpPr>
          <p:cNvPr id="12" name="left_head"/>
          <p:cNvSpPr/>
          <p:nvPr/>
        </p:nvSpPr>
        <p:spPr>
          <a:xfrm>
            <a:off x="411480" y="2898648"/>
            <a:ext cx="557784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Key facts</a:t>
            </a:r>
          </a:p>
        </p:txBody>
      </p:sp>
      <p:sp>
        <p:nvSpPr>
          <p:cNvPr id="13" name="left"/>
          <p:cNvSpPr/>
          <p:nvPr/>
        </p:nvSpPr>
        <p:spPr>
          <a:xfrm>
            <a:off x="411480" y="3319272"/>
            <a:ext cx="5577840" cy="2807208"/>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EBITDA trough was FY2023 (USD M -0.722); returned to profit by FY2025 at USD M 0.572. Revenue FY2025 +13% YoY (same-basis).</a:t>
            </a:r>
          </a:p>
          <a:p>
            <a:pPr algn="l" marL="155448" indent="-155448">
              <a:spcAft>
                <a:spcPts val="600"/>
              </a:spcAft>
              <a:buChar char="•"/>
            </a:pPr>
            <a:r>
              <a:rPr sz="1400" b="0" i="0">
                <a:solidFill>
                  <a:srgbClr val="1F2937"/>
                </a:solidFill>
                <a:latin typeface="Calibri"/>
              </a:rPr>
              <a:t>EBITDA trough was FY2023. QBO/workbook accounts extract. 8 period(s) from accounts. 0 CIM gap(s)</a:t>
            </a:r>
          </a:p>
        </p:txBody>
      </p:sp>
      <p:sp>
        <p:nvSpPr>
          <p:cNvPr id="14" name="right_head"/>
          <p:cNvSpPr/>
          <p:nvPr/>
        </p:nvSpPr>
        <p:spPr>
          <a:xfrm>
            <a:off x="6199632" y="2898648"/>
            <a:ext cx="557784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Revenue mix and financial trajectory</a:t>
            </a:r>
          </a:p>
        </p:txBody>
      </p:sp>
      <p:graphicFrame>
        <p:nvGraphicFramePr>
          <p:cNvPr id="15" name="right"/>
          <p:cNvGraphicFramePr>
            <a:graphicFrameLocks noGrp="1"/>
          </p:cNvGraphicFramePr>
          <p:nvPr/>
        </p:nvGraphicFramePr>
        <p:xfrm>
          <a:off x="6199632" y="3319272"/>
          <a:ext cx="5577840" cy="2807208"/>
        </p:xfrm>
        <a:graphic>
          <a:graphicData uri="http://schemas.openxmlformats.org/drawingml/2006/chart">
            <c:chart xmlns:c="http://schemas.openxmlformats.org/drawingml/2006/chart" r:id="rId3"/>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S010_platform_evolutio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BUSINESS INTRODUCTION &amp; MARKET PRIMER</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How Compost Crew scaled, on the years the CIM table states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These are the CIM's figures. They are not a substitute for the accounts.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Company Background; data room: CC CIM JPC FINAL 090126</a:t>
            </a:r>
          </a:p>
        </p:txBody>
      </p:sp>
      <p:sp>
        <p:nvSpPr>
          <p:cNvPr id="7" name="flow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How the platform was built</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Integration record and what it implies</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2020: Active 5,000; ARR $2.3M; Tons 2,500</a:t>
            </a:r>
          </a:p>
          <a:p>
            <a:pPr algn="l" marL="155448" indent="-155448">
              <a:spcAft>
                <a:spcPts val="600"/>
              </a:spcAft>
              <a:buChar char="•"/>
            </a:pPr>
            <a:r>
              <a:rPr sz="1400" b="0" i="0">
                <a:solidFill>
                  <a:srgbClr val="1F2937"/>
                </a:solidFill>
                <a:latin typeface="Calibri"/>
              </a:rPr>
              <a:t>2022: Active 8,000; ARR $5.9M; Tons 7,500</a:t>
            </a:r>
          </a:p>
          <a:p>
            <a:pPr algn="l" marL="155448" indent="-155448">
              <a:spcAft>
                <a:spcPts val="600"/>
              </a:spcAft>
              <a:buChar char="•"/>
            </a:pPr>
            <a:r>
              <a:rPr sz="1400" b="0" i="0">
                <a:solidFill>
                  <a:srgbClr val="1F2937"/>
                </a:solidFill>
                <a:latin typeface="Calibri"/>
              </a:rPr>
              <a:t>2024: Active 23,000; ARR $12.1M; Tons 13,000</a:t>
            </a:r>
          </a:p>
          <a:p>
            <a:pPr algn="l" marL="155448" indent="-155448">
              <a:spcAft>
                <a:spcPts val="600"/>
              </a:spcAft>
              <a:buChar char="•"/>
            </a:pPr>
            <a:r>
              <a:rPr sz="1400" b="0" i="0">
                <a:solidFill>
                  <a:srgbClr val="1F2937"/>
                </a:solidFill>
                <a:latin typeface="Calibri"/>
              </a:rPr>
              <a:t>2025: Active 24,000; ARR $12.9M; Tons 16,000</a:t>
            </a:r>
          </a:p>
        </p:txBody>
      </p:sp>
      <p:graphicFrame>
        <p:nvGraphicFramePr>
          <p:cNvPr id="11" name="flow"/>
          <p:cNvGraphicFramePr>
            <a:graphicFrameLocks noGrp="1"/>
          </p:cNvGraphicFramePr>
          <p:nvPr/>
        </p:nvGraphicFramePr>
        <p:xfrm>
          <a:off x="411480" y="2112264"/>
          <a:ext cx="7086599" cy="2583180"/>
        </p:xfrm>
        <a:graphic>
          <a:graphicData uri="http://schemas.openxmlformats.org/drawingml/2006/table">
            <a:tbl>
              <a:tblPr firstRow="1">
                <a:tableStyleId>{5940675A-B579-460E-94D1-54222C63F5DA}</a:tableStyleId>
              </a:tblPr>
              <a:tblGrid>
                <a:gridCol w="1317627"/>
                <a:gridCol w="5768972"/>
              </a:tblGrid>
              <a:tr h="287020">
                <a:tc>
                  <a:txBody>
                    <a:bodyPr wrap="square"/>
                    <a:lstStyle/>
                    <a:p>
                      <a:r>
                        <a:rPr sz="1300" b="1" i="0">
                          <a:solidFill>
                            <a:srgbClr val="FFFFFF"/>
                          </a:solidFill>
                          <a:latin typeface="Calibri"/>
                        </a:rPr>
                        <a:t>When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As the CIM states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2020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Active 5,000; ARR $2.3M; Tons 2,500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2022</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Active 8,000; ARR $5.9M; Tons 7,500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2024</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Active 23,000; ARR $12.1M; Tons 13,000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2025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Active 24,000; ARR $12.9M; Tons 16,000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2030P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Active ~80,000; ARR $49M; Tons ~53,000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S011_value_chai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BUSINESS INTRODUCTION &amp; MARKET PRIMER</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Labor and related benefits are 33.3% of 2025 revenue</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Each share is that line divided by total revenue for the same year. Plan years are not used.</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Statement of operations (management accounts, annual roll-up); data room: documents  Compost Crew Monthly Financials 23YTD26</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A cost without an amount is not on this page.</a:t>
            </a:r>
          </a:p>
        </p:txBody>
      </p:sp>
      <p:graphicFrame>
        <p:nvGraphicFramePr>
          <p:cNvPr id="9" name="table"/>
          <p:cNvGraphicFramePr>
            <a:graphicFrameLocks noGrp="1"/>
          </p:cNvGraphicFramePr>
          <p:nvPr/>
        </p:nvGraphicFramePr>
        <p:xfrm>
          <a:off x="411480" y="1691640"/>
          <a:ext cx="11365991" cy="2583180"/>
        </p:xfrm>
        <a:graphic>
          <a:graphicData uri="http://schemas.openxmlformats.org/drawingml/2006/table">
            <a:tbl>
              <a:tblPr firstRow="1">
                <a:tableStyleId>{5940675A-B579-460E-94D1-54222C63F5DA}</a:tableStyleId>
              </a:tblPr>
              <a:tblGrid>
                <a:gridCol w="7021109"/>
                <a:gridCol w="2172441"/>
                <a:gridCol w="2172441"/>
              </a:tblGrid>
              <a:tr h="287020">
                <a:tc>
                  <a:txBody>
                    <a:bodyPr wrap="square"/>
                    <a:lstStyle/>
                    <a:p>
                      <a:r>
                        <a:rPr sz="1300" b="1" i="0">
                          <a:solidFill>
                            <a:srgbClr val="FFFFFF"/>
                          </a:solidFill>
                          <a:latin typeface="Calibri"/>
                        </a:rPr>
                        <a:t>Cost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Amount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Share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Labor and related benefits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$4.47M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33.3%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Subcontractors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$1.18M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8.8%</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Processing</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$0.31M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2.3%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SG&amp;A</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$4.23M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31.5%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Fleet and equipment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$1.35M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10.1%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S099_module_verdicts__2">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B - EVIDENCE &amp; AUDIT TRAIL</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Module verdicts restated at the grade the facts support</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A stated pass is lowered when the facts are thinner than the module claimed.</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Scope &amp; Methodology; data room: 2 2 1 Revenue by Service Line  Please see Investor Workbook.txt, 2 3 1 Financial Projections  Please see Investor Workbook.txt, Compost Crew Monthly Financials 23YTD26, Please see 2 1 1 Financial Statements for BS.txt, Please see 2 1 1 Financial Statements for Cash Flow Statements.txt, Please see 2 1 1 Financial Statements.txt</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The adjusted grade is the one this report uses. It is not raised above the facts.</a:t>
            </a:r>
          </a:p>
        </p:txBody>
      </p:sp>
      <p:graphicFrame>
        <p:nvGraphicFramePr>
          <p:cNvPr id="9" name="table"/>
          <p:cNvGraphicFramePr>
            <a:graphicFrameLocks noGrp="1"/>
          </p:cNvGraphicFramePr>
          <p:nvPr/>
        </p:nvGraphicFramePr>
        <p:xfrm>
          <a:off x="411480" y="1691640"/>
          <a:ext cx="11365991" cy="2583180"/>
        </p:xfrm>
        <a:graphic>
          <a:graphicData uri="http://schemas.openxmlformats.org/drawingml/2006/table">
            <a:tbl>
              <a:tblPr firstRow="1">
                <a:tableStyleId>{5940675A-B579-460E-94D1-54222C63F5DA}</a:tableStyleId>
              </a:tblPr>
              <a:tblGrid>
                <a:gridCol w="2656828"/>
                <a:gridCol w="2059308"/>
                <a:gridCol w="1525947"/>
                <a:gridCol w="5123908"/>
              </a:tblGrid>
              <a:tr h="287020">
                <a:tc>
                  <a:txBody>
                    <a:bodyPr wrap="square"/>
                    <a:lstStyle/>
                    <a:p>
                      <a:r>
                        <a:rPr sz="1300" b="1" i="0">
                          <a:solidFill>
                            <a:srgbClr val="FFFFFF"/>
                          </a:solidFill>
                          <a:latin typeface="Calibri"/>
                        </a:rPr>
                        <a:t>Module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Stated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Adjusted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Basis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Market Definition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PASS / LIMITED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Limited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The lower stated grade is used.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Valuation Modeling</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REWORK / LIMITED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Limited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The lower stated grade is used.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Appendices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PASS / READY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Indicated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Lowered to the facts on file.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Historical Performance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PASS / READY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Established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The stated grade matches the facts.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Market Intel Deck</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Indicated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 verdict was stated, so the facts set the grade.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S013_business_model_compariso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BUSINESS INTRODUCTION &amp; MARKET PRIMER</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Gross retention 90.9% on the model basis and 87.3% on the cohort basis.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Residential price on the existing book is $29.19 a month. No third-party local price was in the loaded files.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Unit economics and retention; data room: documents  CC Investor Workbook EXTERNAL</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The results pages use the actual cohort basis. The model basis is shown beside it.</a:t>
            </a:r>
          </a:p>
        </p:txBody>
      </p:sp>
      <p:graphicFrame>
        <p:nvGraphicFramePr>
          <p:cNvPr id="9" name="table"/>
          <p:cNvGraphicFramePr>
            <a:graphicFrameLocks noGrp="1"/>
          </p:cNvGraphicFramePr>
          <p:nvPr/>
        </p:nvGraphicFramePr>
        <p:xfrm>
          <a:off x="411480" y="1691640"/>
          <a:ext cx="11365990" cy="3042412"/>
        </p:xfrm>
        <a:graphic>
          <a:graphicData uri="http://schemas.openxmlformats.org/drawingml/2006/table">
            <a:tbl>
              <a:tblPr firstRow="1">
                <a:tableStyleId>{5940675A-B579-460E-94D1-54222C63F5DA}</a:tableStyleId>
              </a:tblPr>
              <a:tblGrid>
                <a:gridCol w="4986626"/>
                <a:gridCol w="2127592"/>
                <a:gridCol w="1955610"/>
                <a:gridCol w="2296162"/>
              </a:tblGrid>
              <a:tr h="287020">
                <a:tc>
                  <a:txBody>
                    <a:bodyPr wrap="square"/>
                    <a:lstStyle/>
                    <a:p>
                      <a:r>
                        <a:rPr sz="1300" b="1" i="0">
                          <a:solidFill>
                            <a:srgbClr val="FFFFFF"/>
                          </a:solidFill>
                          <a:latin typeface="Calibri"/>
                        </a:rPr>
                        <a:t>Metric</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Commercial</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Municipal</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Residential</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Active locations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856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19,195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5,495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ARR ($mn)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$5.81M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$5.72M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$1.93M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Price per month</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$566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$24.84</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$29.19</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Annual gross dollar retention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90.9%</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95.1%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88.2%</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Gross dollar retention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87.3%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84.6%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Net dollar retention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106.6%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84.7%</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S100_source_register__2">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B - EVIDENCE &amp; AUDIT TRAIL</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Sources the report rests on, read from the room or only cited</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Read means the workbook was extracted. Cited only means a module named the file.</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Scope &amp; Methodology; 24 data-room documents; 0 external sources (full list in notes)</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Read means the workbook was extracted into the evidence register. Cited only means the file was named by a module and was not read as a workbook.</a:t>
            </a:r>
          </a:p>
        </p:txBody>
      </p:sp>
      <p:graphicFrame>
        <p:nvGraphicFramePr>
          <p:cNvPr id="9" name="table"/>
          <p:cNvGraphicFramePr>
            <a:graphicFrameLocks noGrp="1"/>
          </p:cNvGraphicFramePr>
          <p:nvPr/>
        </p:nvGraphicFramePr>
        <p:xfrm>
          <a:off x="411480" y="1691640"/>
          <a:ext cx="11365991" cy="3741420"/>
        </p:xfrm>
        <a:graphic>
          <a:graphicData uri="http://schemas.openxmlformats.org/drawingml/2006/table">
            <a:tbl>
              <a:tblPr firstRow="1">
                <a:tableStyleId>{5940675A-B579-460E-94D1-54222C63F5DA}</a:tableStyleId>
              </a:tblPr>
              <a:tblGrid>
                <a:gridCol w="9177262"/>
                <a:gridCol w="2188729"/>
              </a:tblGrid>
              <a:tr h="287020">
                <a:tc>
                  <a:txBody>
                    <a:bodyPr wrap="square"/>
                    <a:lstStyle/>
                    <a:p>
                      <a:r>
                        <a:rPr sz="1300" b="1" i="0">
                          <a:solidFill>
                            <a:srgbClr val="FFFFFF"/>
                          </a:solidFill>
                          <a:latin typeface="Calibri"/>
                        </a:rPr>
                        <a:t>Source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How used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31800">
                <a:tc>
                  <a:txBody>
                    <a:bodyPr wrap="square"/>
                    <a:lstStyle/>
                    <a:p>
                      <a:r>
                        <a:rPr sz="1300" b="1" i="0">
                          <a:solidFill>
                            <a:srgbClr val="14213D"/>
                          </a:solidFill>
                          <a:latin typeface="Calibri"/>
                        </a:rPr>
                        <a:t>documents__CC_CIM_JPC_FINAL_090126.pptx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Read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2_2_1 Revenue by Service Line__Please see Investor Workbook.txt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Cited only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2_3_1 Financial Projections__Please see Investor Workbook.txt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Cited only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Compost Crew Monthly Financials 23YTD26.xlsx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Cited only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Please see 2_1_1 Financial Statements for BS.txt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Cited only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Please see 2_1_1 Financial Statements for Cash Flow Statements.txt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Cited only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Please see 2_1_1 Financial Statements.txt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Cited only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TAM_SAM_ SOM Data.xlsx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Cited only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S015_barrier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BUSINESS INTRODUCTION &amp; MARKET PRIMER</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The CIM names a leadership team. No biography file was loaded.</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The names below are the CIM's wording. They were not interviewed.</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Company Background; data room: CC CIM JPC FINAL 090126</a:t>
            </a:r>
          </a:p>
        </p:txBody>
      </p:sp>
      <p:sp>
        <p:nvSpPr>
          <p:cNvPr id="7" name="left_head"/>
          <p:cNvSpPr/>
          <p:nvPr/>
        </p:nvSpPr>
        <p:spPr>
          <a:xfrm>
            <a:off x="411480" y="1691640"/>
            <a:ext cx="557784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Names the CIM states</a:t>
            </a:r>
          </a:p>
        </p:txBody>
      </p:sp>
      <p:sp>
        <p:nvSpPr>
          <p:cNvPr id="8" name="left"/>
          <p:cNvSpPr/>
          <p:nvPr/>
        </p:nvSpPr>
        <p:spPr>
          <a:xfrm>
            <a:off x="411480" y="2112264"/>
            <a:ext cx="5577840"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Ben Parry, CEO</a:t>
            </a:r>
          </a:p>
          <a:p>
            <a:pPr algn="l" marL="155448" indent="-155448">
              <a:spcAft>
                <a:spcPts val="600"/>
              </a:spcAft>
              <a:buChar char="•"/>
            </a:pPr>
            <a:r>
              <a:rPr sz="1400" b="0" i="0">
                <a:solidFill>
                  <a:srgbClr val="1F2937"/>
                </a:solidFill>
                <a:latin typeface="Calibri"/>
              </a:rPr>
              <a:t>Rick Moore, Chief Revenue Officer</a:t>
            </a:r>
          </a:p>
          <a:p>
            <a:pPr algn="l" marL="155448" indent="-155448">
              <a:spcAft>
                <a:spcPts val="600"/>
              </a:spcAft>
              <a:buChar char="•"/>
            </a:pPr>
            <a:r>
              <a:rPr sz="1400" b="0" i="0">
                <a:solidFill>
                  <a:srgbClr val="1F2937"/>
                </a:solidFill>
                <a:latin typeface="Calibri"/>
              </a:rPr>
              <a:t>Kristie Blumer, Sr. Director of Composting</a:t>
            </a:r>
          </a:p>
          <a:p>
            <a:pPr algn="l" marL="155448" indent="-155448">
              <a:spcAft>
                <a:spcPts val="600"/>
              </a:spcAft>
              <a:buChar char="•"/>
            </a:pPr>
            <a:r>
              <a:rPr sz="1400" b="0" i="0">
                <a:solidFill>
                  <a:srgbClr val="1F2937"/>
                </a:solidFill>
                <a:latin typeface="Calibri"/>
              </a:rPr>
              <a:t>Jon Anthony Korn, Vice President of Operations</a:t>
            </a:r>
          </a:p>
        </p:txBody>
      </p:sp>
      <p:sp>
        <p:nvSpPr>
          <p:cNvPr id="9" name="right_head"/>
          <p:cNvSpPr/>
          <p:nvPr/>
        </p:nvSpPr>
        <p:spPr>
          <a:xfrm>
            <a:off x="6199632" y="1691640"/>
            <a:ext cx="557784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What was not loaded</a:t>
            </a:r>
          </a:p>
        </p:txBody>
      </p:sp>
      <p:sp>
        <p:nvSpPr>
          <p:cNvPr id="10" name="right"/>
          <p:cNvSpPr/>
          <p:nvPr/>
        </p:nvSpPr>
        <p:spPr>
          <a:xfrm>
            <a:off x="6199632" y="2112264"/>
            <a:ext cx="5577840"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No biography or interview file was loaded for these names.</a:t>
            </a:r>
          </a:p>
          <a:p>
            <a:pPr algn="l" marL="155448" indent="-155448">
              <a:spcAft>
                <a:spcPts val="600"/>
              </a:spcAft>
              <a:buChar char="•"/>
            </a:pPr>
            <a:r>
              <a:rPr sz="1400" b="0" i="0">
                <a:solidFill>
                  <a:srgbClr val="1F2937"/>
                </a:solidFill>
                <a:latin typeface="Calibri"/>
              </a:rPr>
              <a:t>The management module did not return a named executive.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S016_pain_point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BUSINESS INTRODUCTION &amp; MARKET PRIMER</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Logo retention by cohort for Compost Crew</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Each cell is the workbook's retention for that cohort in that year. Revenue cohorts are not mixed in.</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Customer cohorts; data room: documents  CC Investor Workbook EXTERNAL</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Logo retention by cohort</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How to read the count</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2021 cohort is 66.9% by 2026H1.</a:t>
            </a:r>
          </a:p>
          <a:p>
            <a:pPr algn="l" marL="155448" indent="-155448">
              <a:spcAft>
                <a:spcPts val="600"/>
              </a:spcAft>
              <a:buChar char="•"/>
            </a:pPr>
            <a:r>
              <a:rPr sz="1400" b="0" i="0">
                <a:solidFill>
                  <a:srgbClr val="1F2937"/>
                </a:solidFill>
                <a:latin typeface="Calibri"/>
              </a:rPr>
              <a:t>The accounts column is the cohort's opening count. It is not the new-logo count for that year.</a:t>
            </a:r>
          </a:p>
          <a:p>
            <a:pPr algn="l" marL="155448" indent="-155448">
              <a:spcAft>
                <a:spcPts val="600"/>
              </a:spcAft>
              <a:buChar char="•"/>
            </a:pPr>
            <a:r>
              <a:rPr sz="1400" b="0" i="0">
                <a:solidFill>
                  <a:srgbClr val="1F2937"/>
                </a:solidFill>
                <a:latin typeface="Calibri"/>
              </a:rPr>
              <a:t>A later cohort is not assumed to follow an earlier one.</a:t>
            </a:r>
          </a:p>
        </p:txBody>
      </p:sp>
      <p:graphicFrame>
        <p:nvGraphicFramePr>
          <p:cNvPr id="11" name="left"/>
          <p:cNvGraphicFramePr>
            <a:graphicFrameLocks noGrp="1"/>
          </p:cNvGraphicFramePr>
          <p:nvPr/>
        </p:nvGraphicFramePr>
        <p:xfrm>
          <a:off x="411480" y="2112264"/>
          <a:ext cx="7086597" cy="2583180"/>
        </p:xfrm>
        <a:graphic>
          <a:graphicData uri="http://schemas.openxmlformats.org/drawingml/2006/table">
            <a:tbl>
              <a:tblPr firstRow="1">
                <a:tableStyleId>{5940675A-B579-460E-94D1-54222C63F5DA}</a:tableStyleId>
              </a:tblPr>
              <a:tblGrid>
                <a:gridCol w="1672111"/>
                <a:gridCol w="1296054"/>
                <a:gridCol w="1029608"/>
                <a:gridCol w="1029608"/>
                <a:gridCol w="1029608"/>
                <a:gridCol w="1029608"/>
              </a:tblGrid>
              <a:tr h="287020">
                <a:tc>
                  <a:txBody>
                    <a:bodyPr wrap="square"/>
                    <a:lstStyle/>
                    <a:p>
                      <a:r>
                        <a:rPr sz="1300" b="1" i="0">
                          <a:solidFill>
                            <a:srgbClr val="FFFFFF"/>
                          </a:solidFill>
                          <a:latin typeface="Calibri"/>
                        </a:rPr>
                        <a:t>Cohort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Accounts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2023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2024</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2025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2026H1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2021 cohort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260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89.6%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83.1%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75.4%</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66.9%</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2022 cohort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142</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95.1%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88.0%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79.6%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64.8%</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2023 cohort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126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100.0%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97.6%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88.1%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80.2%</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2024 cohort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166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100.0%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97.6%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84.9%</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2025 cohort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81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100.0%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97.5%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S100_source_register__3">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B - EVIDENCE &amp; AUDIT TRAIL</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Sources the report rests on, read from the room or only cited</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Read means the workbook was extracted. Cited only means a module named the file.</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Scope &amp; Methodology; 24 data-room documents; 0 external sources (full list in notes)</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Read means the workbook was extracted into the evidence register. Cited only means the file was named by a module and was not read as a workbook.</a:t>
            </a:r>
          </a:p>
        </p:txBody>
      </p:sp>
      <p:graphicFrame>
        <p:nvGraphicFramePr>
          <p:cNvPr id="9" name="table"/>
          <p:cNvGraphicFramePr>
            <a:graphicFrameLocks noGrp="1"/>
          </p:cNvGraphicFramePr>
          <p:nvPr/>
        </p:nvGraphicFramePr>
        <p:xfrm>
          <a:off x="411480" y="1691640"/>
          <a:ext cx="11365991" cy="3741420"/>
        </p:xfrm>
        <a:graphic>
          <a:graphicData uri="http://schemas.openxmlformats.org/drawingml/2006/table">
            <a:tbl>
              <a:tblPr firstRow="1">
                <a:tableStyleId>{5940675A-B579-460E-94D1-54222C63F5DA}</a:tableStyleId>
              </a:tblPr>
              <a:tblGrid>
                <a:gridCol w="9177262"/>
                <a:gridCol w="2188729"/>
              </a:tblGrid>
              <a:tr h="287020">
                <a:tc>
                  <a:txBody>
                    <a:bodyPr wrap="square"/>
                    <a:lstStyle/>
                    <a:p>
                      <a:r>
                        <a:rPr sz="1300" b="1" i="0">
                          <a:solidFill>
                            <a:srgbClr val="FFFFFF"/>
                          </a:solidFill>
                          <a:latin typeface="Calibri"/>
                        </a:rPr>
                        <a:t>Source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How used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31800">
                <a:tc>
                  <a:txBody>
                    <a:bodyPr wrap="square"/>
                    <a:lstStyle/>
                    <a:p>
                      <a:r>
                        <a:rPr sz="1300" b="1" i="0">
                          <a:solidFill>
                            <a:srgbClr val="14213D"/>
                          </a:solidFill>
                          <a:latin typeface="Calibri"/>
                        </a:rPr>
                        <a:t>2026-08-31_summary_cap_intermediate_cap_detailed_cap.xlsx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Cited only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2_3_2 Assumption Supporting Projections__Please see Investor Workbook.txt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Cited only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4_2_2 Equipment List__Please see CIM P46.txt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Cited only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CC - 12354 Parking Lease.pdf</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Cited only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CC - Depreciation Schedule as on 07_31_2026.xlsx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Cited only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2026 Commercial Sales Proposal.pptx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Cited only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4280-2 Compost Crew FY25 FPEP.pdf</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Cited only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CC_Investor_Workbook_EXTERNAL.xlsx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Cited only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S101_exceptions__2">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B - EVIDENCE &amp; AUDIT TRAIL</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What this report could not establish</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Each row is a gap in the record. A withheld template page is not, by itself, a finding.</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Scope &amp; Methodology; data room: 2 2 1 Revenue by Service Line  Please see Investor Workbook.txt, 2 3 1 Financial Projections  Please see Investor Workbook.txt, Compost Crew Monthly Financials 23YTD26, Please see 2 1 1 Financial Statements for BS.txt, Please see 2 1 1 Financial Statements for Cash Flow Statements.txt, Please see 2 1 1 Financial Statements.txt</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The adjusted verdicts and the source register are the other half of this audit.</a:t>
            </a:r>
          </a:p>
        </p:txBody>
      </p:sp>
      <p:graphicFrame>
        <p:nvGraphicFramePr>
          <p:cNvPr id="9" name="table"/>
          <p:cNvGraphicFramePr>
            <a:graphicFrameLocks noGrp="1"/>
          </p:cNvGraphicFramePr>
          <p:nvPr/>
        </p:nvGraphicFramePr>
        <p:xfrm>
          <a:off x="411480" y="1691640"/>
          <a:ext cx="11365990" cy="1205484"/>
        </p:xfrm>
        <a:graphic>
          <a:graphicData uri="http://schemas.openxmlformats.org/drawingml/2006/table">
            <a:tbl>
              <a:tblPr firstRow="1">
                <a:tableStyleId>{5940675A-B579-460E-94D1-54222C63F5DA}</a:tableStyleId>
              </a:tblPr>
              <a:tblGrid>
                <a:gridCol w="1003061"/>
                <a:gridCol w="1658550"/>
                <a:gridCol w="4345419"/>
                <a:gridCol w="796850"/>
                <a:gridCol w="3562110"/>
              </a:tblGrid>
              <a:tr h="287020">
                <a:tc>
                  <a:txBody>
                    <a:bodyPr wrap="square"/>
                    <a:lstStyle/>
                    <a:p>
                      <a:r>
                        <a:rPr sz="1300" b="1" i="0">
                          <a:solidFill>
                            <a:srgbClr val="FFFFFF"/>
                          </a:solidFill>
                          <a:latin typeface="Calibri"/>
                        </a:rPr>
                        <a:t>Severity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Rule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Gap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Slide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Treatment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MEDIUM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E11-NO-PRIMARY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23 pages need a survey or interview file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S006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 survey or interview file was loaded.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MEDIUM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E1-NOT-PROVIDED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28 pages have nothing further in the loaded record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S012</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Not in the loaded record.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S019_div_highlights">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02</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Investment Highlights</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The main findings, each stated at the strength of its evidence</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0" i="0">
                <a:solidFill>
                  <a:srgbClr val="B9C3D1"/>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1" i="0">
                <a:solidFill>
                  <a:srgbClr val="F2C879"/>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0" i="0">
                <a:solidFill>
                  <a:srgbClr val="B9C3D1"/>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0" i="0">
                <a:solidFill>
                  <a:srgbClr val="B9C3D1"/>
                </a:solidFill>
                <a:latin typeface="Calibri"/>
              </a:rPr>
              <a:t>04  Competitive Landscape</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0" i="0">
                <a:solidFill>
                  <a:srgbClr val="B9C3D1"/>
                </a:solidFill>
                <a:latin typeface="Calibri"/>
              </a:rPr>
              <a:t>05  Growth Opportunities</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0" i="0">
                <a:solidFill>
                  <a:srgbClr val="B9C3D1"/>
                </a:solidFill>
                <a:latin typeface="Calibri"/>
              </a:rPr>
              <a:t>06  Appendix A - Market Sizing Methodology</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0" i="0">
                <a:solidFill>
                  <a:srgbClr val="B9C3D1"/>
                </a:solidFill>
                <a:latin typeface="Calibri"/>
              </a:rPr>
              <a:t>07  Appendix B - Evidence &amp; Audit Trail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S020_highlights_summary">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INVESTMENT HIGHLIGHTS</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Management accounts and the company workbook do not tie on revenue</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2025 accounts $13.41M, workbook $13.28M, CIM $13.3mn.</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Statement of operations (management accounts, annual roll-up), Financial summary (company workbook), CIM crosswalk: CIM figures traced to support; data room: documents  Compost Crew Monthly Financials 23YTD26, documents  CC Investor Workbook EXTERNAL</a:t>
            </a:r>
          </a:p>
        </p:txBody>
      </p:sp>
      <p:graphicFrame>
        <p:nvGraphicFramePr>
          <p:cNvPr id="7" name="rows"/>
          <p:cNvGraphicFramePr>
            <a:graphicFrameLocks noGrp="1"/>
          </p:cNvGraphicFramePr>
          <p:nvPr/>
        </p:nvGraphicFramePr>
        <p:xfrm>
          <a:off x="411480" y="1691640"/>
          <a:ext cx="11365990" cy="1664716"/>
        </p:xfrm>
        <a:graphic>
          <a:graphicData uri="http://schemas.openxmlformats.org/drawingml/2006/table">
            <a:tbl>
              <a:tblPr firstRow="1">
                <a:tableStyleId>{5940675A-B579-460E-94D1-54222C63F5DA}</a:tableStyleId>
              </a:tblPr>
              <a:tblGrid>
                <a:gridCol w="2444923"/>
                <a:gridCol w="3077628"/>
                <a:gridCol w="3077628"/>
                <a:gridCol w="2765811"/>
              </a:tblGrid>
              <a:tr h="287020">
                <a:tc>
                  <a:txBody>
                    <a:bodyPr wrap="square"/>
                    <a:lstStyle/>
                    <a:p>
                      <a:r>
                        <a:rPr sz="1300" b="1" i="0">
                          <a:solidFill>
                            <a:srgbClr val="FFFFFF"/>
                          </a:solidFill>
                          <a:latin typeface="Calibri"/>
                        </a:rPr>
                        <a:t>Year</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Accounts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Workbook</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CIM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2023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$7.56M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$7.53M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$7.5mn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2024</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$11.87M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$11.74M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$11.7mn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2025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$13.41M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$13.28M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$13.3mn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S021_h1_market_size">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INVESTMENT HIGHLIGHTS</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On the evidenced model the market for Compost Crew is TAM $1,546.2M, SAM $463.9M, SOM $139.2M</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TAM, SAM and SOM from the market-volume module.</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Market Volume &amp; Growth; data room: TAM SAM  SOM Data, 2026-08-31 summary cap intermediate cap detailed cap, 2 3 2 Assumption Supporting Projections  Please see Investor Workbook.txt, 4 2 2 Equipment List  Please see CIM P46.txt, CC - 12354 Parking Lease, CC - Depreciation Schedule as on 07 31 2026</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TAM / SAM / served market</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Basis, sources and confidence</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TAM $1,546.2M</a:t>
            </a:r>
          </a:p>
          <a:p>
            <a:pPr algn="l" marL="155448" indent="-155448">
              <a:spcAft>
                <a:spcPts val="600"/>
              </a:spcAft>
              <a:buChar char="•"/>
            </a:pPr>
            <a:r>
              <a:rPr sz="1400" b="0" i="0">
                <a:solidFill>
                  <a:srgbClr val="1F2937"/>
                </a:solidFill>
                <a:latin typeface="Calibri"/>
              </a:rPr>
              <a:t>SAM $463.9M</a:t>
            </a:r>
          </a:p>
          <a:p>
            <a:pPr algn="l" marL="155448" indent="-155448">
              <a:spcAft>
                <a:spcPts val="600"/>
              </a:spcAft>
              <a:buChar char="•"/>
            </a:pPr>
            <a:r>
              <a:rPr sz="1400" b="0" i="0">
                <a:solidFill>
                  <a:srgbClr val="1F2937"/>
                </a:solidFill>
                <a:latin typeface="Calibri"/>
              </a:rPr>
              <a:t>SOM $139.2M</a:t>
            </a:r>
          </a:p>
        </p:txBody>
      </p:sp>
      <p:graphicFrame>
        <p:nvGraphicFramePr>
          <p:cNvPr id="11" name="chart"/>
          <p:cNvGraphicFramePr>
            <a:graphicFrameLocks noGrp="1"/>
          </p:cNvGraphicFramePr>
          <p:nvPr/>
        </p:nvGraphicFramePr>
        <p:xfrm>
          <a:off x="411480" y="2112264"/>
          <a:ext cx="7086600" cy="4014215"/>
        </p:xfrm>
        <a:graphic>
          <a:graphicData uri="http://schemas.openxmlformats.org/drawingml/2006/chart">
            <c:chart xmlns:c="http://schemas.openxmlformats.org/drawingml/2006/chart" r:id="rId3"/>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S023_h1_growth_driver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INVESTMENT HIGHLIGHTS</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Revenue moved +1.54 million from 2024 to 2025 (+13.0%)</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Each change is later actual revenue minus the prior actual. Plan years are excluded.</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Statement of operations (management accounts, annual roll-up), Historical Performance; 7 data-room documents; 0 external sources (full list in notes)</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Driver, magnitude and evidence</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Net growth read</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2023 to 2024: +4.31 million, +57.0%.</a:t>
            </a:r>
          </a:p>
          <a:p>
            <a:pPr algn="l" marL="155448" indent="-155448">
              <a:spcAft>
                <a:spcPts val="600"/>
              </a:spcAft>
              <a:buChar char="•"/>
            </a:pPr>
            <a:r>
              <a:rPr sz="1400" b="0" i="0">
                <a:solidFill>
                  <a:srgbClr val="1F2937"/>
                </a:solidFill>
                <a:latin typeface="Calibri"/>
              </a:rPr>
              <a:t>2024 to 2025: +1.54 million, +13.0%.</a:t>
            </a:r>
          </a:p>
        </p:txBody>
      </p:sp>
      <p:graphicFrame>
        <p:nvGraphicFramePr>
          <p:cNvPr id="11" name="left"/>
          <p:cNvGraphicFramePr>
            <a:graphicFrameLocks noGrp="1"/>
          </p:cNvGraphicFramePr>
          <p:nvPr/>
        </p:nvGraphicFramePr>
        <p:xfrm>
          <a:off x="411480" y="2112264"/>
          <a:ext cx="7086599" cy="1205484"/>
        </p:xfrm>
        <a:graphic>
          <a:graphicData uri="http://schemas.openxmlformats.org/drawingml/2006/table">
            <a:tbl>
              <a:tblPr firstRow="1">
                <a:tableStyleId>{5940675A-B579-460E-94D1-54222C63F5DA}</a:tableStyleId>
              </a:tblPr>
              <a:tblGrid>
                <a:gridCol w="3298089"/>
                <a:gridCol w="1894255"/>
                <a:gridCol w="1894255"/>
              </a:tblGrid>
              <a:tr h="287020">
                <a:tc>
                  <a:txBody>
                    <a:bodyPr wrap="square"/>
                    <a:lstStyle/>
                    <a:p>
                      <a:r>
                        <a:rPr sz="1300" b="1" i="0">
                          <a:solidFill>
                            <a:srgbClr val="FFFFFF"/>
                          </a:solidFill>
                          <a:latin typeface="Calibri"/>
                        </a:rPr>
                        <a:t>Step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2023 to 2024</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+4.31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+57.0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2024 to 2025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+1.54</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+13.0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name="S029_h4_differentiatio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INVESTMENT HIGHLIGHTS</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The CIM states 99.5% on-time and a 70 NPS. No survey file tests either.</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Each row is a sentence in the CIM. None of them is a survey result.</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Company Background; data room: CC CIM JPC FINAL 090126</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These are statements in the CIM. They are not results of a survey or an interview.</a:t>
            </a:r>
          </a:p>
        </p:txBody>
      </p:sp>
      <p:graphicFrame>
        <p:nvGraphicFramePr>
          <p:cNvPr id="9" name="table"/>
          <p:cNvGraphicFramePr>
            <a:graphicFrameLocks noGrp="1"/>
          </p:cNvGraphicFramePr>
          <p:nvPr/>
        </p:nvGraphicFramePr>
        <p:xfrm>
          <a:off x="411480" y="1691640"/>
          <a:ext cx="11365991" cy="2123948"/>
        </p:xfrm>
        <a:graphic>
          <a:graphicData uri="http://schemas.openxmlformats.org/drawingml/2006/table">
            <a:tbl>
              <a:tblPr firstRow="1">
                <a:tableStyleId>{5940675A-B579-460E-94D1-54222C63F5DA}</a:tableStyleId>
              </a:tblPr>
              <a:tblGrid>
                <a:gridCol w="2590398"/>
                <a:gridCol w="4145573"/>
                <a:gridCol w="4630020"/>
              </a:tblGrid>
              <a:tr h="287020">
                <a:tc>
                  <a:txBody>
                    <a:bodyPr wrap="square"/>
                    <a:lstStyle/>
                    <a:p>
                      <a:r>
                        <a:rPr sz="1300" b="1" i="0">
                          <a:solidFill>
                            <a:srgbClr val="FFFFFF"/>
                          </a:solidFill>
                          <a:latin typeface="Calibri"/>
                        </a:rPr>
                        <a:t>Claim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As stated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Test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On-time service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99.5% on-time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 survey file was loaded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NPS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70 NPS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No survey file was loaded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DC locations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about 12,000 of municipal</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Not named on the contract sheet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Rate step-up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about 2.6% a year from 2027</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No dollar effect is calculated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name="S032_div_market">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03</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Market Dynamics &amp; Opportunity</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How large, how fast-growing and how resilient the addressable market is</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0" i="0">
                <a:solidFill>
                  <a:srgbClr val="B9C3D1"/>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0" i="0">
                <a:solidFill>
                  <a:srgbClr val="B9C3D1"/>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1" i="0">
                <a:solidFill>
                  <a:srgbClr val="F2C879"/>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0" i="0">
                <a:solidFill>
                  <a:srgbClr val="B9C3D1"/>
                </a:solidFill>
                <a:latin typeface="Calibri"/>
              </a:rPr>
              <a:t>04  Competitive Landscape</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0" i="0">
                <a:solidFill>
                  <a:srgbClr val="B9C3D1"/>
                </a:solidFill>
                <a:latin typeface="Calibri"/>
              </a:rPr>
              <a:t>05  Growth Opportunities</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0" i="0">
                <a:solidFill>
                  <a:srgbClr val="B9C3D1"/>
                </a:solidFill>
                <a:latin typeface="Calibri"/>
              </a:rPr>
              <a:t>06  Appendix A - Market Sizing Methodology</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0" i="0">
                <a:solidFill>
                  <a:srgbClr val="B9C3D1"/>
                </a:solidFill>
                <a:latin typeface="Calibri"/>
              </a:rPr>
              <a:t>07  Appendix B - Evidence &amp; Audit Trail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name="S042_gf2_mix_shift">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Segment mix for Compost Crew, calculated from segment revenue</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Shares calculated from segment revenue divided by the total.</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Scope &amp; Methodology; 6 data-room documents; 0 external sources (full list in notes). † DiligenceIQ calculation</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Mix shift to monetizable modes</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Why the shift is happening</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Commercial: 42.4% of the total</a:t>
            </a:r>
          </a:p>
          <a:p>
            <a:pPr algn="l" marL="155448" indent="-155448">
              <a:spcAft>
                <a:spcPts val="600"/>
              </a:spcAft>
              <a:buChar char="•"/>
            </a:pPr>
            <a:r>
              <a:rPr sz="1400" b="0" i="0">
                <a:solidFill>
                  <a:srgbClr val="1F2937"/>
                </a:solidFill>
                <a:latin typeface="Calibri"/>
              </a:rPr>
              <a:t>Municipal (ex-DC): 13.5% of the total</a:t>
            </a:r>
          </a:p>
          <a:p>
            <a:pPr algn="l" marL="155448" indent="-155448">
              <a:spcAft>
                <a:spcPts val="600"/>
              </a:spcAft>
              <a:buChar char="•"/>
            </a:pPr>
            <a:r>
              <a:rPr sz="1400" b="0" i="0">
                <a:solidFill>
                  <a:srgbClr val="1F2937"/>
                </a:solidFill>
                <a:latin typeface="Calibri"/>
              </a:rPr>
              <a:t>Municipal - DC: 22.6% of the total</a:t>
            </a:r>
          </a:p>
          <a:p>
            <a:pPr algn="l" marL="155448" indent="-155448">
              <a:spcAft>
                <a:spcPts val="600"/>
              </a:spcAft>
              <a:buChar char="•"/>
            </a:pPr>
            <a:r>
              <a:rPr sz="1400" b="0" i="0">
                <a:solidFill>
                  <a:srgbClr val="1F2937"/>
                </a:solidFill>
                <a:latin typeface="Calibri"/>
              </a:rPr>
              <a:t>Residential (Non-Gov): 14.9% of the total</a:t>
            </a:r>
          </a:p>
          <a:p>
            <a:pPr algn="l" marL="155448" indent="-155448">
              <a:spcAft>
                <a:spcPts val="600"/>
              </a:spcAft>
              <a:buChar char="•"/>
            </a:pPr>
            <a:r>
              <a:rPr sz="1400" b="0" i="0">
                <a:solidFill>
                  <a:srgbClr val="1F2937"/>
                </a:solidFill>
                <a:latin typeface="Calibri"/>
              </a:rPr>
              <a:t>Key Compostables: 5.2% of the total</a:t>
            </a:r>
          </a:p>
        </p:txBody>
      </p:sp>
      <p:graphicFrame>
        <p:nvGraphicFramePr>
          <p:cNvPr id="11" name="chart"/>
          <p:cNvGraphicFramePr>
            <a:graphicFrameLocks noGrp="1"/>
          </p:cNvGraphicFramePr>
          <p:nvPr/>
        </p:nvGraphicFramePr>
        <p:xfrm>
          <a:off x="411480" y="2112264"/>
          <a:ext cx="7086600" cy="4014215"/>
        </p:xfrm>
        <a:graphic>
          <a:graphicData uri="http://schemas.openxmlformats.org/drawingml/2006/chart">
            <c:chart xmlns:c="http://schemas.openxmlformats.org/drawingml/2006/chart" r:id="rId3"/>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name="S045_gf4_pricing_stability">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Margin on record is 4.3% in 2025</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Actual and year-to-date margins only. A plan margin is not on this chart.</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Historical Performance; data room: documents  Compost Crew Monthly Financials 23YTD26</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Price and margin through the cycle</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Pricing power and pass-through</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Gross margin 2023: 20.4%</a:t>
            </a:r>
          </a:p>
          <a:p>
            <a:pPr algn="l" marL="155448" indent="-155448">
              <a:spcAft>
                <a:spcPts val="600"/>
              </a:spcAft>
              <a:buChar char="•"/>
            </a:pPr>
            <a:r>
              <a:rPr sz="1400" b="0" i="0">
                <a:solidFill>
                  <a:srgbClr val="1F2937"/>
                </a:solidFill>
                <a:latin typeface="Calibri"/>
              </a:rPr>
              <a:t>Gross margin 2024: 31.8%</a:t>
            </a:r>
          </a:p>
          <a:p>
            <a:pPr algn="l" marL="155448" indent="-155448">
              <a:spcAft>
                <a:spcPts val="600"/>
              </a:spcAft>
              <a:buChar char="•"/>
            </a:pPr>
            <a:r>
              <a:rPr sz="1400" b="0" i="0">
                <a:solidFill>
                  <a:srgbClr val="1F2937"/>
                </a:solidFill>
                <a:latin typeface="Calibri"/>
              </a:rPr>
              <a:t>Gross margin 2025: 30.4%</a:t>
            </a:r>
          </a:p>
          <a:p>
            <a:pPr algn="l" marL="155448" indent="-155448">
              <a:spcAft>
                <a:spcPts val="600"/>
              </a:spcAft>
              <a:buChar char="•"/>
            </a:pPr>
            <a:r>
              <a:rPr sz="1400" b="0" i="0">
                <a:solidFill>
                  <a:srgbClr val="1F2937"/>
                </a:solidFill>
                <a:latin typeface="Calibri"/>
              </a:rPr>
              <a:t>EBITDA margin 2023: -9.5%</a:t>
            </a:r>
          </a:p>
          <a:p>
            <a:pPr algn="l" marL="155448" indent="-155448">
              <a:spcAft>
                <a:spcPts val="600"/>
              </a:spcAft>
              <a:buChar char="•"/>
            </a:pPr>
            <a:r>
              <a:rPr sz="1400" b="0" i="0">
                <a:solidFill>
                  <a:srgbClr val="1F2937"/>
                </a:solidFill>
                <a:latin typeface="Calibri"/>
              </a:rPr>
              <a:t>EBITDA margin 2024: 9.6%</a:t>
            </a:r>
          </a:p>
        </p:txBody>
      </p:sp>
      <p:graphicFrame>
        <p:nvGraphicFramePr>
          <p:cNvPr id="11" name="chart"/>
          <p:cNvGraphicFramePr>
            <a:graphicFrameLocks noGrp="1"/>
          </p:cNvGraphicFramePr>
          <p:nvPr/>
        </p:nvGraphicFramePr>
        <p:xfrm>
          <a:off x="411480" y="2112264"/>
          <a:ext cx="7086600" cy="4014215"/>
        </p:xfrm>
        <a:graphic>
          <a:graphicData uri="http://schemas.openxmlformats.org/drawingml/2006/chart">
            <c:chart xmlns:c="http://schemas.openxmlformats.org/drawingml/2006/chart" r:id="rId3"/>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name="S046_sam_growth_build">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The plan at 2030P is 3.74x 2025 revenue, a bridge of +36.76 million</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The bridge is plan revenue minus the latest actual. It is not a result.</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Statement of operations (management accounts, annual roll-up), Financial summary (company workbook); data room: documents  Compost Crew Monthly Financials 23YTD26, documents  CC Investor Workbook EXTERNAL</a:t>
            </a:r>
          </a:p>
        </p:txBody>
      </p:sp>
      <p:sp>
        <p:nvSpPr>
          <p:cNvPr id="7" name="left_head"/>
          <p:cNvSpPr/>
          <p:nvPr/>
        </p:nvSpPr>
        <p:spPr>
          <a:xfrm>
            <a:off x="411480" y="1691640"/>
            <a:ext cx="557784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Growth build by factor</a:t>
            </a:r>
          </a:p>
        </p:txBody>
      </p:sp>
      <p:sp>
        <p:nvSpPr>
          <p:cNvPr id="9" name="right_head"/>
          <p:cNvSpPr/>
          <p:nvPr/>
        </p:nvSpPr>
        <p:spPr>
          <a:xfrm>
            <a:off x="6199632" y="1691640"/>
            <a:ext cx="557784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SAM trajectory</a:t>
            </a:r>
          </a:p>
        </p:txBody>
      </p:sp>
      <p:sp>
        <p:nvSpPr>
          <p:cNvPr id="11"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Multiple 3.74x is plan divided by the latest actual.</a:t>
            </a:r>
          </a:p>
        </p:txBody>
      </p:sp>
      <p:graphicFrame>
        <p:nvGraphicFramePr>
          <p:cNvPr id="12" name="left"/>
          <p:cNvGraphicFramePr>
            <a:graphicFrameLocks noGrp="1"/>
          </p:cNvGraphicFramePr>
          <p:nvPr/>
        </p:nvGraphicFramePr>
        <p:xfrm>
          <a:off x="411480" y="2112264"/>
          <a:ext cx="5577839" cy="2123948"/>
        </p:xfrm>
        <a:graphic>
          <a:graphicData uri="http://schemas.openxmlformats.org/drawingml/2006/table">
            <a:tbl>
              <a:tblPr firstRow="1">
                <a:tableStyleId>{5940675A-B579-460E-94D1-54222C63F5DA}</a:tableStyleId>
              </a:tblPr>
              <a:tblGrid>
                <a:gridCol w="3452160"/>
                <a:gridCol w="2125679"/>
              </a:tblGrid>
              <a:tr h="287020">
                <a:tc>
                  <a:txBody>
                    <a:bodyPr wrap="square"/>
                    <a:lstStyle/>
                    <a:p>
                      <a:r>
                        <a:rPr sz="1300" b="1" i="0">
                          <a:solidFill>
                            <a:srgbClr val="FFFFFF"/>
                          </a:solidFill>
                          <a:latin typeface="Calibri"/>
                        </a:rPr>
                        <a:t>Step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Actual 2025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13.41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Plan 2030P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50.17</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Bridge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+36.76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Multiple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3.74x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graphicFrame>
        <p:nvGraphicFramePr>
          <p:cNvPr id="13" name="right"/>
          <p:cNvGraphicFramePr>
            <a:graphicFrameLocks noGrp="1"/>
          </p:cNvGraphicFramePr>
          <p:nvPr/>
        </p:nvGraphicFramePr>
        <p:xfrm>
          <a:off x="6199632" y="2112264"/>
          <a:ext cx="5577840" cy="3401568"/>
        </p:xfrm>
        <a:graphic>
          <a:graphicData uri="http://schemas.openxmlformats.org/drawingml/2006/chart">
            <c:chart xmlns:c="http://schemas.openxmlformats.org/drawingml/2006/chart" r:id="rId3"/>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name="S047_scenario_analysi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Recent trading points to 15.50 to 24.68 million by 2030P</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The low case carries year-to-date growth forward. The high case carries the latest full-year growth forward.</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Historical Performance, Financial summary (company workbook); data room: documents  CC Investor Workbook EXTERNAL, Compost Crew Monthly Financials 23YTD26</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Each case is a calculation from figures already on the record. None of them is a result.</a:t>
            </a:r>
          </a:p>
        </p:txBody>
      </p:sp>
      <p:graphicFrame>
        <p:nvGraphicFramePr>
          <p:cNvPr id="9" name="table"/>
          <p:cNvGraphicFramePr>
            <a:graphicFrameLocks noGrp="1"/>
          </p:cNvGraphicFramePr>
          <p:nvPr/>
        </p:nvGraphicFramePr>
        <p:xfrm>
          <a:off x="411480" y="1691640"/>
          <a:ext cx="11365991" cy="1664716"/>
        </p:xfrm>
        <a:graphic>
          <a:graphicData uri="http://schemas.openxmlformats.org/drawingml/2006/table">
            <a:tbl>
              <a:tblPr firstRow="1">
                <a:tableStyleId>{5940675A-B579-460E-94D1-54222C63F5DA}</a:tableStyleId>
              </a:tblPr>
              <a:tblGrid>
                <a:gridCol w="9529770"/>
                <a:gridCol w="1836221"/>
              </a:tblGrid>
              <a:tr h="287020">
                <a:tc>
                  <a:txBody>
                    <a:bodyPr wrap="square"/>
                    <a:lstStyle/>
                    <a:p>
                      <a:r>
                        <a:rPr sz="1300" b="1" i="0">
                          <a:solidFill>
                            <a:srgbClr val="FFFFFF"/>
                          </a:solidFill>
                          <a:latin typeface="Calibri"/>
                        </a:rPr>
                        <a:t>Case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Plan 2030P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50.17</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Latest actual growth carried from 2025 to 2030P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24.68</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Year-to-date pace at 2.9% from 2025 to 2030P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15.50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name="S048_downturn_resilience">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Subscriber retention and revenue retention for Compost Crew diverge as the book ages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Both series are the retention curve in the workbook. One is not converted into the other.</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Customer retention summary; data room: documents  CC Investor Workbook EXTERNAL</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Subscriber retention and revenue retention</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How the two series differ</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The month label is the age of the book on that row.</a:t>
            </a:r>
          </a:p>
          <a:p>
            <a:pPr algn="l" marL="155448" indent="-155448">
              <a:spcAft>
                <a:spcPts val="600"/>
              </a:spcAft>
              <a:buChar char="•"/>
            </a:pPr>
            <a:r>
              <a:rPr sz="1400" b="0" i="0">
                <a:solidFill>
                  <a:srgbClr val="1F2937"/>
                </a:solidFill>
                <a:latin typeface="Calibri"/>
              </a:rPr>
              <a:t>A missing month is not interpolated.</a:t>
            </a:r>
          </a:p>
        </p:txBody>
      </p:sp>
      <p:graphicFrame>
        <p:nvGraphicFramePr>
          <p:cNvPr id="11" name="chart"/>
          <p:cNvGraphicFramePr>
            <a:graphicFrameLocks noGrp="1"/>
          </p:cNvGraphicFramePr>
          <p:nvPr/>
        </p:nvGraphicFramePr>
        <p:xfrm>
          <a:off x="411480" y="2112264"/>
          <a:ext cx="7086600" cy="4014215"/>
        </p:xfrm>
        <a:graphic>
          <a:graphicData uri="http://schemas.openxmlformats.org/drawingml/2006/chart">
            <c:chart xmlns:c="http://schemas.openxmlformats.org/drawingml/2006/chart" r:id="rId3"/>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name="S049_risk_assessment">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The plan at 50.17 million sits above both trading cases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Municipal - DC is 22.6% of 2025 workbook revenue.</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Historical Performance; data room: documents  CC Investor Workbook EXTERNAL</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Two risks the files support</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What these rows do not prove</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The low case uses the opening months of the latest year against the same months a year earlier.</a:t>
            </a:r>
          </a:p>
          <a:p>
            <a:pPr algn="l" marL="155448" indent="-155448">
              <a:spcAft>
                <a:spcPts val="600"/>
              </a:spcAft>
              <a:buChar char="•"/>
            </a:pPr>
            <a:r>
              <a:rPr sz="1400" b="0" i="0">
                <a:solidFill>
                  <a:srgbClr val="1F2937"/>
                </a:solidFill>
                <a:latin typeface="Calibri"/>
              </a:rPr>
              <a:t>The full-year case carries the latest actual growth forward.</a:t>
            </a:r>
          </a:p>
          <a:p>
            <a:pPr algn="l" marL="155448" indent="-155448">
              <a:spcAft>
                <a:spcPts val="600"/>
              </a:spcAft>
              <a:buChar char="•"/>
            </a:pPr>
            <a:r>
              <a:rPr sz="1400" b="0" i="0">
                <a:solidFill>
                  <a:srgbClr val="1F2937"/>
                </a:solidFill>
                <a:latin typeface="Calibri"/>
              </a:rPr>
              <a:t>The contract sheet's largest row keeps the workbook's own name.</a:t>
            </a:r>
          </a:p>
        </p:txBody>
      </p:sp>
      <p:graphicFrame>
        <p:nvGraphicFramePr>
          <p:cNvPr id="11" name="left"/>
          <p:cNvGraphicFramePr>
            <a:graphicFrameLocks noGrp="1"/>
          </p:cNvGraphicFramePr>
          <p:nvPr/>
        </p:nvGraphicFramePr>
        <p:xfrm>
          <a:off x="411480" y="2112264"/>
          <a:ext cx="7086599" cy="1205484"/>
        </p:xfrm>
        <a:graphic>
          <a:graphicData uri="http://schemas.openxmlformats.org/drawingml/2006/table">
            <a:tbl>
              <a:tblPr firstRow="1">
                <a:tableStyleId>{5940675A-B579-460E-94D1-54222C63F5DA}</a:tableStyleId>
              </a:tblPr>
              <a:tblGrid>
                <a:gridCol w="1488149"/>
                <a:gridCol w="3308041"/>
                <a:gridCol w="2290409"/>
              </a:tblGrid>
              <a:tr h="287020">
                <a:tc>
                  <a:txBody>
                    <a:bodyPr wrap="square"/>
                    <a:lstStyle/>
                    <a:p>
                      <a:r>
                        <a:rPr sz="1300" b="1" i="0">
                          <a:solidFill>
                            <a:srgbClr val="FFFFFF"/>
                          </a:solidFill>
                          <a:latin typeface="Calibri"/>
                        </a:rPr>
                        <a:t>Risk</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On the record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Open point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Plan pace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15.50 to 24.68 versus plan 50.17</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Neither case is a result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Municipal - DC</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$3.00M in 2025, 22.6% of that workbook</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$10.42M in 2030P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name="S058_div_competition">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04</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Competitive Landscape</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Who the target competes with and whether its advantages hold up</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0" i="0">
                <a:solidFill>
                  <a:srgbClr val="B9C3D1"/>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0" i="0">
                <a:solidFill>
                  <a:srgbClr val="B9C3D1"/>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0" i="0">
                <a:solidFill>
                  <a:srgbClr val="B9C3D1"/>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1" i="0">
                <a:solidFill>
                  <a:srgbClr val="F2C879"/>
                </a:solidFill>
                <a:latin typeface="Calibri"/>
              </a:rPr>
              <a:t>04  Competitive Landscape</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0" i="0">
                <a:solidFill>
                  <a:srgbClr val="B9C3D1"/>
                </a:solidFill>
                <a:latin typeface="Calibri"/>
              </a:rPr>
              <a:t>05  Growth Opportunities</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0" i="0">
                <a:solidFill>
                  <a:srgbClr val="B9C3D1"/>
                </a:solidFill>
                <a:latin typeface="Calibri"/>
              </a:rPr>
              <a:t>06  Appendix A - Market Sizing Methodology</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0" i="0">
                <a:solidFill>
                  <a:srgbClr val="B9C3D1"/>
                </a:solidFill>
                <a:latin typeface="Calibri"/>
              </a:rPr>
              <a:t>07  Appendix B - Evidence &amp; Audit Trail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name="S062_criteria_vs_archetype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COMPETITIVE LANDSCAPE</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Management's comparison of Compost Crew with the alternatives it named</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Shown once, as a self-assessment. Yes and no are the marks on the record.</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Competitor Identification, Company Background; data room: CC CIM JPC FINAL 090126</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The CIM also scores Soil Manufacturers. That column is not on this page. The table does not name local operating companies. Pictures on that page are described as Republic Services, Waste Management, Monster Organics, and Leafgro.</a:t>
            </a:r>
          </a:p>
        </p:txBody>
      </p:sp>
      <p:graphicFrame>
        <p:nvGraphicFramePr>
          <p:cNvPr id="9" name="table"/>
          <p:cNvGraphicFramePr>
            <a:graphicFrameLocks noGrp="1"/>
          </p:cNvGraphicFramePr>
          <p:nvPr/>
        </p:nvGraphicFramePr>
        <p:xfrm>
          <a:off x="411480" y="1691640"/>
          <a:ext cx="11365989" cy="3741420"/>
        </p:xfrm>
        <a:graphic>
          <a:graphicData uri="http://schemas.openxmlformats.org/drawingml/2006/table">
            <a:tbl>
              <a:tblPr firstRow="1">
                <a:tableStyleId>{5940675A-B579-460E-94D1-54222C63F5DA}</a:tableStyleId>
              </a:tblPr>
              <a:tblGrid>
                <a:gridCol w="3181774"/>
                <a:gridCol w="794341"/>
                <a:gridCol w="2164021"/>
                <a:gridCol w="2246075"/>
                <a:gridCol w="898596"/>
                <a:gridCol w="2081182"/>
              </a:tblGrid>
              <a:tr h="287020">
                <a:tc>
                  <a:txBody>
                    <a:bodyPr wrap="square"/>
                    <a:lstStyle/>
                    <a:p>
                      <a:r>
                        <a:rPr sz="1300" b="1" i="0">
                          <a:solidFill>
                            <a:srgbClr val="FFFFFF"/>
                          </a:solidFill>
                          <a:latin typeface="Calibri"/>
                        </a:rPr>
                        <a:t>Criterion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Target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Major Waste Companies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Other Local Composters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Brokers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Technology Providers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31800">
                <a:tc>
                  <a:txBody>
                    <a:bodyPr wrap="square"/>
                    <a:lstStyle/>
                    <a:p>
                      <a:r>
                        <a:rPr sz="1300" b="1" i="0">
                          <a:solidFill>
                            <a:srgbClr val="14213D"/>
                          </a:solidFill>
                          <a:latin typeface="Calibri"/>
                        </a:rPr>
                        <a:t>Composting is the core business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Innovation in collection &amp;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Flexible, locally tailored service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Technology-enabled operations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Vertically integrated model</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Clear regional growth strategy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Trained program managers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Financial strength &amp; scalability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No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Yes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name="S068_churn_trigger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COMPETITIVE LANDSCAPE</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On Commercial Summary, NRR is 106.6% and GRR is 87.3%, a spread of +19.3 points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The spread is NRR minus GRR for this one population. It is not a churn survey.</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Customer Stickiness; data room: documents  CC Investor Workbook EXTERNAL</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Churn trigger, frequency and severity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Addressability</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GRR 87.3% and NRR 106.6% are the module's figures.</a:t>
            </a:r>
          </a:p>
          <a:p>
            <a:pPr algn="l" marL="155448" indent="-155448">
              <a:spcAft>
                <a:spcPts val="600"/>
              </a:spcAft>
              <a:buChar char="•"/>
            </a:pPr>
            <a:r>
              <a:rPr sz="1400" b="0" i="0">
                <a:solidFill>
                  <a:srgbClr val="1F2937"/>
                </a:solidFill>
                <a:latin typeface="Calibri"/>
              </a:rPr>
              <a:t>Spread +19.3 points is NRR minus GRR.</a:t>
            </a:r>
          </a:p>
        </p:txBody>
      </p:sp>
      <p:graphicFrame>
        <p:nvGraphicFramePr>
          <p:cNvPr id="11" name="left"/>
          <p:cNvGraphicFramePr>
            <a:graphicFrameLocks noGrp="1"/>
          </p:cNvGraphicFramePr>
          <p:nvPr/>
        </p:nvGraphicFramePr>
        <p:xfrm>
          <a:off x="411480" y="2112264"/>
          <a:ext cx="7086598" cy="746252"/>
        </p:xfrm>
        <a:graphic>
          <a:graphicData uri="http://schemas.openxmlformats.org/drawingml/2006/table">
            <a:tbl>
              <a:tblPr firstRow="1">
                <a:tableStyleId>{5940675A-B579-460E-94D1-54222C63F5DA}</a:tableStyleId>
              </a:tblPr>
              <a:tblGrid>
                <a:gridCol w="2724275"/>
                <a:gridCol w="1131238"/>
                <a:gridCol w="1131238"/>
                <a:gridCol w="2099847"/>
              </a:tblGrid>
              <a:tr h="287020">
                <a:tc>
                  <a:txBody>
                    <a:bodyPr wrap="square"/>
                    <a:lstStyle/>
                    <a:p>
                      <a:r>
                        <a:rPr sz="1300" b="1" i="0">
                          <a:solidFill>
                            <a:srgbClr val="FFFFFF"/>
                          </a:solidFill>
                          <a:latin typeface="Calibri"/>
                        </a:rPr>
                        <a:t>Population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GRR</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NRR</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NRR minus GRR</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Commercial Summary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87.3%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106.6%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+19.3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name="S069_target_strength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COMPETITIVE LANDSCAPE</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Largest accounts for Compost Crew, as the workbook ranks them</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Names are the labels in the concentration sheet. A rank without a share is left out.</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Customer concentration; data room: documents  CC Investor Workbook EXTERNAL</a:t>
            </a:r>
          </a:p>
        </p:txBody>
      </p:sp>
      <p:sp>
        <p:nvSpPr>
          <p:cNvPr id="7" name="quotes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Largest accounts in the workbook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What the ranking shows</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The first 8 accounts reach a cumulative share of 19.1%.</a:t>
            </a:r>
          </a:p>
        </p:txBody>
      </p:sp>
      <p:graphicFrame>
        <p:nvGraphicFramePr>
          <p:cNvPr id="11" name="quotes"/>
          <p:cNvGraphicFramePr>
            <a:graphicFrameLocks noGrp="1"/>
          </p:cNvGraphicFramePr>
          <p:nvPr/>
        </p:nvGraphicFramePr>
        <p:xfrm>
          <a:off x="411480" y="2112264"/>
          <a:ext cx="7086598" cy="3855204"/>
        </p:xfrm>
        <a:graphic>
          <a:graphicData uri="http://schemas.openxmlformats.org/drawingml/2006/table">
            <a:tbl>
              <a:tblPr firstRow="1">
                <a:tableStyleId>{5940675A-B579-460E-94D1-54222C63F5DA}</a:tableStyleId>
              </a:tblPr>
              <a:tblGrid>
                <a:gridCol w="921110"/>
                <a:gridCol w="2698813"/>
                <a:gridCol w="1159478"/>
                <a:gridCol w="921110"/>
                <a:gridCol w="1386087"/>
              </a:tblGrid>
              <a:tr h="287020">
                <a:tc>
                  <a:txBody>
                    <a:bodyPr wrap="square"/>
                    <a:lstStyle/>
                    <a:p>
                      <a:r>
                        <a:rPr sz="1300" b="1" i="0">
                          <a:solidFill>
                            <a:srgbClr val="FFFFFF"/>
                          </a:solidFill>
                          <a:latin typeface="Calibri"/>
                        </a:rPr>
                        <a:t>Rank</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Account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Revenue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Share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Cumulative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46023">
                <a:tc>
                  <a:txBody>
                    <a:bodyPr wrap="square"/>
                    <a:lstStyle/>
                    <a:p>
                      <a:r>
                        <a:rPr sz="1300" b="1" i="0">
                          <a:solidFill>
                            <a:srgbClr val="14213D"/>
                          </a:solidFill>
                          <a:latin typeface="Calibri"/>
                        </a:rPr>
                        <a:t>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Commercial Account 0001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$182,924</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3.3%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3.3%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46023">
                <a:tc>
                  <a:txBody>
                    <a:bodyPr wrap="square"/>
                    <a:lstStyle/>
                    <a:p>
                      <a:r>
                        <a:rPr sz="1300" b="1" i="0">
                          <a:solidFill>
                            <a:srgbClr val="14213D"/>
                          </a:solidFill>
                          <a:latin typeface="Calibri"/>
                        </a:rPr>
                        <a:t>2</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Commercial Account 0002</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$154,343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2.7%</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6.0%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46023">
                <a:tc>
                  <a:txBody>
                    <a:bodyPr wrap="square"/>
                    <a:lstStyle/>
                    <a:p>
                      <a:r>
                        <a:rPr sz="1300" b="1" i="0">
                          <a:solidFill>
                            <a:srgbClr val="14213D"/>
                          </a:solidFill>
                          <a:latin typeface="Calibri"/>
                        </a:rPr>
                        <a:t>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Commercial Account 0003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$140,917</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2.5%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8.5%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46023">
                <a:tc>
                  <a:txBody>
                    <a:bodyPr wrap="square"/>
                    <a:lstStyle/>
                    <a:p>
                      <a:r>
                        <a:rPr sz="1300" b="1" i="0">
                          <a:solidFill>
                            <a:srgbClr val="14213D"/>
                          </a:solidFill>
                          <a:latin typeface="Calibri"/>
                        </a:rPr>
                        <a:t>4</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Commercial Account 0004</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$132,220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2.4%</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10.9%</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46023">
                <a:tc>
                  <a:txBody>
                    <a:bodyPr wrap="square"/>
                    <a:lstStyle/>
                    <a:p>
                      <a:r>
                        <a:rPr sz="1300" b="1" i="0">
                          <a:solidFill>
                            <a:srgbClr val="14213D"/>
                          </a:solidFill>
                          <a:latin typeface="Calibri"/>
                        </a:rPr>
                        <a:t>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Commercial Account 0005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$126,540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2.3%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13.1%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46023">
                <a:tc>
                  <a:txBody>
                    <a:bodyPr wrap="square"/>
                    <a:lstStyle/>
                    <a:p>
                      <a:r>
                        <a:rPr sz="1300" b="1" i="0">
                          <a:solidFill>
                            <a:srgbClr val="14213D"/>
                          </a:solidFill>
                          <a:latin typeface="Calibri"/>
                        </a:rPr>
                        <a:t>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Commercial Account 0006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$116,816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2.1%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15.2%</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46023">
                <a:tc>
                  <a:txBody>
                    <a:bodyPr wrap="square"/>
                    <a:lstStyle/>
                    <a:p>
                      <a:r>
                        <a:rPr sz="1300" b="1" i="0">
                          <a:solidFill>
                            <a:srgbClr val="14213D"/>
                          </a:solidFill>
                          <a:latin typeface="Calibri"/>
                        </a:rPr>
                        <a:t>7</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Commercial Account 0007</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$115,272</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2.1%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17.3%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46023">
                <a:tc>
                  <a:txBody>
                    <a:bodyPr wrap="square"/>
                    <a:lstStyle/>
                    <a:p>
                      <a:r>
                        <a:rPr sz="1300" b="1" i="0">
                          <a:solidFill>
                            <a:srgbClr val="14213D"/>
                          </a:solidFill>
                          <a:latin typeface="Calibri"/>
                        </a:rPr>
                        <a:t>8</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Commercial Account 0009</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$105,135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1.9%</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19.1%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name="S071_div_growth">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05</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Growth Opportunities</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Where the incremental value is and what has to be true to capture it</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0" i="0">
                <a:solidFill>
                  <a:srgbClr val="B9C3D1"/>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0" i="0">
                <a:solidFill>
                  <a:srgbClr val="B9C3D1"/>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0" i="0">
                <a:solidFill>
                  <a:srgbClr val="B9C3D1"/>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0" i="0">
                <a:solidFill>
                  <a:srgbClr val="B9C3D1"/>
                </a:solidFill>
                <a:latin typeface="Calibri"/>
              </a:rPr>
              <a:t>04  Competitive Landscape</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1" i="0">
                <a:solidFill>
                  <a:srgbClr val="F2C879"/>
                </a:solidFill>
                <a:latin typeface="Calibri"/>
              </a:rPr>
              <a:t>05  Growth Opportunities</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0" i="0">
                <a:solidFill>
                  <a:srgbClr val="B9C3D1"/>
                </a:solidFill>
                <a:latin typeface="Calibri"/>
              </a:rPr>
              <a:t>06  Appendix A - Market Sizing Methodology</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0" i="0">
                <a:solidFill>
                  <a:srgbClr val="B9C3D1"/>
                </a:solidFill>
                <a:latin typeface="Calibri"/>
              </a:rPr>
              <a:t>07  Appendix B - Evidence &amp; Audit Trail</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name="S072_growth_levers_overview">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Municipal - DC is 22.6% of 2025 workbook revenue</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Each line is stated in the workbook or the CIM. None of them is a result.</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Revenue by segment (company workbook), Company Background, Synergies; data room: documents  CC Investor Workbook EXTERNAL, CC CIM JPC FINAL 090126</a:t>
            </a:r>
          </a:p>
        </p:txBody>
      </p:sp>
      <p:graphicFrame>
        <p:nvGraphicFramePr>
          <p:cNvPr id="7" name="rows"/>
          <p:cNvGraphicFramePr>
            <a:graphicFrameLocks noGrp="1"/>
          </p:cNvGraphicFramePr>
          <p:nvPr/>
        </p:nvGraphicFramePr>
        <p:xfrm>
          <a:off x="411480" y="1691640"/>
          <a:ext cx="11365990" cy="2583180"/>
        </p:xfrm>
        <a:graphic>
          <a:graphicData uri="http://schemas.openxmlformats.org/drawingml/2006/table">
            <a:tbl>
              <a:tblPr firstRow="1">
                <a:tableStyleId>{5940675A-B579-460E-94D1-54222C63F5DA}</a:tableStyleId>
              </a:tblPr>
              <a:tblGrid>
                <a:gridCol w="2165723"/>
                <a:gridCol w="5215549"/>
                <a:gridCol w="3984718"/>
              </a:tblGrid>
              <a:tr h="287020">
                <a:tc>
                  <a:txBody>
                    <a:bodyPr wrap="square"/>
                    <a:lstStyle/>
                    <a:p>
                      <a:r>
                        <a:rPr sz="1300" b="1" i="0">
                          <a:solidFill>
                            <a:srgbClr val="FFFFFF"/>
                          </a:solidFill>
                          <a:latin typeface="Calibri"/>
                        </a:rPr>
                        <a:t>Lever</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On the record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Not established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Municipal - DC</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$3.00M in 2025; $10.42M in 2030P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22.6%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Utica</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$0.00M in 2026P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$1.64M in 2030P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Rate step-up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about 2.6% a year from 2027</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 dollar effect is calculated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Sales capacity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Latest new logos equal 1.6 of one quota</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Not a bookings record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Agricity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About $1.2M subcontract and $1.6M own book</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Not added to company revenue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name="S073_l1_new_customer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Latest new logos equal 1.6 of one stated quota</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Net additions are new logos minus churned logos. A year with only one of the two is omitted.</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Customer Stickiness; data room: documents  CC Investor Workbook EXTERNAL</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Contestable pool and capture path</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Assumptions behind the build</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Net additions are new logos minus churned logos: 139 in 2022, 95 in 2023, 136 in 2024, 33 in 2025.</a:t>
            </a:r>
          </a:p>
          <a:p>
            <a:pPr algn="l" marL="155448" indent="-155448">
              <a:spcAft>
                <a:spcPts val="600"/>
              </a:spcAft>
              <a:buChar char="•"/>
            </a:pPr>
            <a:r>
              <a:rPr sz="1400" b="0" i="0">
                <a:solidFill>
                  <a:srgbClr val="1F2937"/>
                </a:solidFill>
                <a:latin typeface="Calibri"/>
              </a:rPr>
              <a:t>The latest new-logo count equals 1.6 of the stated quota.</a:t>
            </a:r>
          </a:p>
        </p:txBody>
      </p:sp>
      <p:graphicFrame>
        <p:nvGraphicFramePr>
          <p:cNvPr id="11" name="chart"/>
          <p:cNvGraphicFramePr>
            <a:graphicFrameLocks noGrp="1"/>
          </p:cNvGraphicFramePr>
          <p:nvPr/>
        </p:nvGraphicFramePr>
        <p:xfrm>
          <a:off x="411480" y="2112264"/>
          <a:ext cx="7086600" cy="4014215"/>
        </p:xfrm>
        <a:graphic>
          <a:graphicData uri="http://schemas.openxmlformats.org/drawingml/2006/chart">
            <c:chart xmlns:c="http://schemas.openxmlformats.org/drawingml/2006/chart" r:id="rId3"/>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name="S074_l1_right_to_wi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The largest contract is 23.0% of 2025 revenue</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Ranked by the latest actual year the contract sheet states.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Contracts, backlog and pipeline, Statement of operations (management accounts, annual roll-up); data room: documents  CC Investor Workbook EXTERNAL, documents  Compost Crew Monthly Financials 23YTD26</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The largest contract is 23.0% of 2025 revenue. The workbook's own name is kept.</a:t>
            </a:r>
          </a:p>
        </p:txBody>
      </p:sp>
      <p:graphicFrame>
        <p:nvGraphicFramePr>
          <p:cNvPr id="9" name="table"/>
          <p:cNvGraphicFramePr>
            <a:graphicFrameLocks noGrp="1"/>
          </p:cNvGraphicFramePr>
          <p:nvPr/>
        </p:nvGraphicFramePr>
        <p:xfrm>
          <a:off x="411480" y="1691640"/>
          <a:ext cx="11365991" cy="3042412"/>
        </p:xfrm>
        <a:graphic>
          <a:graphicData uri="http://schemas.openxmlformats.org/drawingml/2006/table">
            <a:tbl>
              <a:tblPr firstRow="1">
                <a:tableStyleId>{5940675A-B579-460E-94D1-54222C63F5DA}</a:tableStyleId>
              </a:tblPr>
              <a:tblGrid>
                <a:gridCol w="4880035"/>
                <a:gridCol w="3242978"/>
                <a:gridCol w="3242978"/>
              </a:tblGrid>
              <a:tr h="287020">
                <a:tc>
                  <a:txBody>
                    <a:bodyPr wrap="square"/>
                    <a:lstStyle/>
                    <a:p>
                      <a:r>
                        <a:rPr sz="1300" b="1" i="0">
                          <a:solidFill>
                            <a:srgbClr val="FFFFFF"/>
                          </a:solidFill>
                          <a:latin typeface="Calibri"/>
                        </a:rPr>
                        <a:t>Contract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2025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Lifetime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Municipal Account 01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3,077,660.70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8,498,552.61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Municipal Account 04</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446,492.69</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781,481.56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Municipal Account 02</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346,137.76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1,109,964.62</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Municipal Account 03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302,026.84</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881,965.92</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Municipal Account 06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117,664.53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358,595.69</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Municipal Account 05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109,986.13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371,251.50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name="S075_l1_channel_expansio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The plan takes quota-carrying reps from 8 to 19. No bookings history was loaded.</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Each row is a quota the growth record stored. A missing productivity history is not filled in.</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Growth Opportunities; data room: CC CIM JPC FINAL 090126</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Quotas on the record</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What the quota does not prove</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Quotas are the plan's figures. They are not a record of what the current team sells.</a:t>
            </a:r>
          </a:p>
          <a:p>
            <a:pPr algn="l" marL="155448" indent="-155448">
              <a:spcAft>
                <a:spcPts val="600"/>
              </a:spcAft>
              <a:buChar char="•"/>
            </a:pPr>
            <a:r>
              <a:rPr sz="1400" b="0" i="0">
                <a:solidFill>
                  <a:srgbClr val="1F2937"/>
                </a:solidFill>
                <a:latin typeface="Calibri"/>
              </a:rPr>
              <a:t>Latest new logos equal 1.6 of the stated quota.</a:t>
            </a:r>
          </a:p>
          <a:p>
            <a:pPr algn="l" marL="155448" indent="-155448">
              <a:spcAft>
                <a:spcPts val="600"/>
              </a:spcAft>
              <a:buChar char="•"/>
            </a:pPr>
            <a:r>
              <a:rPr sz="1400" b="0" i="0">
                <a:solidFill>
                  <a:srgbClr val="1F2937"/>
                </a:solidFill>
                <a:latin typeface="Calibri"/>
              </a:rPr>
              <a:t>The growth case takes those reps from 9 to 23.</a:t>
            </a:r>
          </a:p>
          <a:p>
            <a:pPr algn="l" marL="155448" indent="-155448">
              <a:spcAft>
                <a:spcPts val="600"/>
              </a:spcAft>
              <a:buChar char="•"/>
            </a:pPr>
            <a:r>
              <a:rPr sz="1400" b="0" i="0">
                <a:solidFill>
                  <a:srgbClr val="1F2937"/>
                </a:solidFill>
                <a:latin typeface="Calibri"/>
              </a:rPr>
              <a:t>Ramp on the record: 90% of quota (75% municipal). Growth case: 100% of quota.</a:t>
            </a:r>
          </a:p>
          <a:p>
            <a:pPr algn="l" marL="155448" indent="-155448">
              <a:spcAft>
                <a:spcPts val="600"/>
              </a:spcAft>
              <a:buChar char="•"/>
            </a:pPr>
            <a:r>
              <a:rPr sz="1400" b="0" i="0">
                <a:solidFill>
                  <a:srgbClr val="1F2937"/>
                </a:solidFill>
                <a:latin typeface="Calibri"/>
              </a:rPr>
              <a:t>Marketing on the record: +15% in 2027, flat after. Growth case: +25% in 2027, +30% / yr.</a:t>
            </a:r>
          </a:p>
        </p:txBody>
      </p:sp>
      <p:graphicFrame>
        <p:nvGraphicFramePr>
          <p:cNvPr id="11" name="left"/>
          <p:cNvGraphicFramePr>
            <a:graphicFrameLocks noGrp="1"/>
          </p:cNvGraphicFramePr>
          <p:nvPr/>
        </p:nvGraphicFramePr>
        <p:xfrm>
          <a:off x="411480" y="2112264"/>
          <a:ext cx="7086598" cy="3855204"/>
        </p:xfrm>
        <a:graphic>
          <a:graphicData uri="http://schemas.openxmlformats.org/drawingml/2006/table">
            <a:tbl>
              <a:tblPr firstRow="1">
                <a:tableStyleId>{5940675A-B579-460E-94D1-54222C63F5DA}</a:tableStyleId>
              </a:tblPr>
              <a:tblGrid>
                <a:gridCol w="2672242"/>
                <a:gridCol w="2343101"/>
                <a:gridCol w="2071255"/>
              </a:tblGrid>
              <a:tr h="287020">
                <a:tc>
                  <a:txBody>
                    <a:bodyPr wrap="square"/>
                    <a:lstStyle/>
                    <a:p>
                      <a:r>
                        <a:rPr sz="1300" b="1" i="0">
                          <a:solidFill>
                            <a:srgbClr val="FFFFFF"/>
                          </a:solidFill>
                          <a:latin typeface="Calibri"/>
                        </a:rPr>
                        <a:t>Driver</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Baseline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Growth case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46023">
                <a:tc>
                  <a:txBody>
                    <a:bodyPr wrap="square"/>
                    <a:lstStyle/>
                    <a:p>
                      <a:r>
                        <a:rPr sz="1300" b="1" i="0">
                          <a:solidFill>
                            <a:srgbClr val="14213D"/>
                          </a:solidFill>
                          <a:latin typeface="Calibri"/>
                        </a:rPr>
                        <a:t>Quota-carrying sales reps, 2026 →</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8 → 19</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9 → 23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46023">
                <a:tc>
                  <a:txBody>
                    <a:bodyPr wrap="square"/>
                    <a:lstStyle/>
                    <a:p>
                      <a:r>
                        <a:rPr sz="1300" b="1" i="0">
                          <a:solidFill>
                            <a:srgbClr val="14213D"/>
                          </a:solidFill>
                          <a:latin typeface="Calibri"/>
                        </a:rPr>
                        <a:t>Commercial AE quota × AAOV</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52 accounts/yr × $7,000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+3.5% quota, +4.0% AAOV</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46023">
                <a:tc>
                  <a:txBody>
                    <a:bodyPr wrap="square"/>
                    <a:lstStyle/>
                    <a:p>
                      <a:r>
                        <a:rPr sz="1300" b="1" i="0">
                          <a:solidFill>
                            <a:srgbClr val="14213D"/>
                          </a:solidFill>
                          <a:latin typeface="Calibri"/>
                        </a:rPr>
                        <a:t>Municipal AE quota × price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1,200 homes/yr × $20/mo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+3.5% quota, +3.0% price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46023">
                <a:tc>
                  <a:txBody>
                    <a:bodyPr wrap="square"/>
                    <a:lstStyle/>
                    <a:p>
                      <a:r>
                        <a:rPr sz="1300" b="1" i="0">
                          <a:solidFill>
                            <a:srgbClr val="14213D"/>
                          </a:solidFill>
                          <a:latin typeface="Calibri"/>
                        </a:rPr>
                        <a:t>Residential AE quota × AAOV</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2,700 homes/yr × $21.31/mo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+3.5% quota, +2.0% AAOV</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46023">
                <a:tc>
                  <a:txBody>
                    <a:bodyPr wrap="square"/>
                    <a:lstStyle/>
                    <a:p>
                      <a:r>
                        <a:rPr sz="1300" b="1" i="0">
                          <a:solidFill>
                            <a:srgbClr val="14213D"/>
                          </a:solidFill>
                          <a:latin typeface="Calibri"/>
                        </a:rPr>
                        <a:t>New-rep ramp — 5 months to</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90% of quota (75% municipal)</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100% of quota</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46023">
                <a:tc>
                  <a:txBody>
                    <a:bodyPr wrap="square"/>
                    <a:lstStyle/>
                    <a:p>
                      <a:r>
                        <a:rPr sz="1300" b="1" i="0">
                          <a:solidFill>
                            <a:srgbClr val="14213D"/>
                          </a:solidFill>
                          <a:latin typeface="Calibri"/>
                        </a:rPr>
                        <a:t>Marketing and advertising spend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+15% in 2027, flat after</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+25% in 2027, +30% / yr</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46023">
                <a:tc>
                  <a:txBody>
                    <a:bodyPr wrap="square"/>
                    <a:lstStyle/>
                    <a:p>
                      <a:r>
                        <a:rPr sz="1300" b="1" i="0">
                          <a:solidFill>
                            <a:srgbClr val="14213D"/>
                          </a:solidFill>
                          <a:latin typeface="Calibri"/>
                        </a:rPr>
                        <a:t>Account managers, 2030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11 (5 commercial, 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11 (same as baseline)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46023">
                <a:tc>
                  <a:txBody>
                    <a:bodyPr wrap="square"/>
                    <a:lstStyle/>
                    <a:p>
                      <a:r>
                        <a:rPr sz="1300" b="1" i="0">
                          <a:solidFill>
                            <a:srgbClr val="14213D"/>
                          </a:solidFill>
                          <a:latin typeface="Calibri"/>
                        </a:rPr>
                        <a:t>Commercial upsell quota × AAOV</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52 upsells/yr × $1,885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+4.0% AAOV from 2028</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name="S079_l3_expand_account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Retention by year on Commercial Summary</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Each point is the rate stored for that year. A missing year is not interpolated.</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Customer Stickiness; data room: documents  CC Investor Workbook EXTERNAL</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Expansion within existing accounts</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Cross-sell and upsell evidence</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The chart uses the yearly rates on file.</a:t>
            </a:r>
          </a:p>
          <a:p>
            <a:pPr algn="l" marL="155448" indent="-155448">
              <a:spcAft>
                <a:spcPts val="600"/>
              </a:spcAft>
              <a:buChar char="•"/>
            </a:pPr>
            <a:r>
              <a:rPr sz="1400" b="0" i="0">
                <a:solidFill>
                  <a:srgbClr val="1F2937"/>
                </a:solidFill>
                <a:latin typeface="Calibri"/>
              </a:rPr>
              <a:t>Plan years are not added to this curve.</a:t>
            </a:r>
          </a:p>
        </p:txBody>
      </p:sp>
      <p:graphicFrame>
        <p:nvGraphicFramePr>
          <p:cNvPr id="11" name="chart"/>
          <p:cNvGraphicFramePr>
            <a:graphicFrameLocks noGrp="1"/>
          </p:cNvGraphicFramePr>
          <p:nvPr/>
        </p:nvGraphicFramePr>
        <p:xfrm>
          <a:off x="411480" y="2112264"/>
          <a:ext cx="7086600" cy="4014215"/>
        </p:xfrm>
        <a:graphic>
          <a:graphicData uri="http://schemas.openxmlformats.org/drawingml/2006/chart">
            <c:chart xmlns:c="http://schemas.openxmlformats.org/drawingml/2006/chart" r:id="rId3"/>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name="S081_l5_adjacent_segment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Arlington 22201 scores 6.18, ahead of the Montgomery zips on this page</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Maryland is the summary ranking. Northern Virginia is the ranking block on the same workbook.</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Territory scores, Northern Virginia territory scores; data room: documents  MD NOVA ZIP Expansion Analysis Final 10 22 2025</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A score ranks where to go. It is not a revenue figure.</a:t>
            </a:r>
          </a:p>
        </p:txBody>
      </p:sp>
      <p:graphicFrame>
        <p:nvGraphicFramePr>
          <p:cNvPr id="9" name="table"/>
          <p:cNvGraphicFramePr>
            <a:graphicFrameLocks noGrp="1"/>
          </p:cNvGraphicFramePr>
          <p:nvPr/>
        </p:nvGraphicFramePr>
        <p:xfrm>
          <a:off x="411480" y="1691640"/>
          <a:ext cx="11365990" cy="3741420"/>
        </p:xfrm>
        <a:graphic>
          <a:graphicData uri="http://schemas.openxmlformats.org/drawingml/2006/table">
            <a:tbl>
              <a:tblPr firstRow="1">
                <a:tableStyleId>{5940675A-B579-460E-94D1-54222C63F5DA}</a:tableStyleId>
              </a:tblPr>
              <a:tblGrid>
                <a:gridCol w="3310797"/>
                <a:gridCol w="2671333"/>
                <a:gridCol w="2505638"/>
                <a:gridCol w="1439111"/>
                <a:gridCol w="1439111"/>
              </a:tblGrid>
              <a:tr h="287020">
                <a:tc>
                  <a:txBody>
                    <a:bodyPr wrap="square"/>
                    <a:lstStyle/>
                    <a:p>
                      <a:r>
                        <a:rPr sz="1300" b="1" i="0">
                          <a:solidFill>
                            <a:srgbClr val="FFFFFF"/>
                          </a:solidFill>
                          <a:latin typeface="Calibri"/>
                        </a:rPr>
                        <a:t>Territory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Area</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County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ZIP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Score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31800">
                <a:tc>
                  <a:txBody>
                    <a:bodyPr wrap="square"/>
                    <a:lstStyle/>
                    <a:p>
                      <a:r>
                        <a:rPr sz="1300" b="1" i="0">
                          <a:solidFill>
                            <a:srgbClr val="14213D"/>
                          </a:solidFill>
                          <a:latin typeface="Calibri"/>
                        </a:rPr>
                        <a:t>Maryland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ROCKVILLE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MONTGOMERY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20852</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5.88</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Maryland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ROCKVILLE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MONTGOMERY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20850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5.81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Maryland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BETHESDA</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MONTGOMERY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20814</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5.48</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Maryland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SILVER SPRING</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MONTGOMERY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20910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5.27</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Northern Virginia</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ARLINGTON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ARLINGTON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22201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6.18</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Northern Virginia</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FAIRFAX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FAIRFAX CITY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22030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5.52</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Northern Virginia</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ARLINGTON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ARLINGTON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22203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5.10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Northern Virginia</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ARLINGTON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ARLINGTON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22209</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5.01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name="S082_l6_product_expansio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Utica and Key Compostables are 5.2% of 2025 workbook revenue and 9.7% of the 2030 plan</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Each amount is the segment sheet. The shares use workbook revenue for the same year.</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Revenue by segment (company workbook), Financial summary (company workbook); data room: documents  CC Investor Workbook EXTERNAL</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Lines on the segment sheet</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What is not established</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Utica is zero in 2025 on this sheet. Its plan amount is not a result.</a:t>
            </a:r>
          </a:p>
          <a:p>
            <a:pPr algn="l" marL="155448" indent="-155448">
              <a:spcAft>
                <a:spcPts val="600"/>
              </a:spcAft>
              <a:buChar char="•"/>
            </a:pPr>
            <a:r>
              <a:rPr sz="1400" b="0" i="0">
                <a:solidFill>
                  <a:srgbClr val="1F2937"/>
                </a:solidFill>
                <a:latin typeface="Calibri"/>
              </a:rPr>
              <a:t>A permit and a grant are not a facility profit and loss.</a:t>
            </a:r>
          </a:p>
        </p:txBody>
      </p:sp>
      <p:graphicFrame>
        <p:nvGraphicFramePr>
          <p:cNvPr id="11" name="left"/>
          <p:cNvGraphicFramePr>
            <a:graphicFrameLocks noGrp="1"/>
          </p:cNvGraphicFramePr>
          <p:nvPr/>
        </p:nvGraphicFramePr>
        <p:xfrm>
          <a:off x="411480" y="2112264"/>
          <a:ext cx="7086598" cy="1664716"/>
        </p:xfrm>
        <a:graphic>
          <a:graphicData uri="http://schemas.openxmlformats.org/drawingml/2006/table">
            <a:tbl>
              <a:tblPr firstRow="1">
                <a:tableStyleId>{5940675A-B579-460E-94D1-54222C63F5DA}</a:tableStyleId>
              </a:tblPr>
              <a:tblGrid>
                <a:gridCol w="4018814"/>
                <a:gridCol w="1533892"/>
                <a:gridCol w="1533892"/>
              </a:tblGrid>
              <a:tr h="287020">
                <a:tc>
                  <a:txBody>
                    <a:bodyPr wrap="square"/>
                    <a:lstStyle/>
                    <a:p>
                      <a:r>
                        <a:rPr sz="1300" b="1" i="0">
                          <a:solidFill>
                            <a:srgbClr val="FFFFFF"/>
                          </a:solidFill>
                          <a:latin typeface="Calibri"/>
                        </a:rPr>
                        <a:t>Line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2025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2030P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Utica</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$0.00M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$1.64M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Key Compostables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$0.69M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$3.24M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Compost and products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$0.18M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$1.01M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bl>
          </a:graphicData>
        </a:graphic>
      </p:graphicFrame>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name="S083_l7_ma">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The stated 1.5 million EBITDA effect exceeds the 0.59 million implied by the price and multiple.</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Implied earnings are the stated price divided by the stated multiple.</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Synergies; data room: CC CIM JPC FINAL 090126</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Implied earnings are 0.59 million. Stated EBITDA effect minus that figure is 0.91 million. The CIM also states 1.0 million a year of in-sourced margin. The two are not added together.</a:t>
            </a:r>
          </a:p>
        </p:txBody>
      </p:sp>
      <p:graphicFrame>
        <p:nvGraphicFramePr>
          <p:cNvPr id="9" name="table"/>
          <p:cNvGraphicFramePr>
            <a:graphicFrameLocks noGrp="1"/>
          </p:cNvGraphicFramePr>
          <p:nvPr/>
        </p:nvGraphicFramePr>
        <p:xfrm>
          <a:off x="411480" y="1691640"/>
          <a:ext cx="11365989" cy="3784600"/>
        </p:xfrm>
        <a:graphic>
          <a:graphicData uri="http://schemas.openxmlformats.org/drawingml/2006/table">
            <a:tbl>
              <a:tblPr firstRow="1">
                <a:tableStyleId>{5940675A-B579-460E-94D1-54222C63F5DA}</a:tableStyleId>
              </a:tblPr>
              <a:tblGrid>
                <a:gridCol w="1783134"/>
                <a:gridCol w="1949071"/>
                <a:gridCol w="1866563"/>
                <a:gridCol w="4890416"/>
                <a:gridCol w="876805"/>
              </a:tblGrid>
              <a:tr h="287020">
                <a:tc>
                  <a:txBody>
                    <a:bodyPr wrap="square"/>
                    <a:lstStyle/>
                    <a:p>
                      <a:r>
                        <a:rPr sz="1300" b="1" i="0">
                          <a:solidFill>
                            <a:srgbClr val="FFFFFF"/>
                          </a:solidFill>
                          <a:latin typeface="Calibri"/>
                        </a:rPr>
                        <a:t>Target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Status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Scale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Terms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Implied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388620">
                <a:tc>
                  <a:txBody>
                    <a:bodyPr wrap="square"/>
                    <a:lstStyle/>
                    <a:p>
                      <a:r>
                        <a:rPr sz="1300" b="1" i="0">
                          <a:solidFill>
                            <a:srgbClr val="14213D"/>
                          </a:solidFill>
                          <a:latin typeface="Calibri"/>
                        </a:rPr>
                        <a:t>Fat Worm Compost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Closed (2018)</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~$250K commercial ARR. Deepened density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388620">
                <a:tc>
                  <a:txBody>
                    <a:bodyPr wrap="square"/>
                    <a:lstStyle/>
                    <a:p>
                      <a:r>
                        <a:rPr sz="1300" b="1" i="0">
                          <a:solidFill>
                            <a:srgbClr val="14213D"/>
                          </a:solidFill>
                          <a:latin typeface="Calibri"/>
                        </a:rPr>
                        <a:t>WB Waste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Closed (2023)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~$300K commercial ARR. Acquired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388620">
                <a:tc>
                  <a:txBody>
                    <a:bodyPr wrap="square"/>
                    <a:lstStyle/>
                    <a:p>
                      <a:r>
                        <a:rPr sz="1300" b="1" i="0">
                          <a:solidFill>
                            <a:srgbClr val="14213D"/>
                          </a:solidFill>
                          <a:latin typeface="Calibri"/>
                        </a:rPr>
                        <a:t>Key City Compost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Closed (2024)</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Frederick curbside, KeyCompostables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388620">
                <a:tc>
                  <a:txBody>
                    <a:bodyPr wrap="square"/>
                    <a:lstStyle/>
                    <a:p>
                      <a:r>
                        <a:rPr sz="1300" b="1" i="0">
                          <a:solidFill>
                            <a:srgbClr val="14213D"/>
                          </a:solidFill>
                          <a:latin typeface="Calibri"/>
                        </a:rPr>
                        <a:t>Target A</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Active Discussion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~$2M ARR, DC-based. Deepens density and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388620">
                <a:tc>
                  <a:txBody>
                    <a:bodyPr wrap="square"/>
                    <a:lstStyle/>
                    <a:p>
                      <a:r>
                        <a:rPr sz="1300" b="1" i="0">
                          <a:solidFill>
                            <a:srgbClr val="14213D"/>
                          </a:solidFill>
                          <a:latin typeface="Calibri"/>
                        </a:rPr>
                        <a:t>Target B</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Initial Discussion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Processing expansion opportunity in VA</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388620">
                <a:tc>
                  <a:txBody>
                    <a:bodyPr wrap="square"/>
                    <a:lstStyle/>
                    <a:p>
                      <a:r>
                        <a:rPr sz="1300" b="1" i="0">
                          <a:solidFill>
                            <a:srgbClr val="14213D"/>
                          </a:solidFill>
                          <a:latin typeface="Calibri"/>
                        </a:rPr>
                        <a:t>Target C</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Minority Investment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~$1M ARR in SE PA / Philly. Potential</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388620">
                <a:tc>
                  <a:txBody>
                    <a:bodyPr wrap="square"/>
                    <a:lstStyle/>
                    <a:p>
                      <a:r>
                        <a:rPr sz="1300" b="1" i="0">
                          <a:solidFill>
                            <a:srgbClr val="14213D"/>
                          </a:solidFill>
                          <a:latin typeface="Calibri"/>
                        </a:rPr>
                        <a:t>Target 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Initial Discussion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Eastern Shore operator. Potential</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388620">
                <a:tc>
                  <a:txBody>
                    <a:bodyPr wrap="square"/>
                    <a:lstStyle/>
                    <a:p>
                      <a:r>
                        <a:rPr sz="1300" b="1" i="0">
                          <a:solidFill>
                            <a:srgbClr val="14213D"/>
                          </a:solidFill>
                          <a:latin typeface="Calibri"/>
                        </a:rPr>
                        <a:t>Bought earnings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Proposed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Price and multiple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$3.0M at 5.1x; cash $1.3M; note $500k; 6% equity; 2.4% warrants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0.59</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388620">
                <a:tc>
                  <a:txBody>
                    <a:bodyPr wrap="square"/>
                    <a:lstStyle/>
                    <a:p>
                      <a:r>
                        <a:rPr sz="1300" b="1" i="0">
                          <a:solidFill>
                            <a:srgbClr val="14213D"/>
                          </a:solidFill>
                          <a:latin typeface="Calibri"/>
                        </a:rPr>
                        <a:t>In-sourced margin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CIM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Stated separately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$1.0M a year</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bl>
          </a:graphicData>
        </a:graphic>
      </p:graphicFrame>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name="S088_div_appx_sizing">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06</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Appendix A - Market Sizing Methodology</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How every number in the sizing was built</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0" i="0">
                <a:solidFill>
                  <a:srgbClr val="B9C3D1"/>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0" i="0">
                <a:solidFill>
                  <a:srgbClr val="B9C3D1"/>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0" i="0">
                <a:solidFill>
                  <a:srgbClr val="B9C3D1"/>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0" i="0">
                <a:solidFill>
                  <a:srgbClr val="B9C3D1"/>
                </a:solidFill>
                <a:latin typeface="Calibri"/>
              </a:rPr>
              <a:t>04  Competitive Landscape</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0" i="0">
                <a:solidFill>
                  <a:srgbClr val="B9C3D1"/>
                </a:solidFill>
                <a:latin typeface="Calibri"/>
              </a:rPr>
              <a:t>05  Growth Opportunities</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1" i="0">
                <a:solidFill>
                  <a:srgbClr val="F2C879"/>
                </a:solidFill>
                <a:latin typeface="Calibri"/>
              </a:rPr>
              <a:t>06  Appendix A - Market Sizing Methodology</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0" i="0">
                <a:solidFill>
                  <a:srgbClr val="B9C3D1"/>
                </a:solidFill>
                <a:latin typeface="Calibri"/>
              </a:rPr>
              <a:t>07  Appendix B - Evidence &amp; Audit Trail</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name="S089_sizing_method_core">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A - MARKET SIZING METHODOLOGY</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How the Compost Crew sizing was built, from the current-territory workbook</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Each line is the market model's stated count, price and participation.</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Bottom-up market model (company); data room: documents  TAM SAM  SOM Data</a:t>
            </a:r>
          </a:p>
        </p:txBody>
      </p:sp>
      <p:sp>
        <p:nvSpPr>
          <p:cNvPr id="7" name="flow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Core opportunity - step by step</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Assumptions, sources and sensitivity</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These steps are read from the market workbook. A securities ledger is not a customer count.</a:t>
            </a:r>
          </a:p>
        </p:txBody>
      </p:sp>
      <p:graphicFrame>
        <p:nvGraphicFramePr>
          <p:cNvPr id="11" name="flow"/>
          <p:cNvGraphicFramePr>
            <a:graphicFrameLocks noGrp="1"/>
          </p:cNvGraphicFramePr>
          <p:nvPr/>
        </p:nvGraphicFramePr>
        <p:xfrm>
          <a:off x="411480" y="2112264"/>
          <a:ext cx="7086599" cy="1205484"/>
        </p:xfrm>
        <a:graphic>
          <a:graphicData uri="http://schemas.openxmlformats.org/drawingml/2006/table">
            <a:tbl>
              <a:tblPr firstRow="1">
                <a:tableStyleId>{5940675A-B579-460E-94D1-54222C63F5DA}</a:tableStyleId>
              </a:tblPr>
              <a:tblGrid>
                <a:gridCol w="2628538"/>
                <a:gridCol w="4458061"/>
              </a:tblGrid>
              <a:tr h="287020">
                <a:tc>
                  <a:txBody>
                    <a:bodyPr wrap="square"/>
                    <a:lstStyle/>
                    <a:p>
                      <a:r>
                        <a:rPr sz="1300" b="1" i="0">
                          <a:solidFill>
                            <a:srgbClr val="FFFFFF"/>
                          </a:solidFill>
                          <a:latin typeface="Calibri"/>
                        </a:rPr>
                        <a:t>Line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As stated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Residential Logistics (Hauling)</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1,661,465 single-family homes × $300 ASP → TAM; 30% participation (500K homes) →</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Commercial Logistics (Hauling)</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89,653 businesses × $7462 ARR → TAM; 30% participation (27K businesses) → SAM; 30%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name="S090_sizing_method_adjacent">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A - MARKET SIZING METHODOLOGY</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Adjacent lines for Compost Crew are sized in the same workbook</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Product lines sit beside the core collection build. Each keeps the basis the workbook stated.</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Bottom-up market model (company); data room: documents  TAM SAM  SOM Data</a:t>
            </a:r>
          </a:p>
        </p:txBody>
      </p:sp>
      <p:sp>
        <p:nvSpPr>
          <p:cNvPr id="7" name="flow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Adjacent opportunity - step by step</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Assumptions, sources and sensitivity</a:t>
            </a:r>
          </a:p>
        </p:txBody>
      </p:sp>
      <p:sp>
        <p:nvSpPr>
          <p:cNvPr id="10" name="right"/>
          <p:cNvSpPr/>
          <p:nvPr/>
        </p:nvSpPr>
        <p:spPr>
          <a:xfrm>
            <a:off x="7726679" y="2112264"/>
            <a:ext cx="4050791" cy="4014215"/>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76200"/>
          <a:lstStyle/>
          <a:p>
            <a:pPr algn="l" marL="155448" indent="-155448">
              <a:spcAft>
                <a:spcPts val="600"/>
              </a:spcAft>
              <a:buChar char="•"/>
            </a:pPr>
            <a:r>
              <a:rPr sz="1400" b="0" i="0">
                <a:solidFill>
                  <a:srgbClr val="1F2937"/>
                </a:solidFill>
                <a:latin typeface="Calibri"/>
              </a:rPr>
              <a:t>A capture ratio is shown only when the workbook also states that line's sales.</a:t>
            </a:r>
          </a:p>
        </p:txBody>
      </p:sp>
      <p:graphicFrame>
        <p:nvGraphicFramePr>
          <p:cNvPr id="11" name="flow"/>
          <p:cNvGraphicFramePr>
            <a:graphicFrameLocks noGrp="1"/>
          </p:cNvGraphicFramePr>
          <p:nvPr/>
        </p:nvGraphicFramePr>
        <p:xfrm>
          <a:off x="411480" y="2112264"/>
          <a:ext cx="7086599" cy="2123948"/>
        </p:xfrm>
        <a:graphic>
          <a:graphicData uri="http://schemas.openxmlformats.org/drawingml/2006/table">
            <a:tbl>
              <a:tblPr firstRow="1">
                <a:tableStyleId>{5940675A-B579-460E-94D1-54222C63F5DA}</a:tableStyleId>
              </a:tblPr>
              <a:tblGrid>
                <a:gridCol w="2973612"/>
                <a:gridCol w="4112987"/>
              </a:tblGrid>
              <a:tr h="287020">
                <a:tc>
                  <a:txBody>
                    <a:bodyPr wrap="square"/>
                    <a:lstStyle/>
                    <a:p>
                      <a:r>
                        <a:rPr sz="1300" b="1" i="0">
                          <a:solidFill>
                            <a:srgbClr val="FFFFFF"/>
                          </a:solidFill>
                          <a:latin typeface="Calibri"/>
                        </a:rPr>
                        <a:t>Line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As stated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59232">
                <a:tc>
                  <a:txBody>
                    <a:bodyPr wrap="square"/>
                    <a:lstStyle/>
                    <a:p>
                      <a:r>
                        <a:rPr sz="1300" b="1" i="0">
                          <a:solidFill>
                            <a:srgbClr val="14213D"/>
                          </a:solidFill>
                          <a:latin typeface="Calibri"/>
                        </a:rPr>
                        <a:t>Residential Compost Sales &amp; Soil Amendme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1,661,465 homes × 0.5 cyds/home × $93 ASP (bagged) → 830K cy → TAM; 30%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Residential KeyCompostables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1,661,465 homes × $84 AOV × 1.1 orders/year → 1.8M orders → TAM; 30% participation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59232">
                <a:tc>
                  <a:txBody>
                    <a:bodyPr wrap="square"/>
                    <a:lstStyle/>
                    <a:p>
                      <a:r>
                        <a:rPr sz="1300" b="1" i="0">
                          <a:solidFill>
                            <a:srgbClr val="14213D"/>
                          </a:solidFill>
                          <a:latin typeface="Calibri"/>
                        </a:rPr>
                        <a:t>Commercial Compost Sales &amp; Soil Amendmen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89,653 businesses x 10 cyds/business × $45 ASP (bulk) → 890K cy → TAM; 30%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59232">
                <a:tc>
                  <a:txBody>
                    <a:bodyPr wrap="square"/>
                    <a:lstStyle/>
                    <a:p>
                      <a:r>
                        <a:rPr sz="1300" b="1" i="0">
                          <a:solidFill>
                            <a:srgbClr val="14213D"/>
                          </a:solidFill>
                          <a:latin typeface="Calibri"/>
                        </a:rPr>
                        <a:t>Commercial KeyCompostables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89,653 businesses × $410 AOV × 3 orders/year → TAM; 30% participation → SAM; 30%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name="S097_back_cover">
    <p:spTree>
      <p:nvGrpSpPr>
        <p:cNvPr id="1" name=""/>
        <p:cNvGrpSpPr/>
        <p:nvPr/>
      </p:nvGrpSpPr>
      <p:grpSpPr/>
      <p:sp>
        <p:nvSpPr>
          <p:cNvPr id="2" name="back_brand"/>
          <p:cNvSpPr txBox="1"/>
          <p:nvPr/>
        </p:nvSpPr>
        <p:spPr>
          <a:xfrm>
            <a:off x="548640" y="2743200"/>
            <a:ext cx="7315200" cy="640080"/>
          </a:xfrm>
          <a:prstGeom prst="rect">
            <a:avLst/>
          </a:prstGeom>
          <a:noFill/>
        </p:spPr>
        <p:txBody>
          <a:bodyPr wrap="square" anchor="t" lIns="0" rIns="0" tIns="0" bIns="0">
            <a:spAutoFit/>
          </a:bodyPr>
          <a:lstStyle/>
          <a:p>
            <a:pPr algn="l"/>
            <a:r>
              <a:rPr sz="3400" b="1" i="0">
                <a:solidFill>
                  <a:srgbClr val="FFFFFF"/>
                </a:solidFill>
                <a:latin typeface="Calibri"/>
              </a:rPr>
              <a:t>DiligenceIQ</a:t>
            </a:r>
          </a:p>
        </p:txBody>
      </p:sp>
      <p:sp>
        <p:nvSpPr>
          <p:cNvPr id="3" name="back_tag"/>
          <p:cNvSpPr txBox="1"/>
          <p:nvPr/>
        </p:nvSpPr>
        <p:spPr>
          <a:xfrm>
            <a:off x="548640" y="3474720"/>
            <a:ext cx="8229600" cy="365760"/>
          </a:xfrm>
          <a:prstGeom prst="rect">
            <a:avLst/>
          </a:prstGeom>
          <a:noFill/>
        </p:spPr>
        <p:txBody>
          <a:bodyPr wrap="square" anchor="t" lIns="0" rIns="0" tIns="0" bIns="0">
            <a:spAutoFit/>
          </a:bodyPr>
          <a:lstStyle/>
          <a:p>
            <a:pPr algn="l"/>
            <a:r>
              <a:rPr sz="1400" b="0" i="1">
                <a:solidFill>
                  <a:srgbClr val="F2C879"/>
                </a:solidFill>
                <a:latin typeface="Calibri"/>
              </a:rPr>
              <a:t>Agentic commercial due diligence</a:t>
            </a:r>
          </a:p>
        </p:txBody>
      </p:sp>
      <p:sp>
        <p:nvSpPr>
          <p:cNvPr id="4" name="back_contact"/>
          <p:cNvSpPr txBox="1"/>
          <p:nvPr/>
        </p:nvSpPr>
        <p:spPr>
          <a:xfrm>
            <a:off x="548640" y="4206240"/>
            <a:ext cx="8229600" cy="822960"/>
          </a:xfrm>
          <a:prstGeom prst="rect">
            <a:avLst/>
          </a:prstGeom>
          <a:solidFill>
            <a:srgbClr val="EEF1F5"/>
          </a:solidFill>
          <a:ln>
            <a:noFill/>
          </a:ln>
        </p:spPr>
        <p:txBody>
          <a:bodyPr wrap="square" anchor="ctr" lIns="109728" rIns="109728" tIns="0" bIns="0">
            <a:spAutoFit/>
          </a:bodyPr>
          <a:lstStyle/>
          <a:p>
            <a:pPr algn="l"/>
            <a:r>
              <a:rPr sz="1200" b="0" i="0">
                <a:solidFill>
                  <a:srgbClr val="14213D"/>
                </a:solidFill>
                <a:latin typeface="Calibri"/>
              </a:rPr>
              <a:t>DiligenceIQ · Commercial due diligence on Compost Crew. Draft for discussion, October 2026.</a:t>
            </a:r>
          </a:p>
        </p:txBody>
      </p:sp>
      <p:sp>
        <p:nvSpPr>
          <p:cNvPr id="5" name="back_notice"/>
          <p:cNvSpPr txBox="1"/>
          <p:nvPr/>
        </p:nvSpPr>
        <p:spPr>
          <a:xfrm>
            <a:off x="548640" y="5212080"/>
            <a:ext cx="10058400" cy="548640"/>
          </a:xfrm>
          <a:prstGeom prst="rect">
            <a:avLst/>
          </a:prstGeom>
          <a:noFill/>
        </p:spPr>
        <p:txBody>
          <a:bodyPr wrap="square" anchor="t" lIns="0" rIns="0" tIns="0" bIns="0">
            <a:spAutoFit/>
          </a:bodyPr>
          <a:lstStyle/>
          <a:p>
            <a:pPr algn="l"/>
            <a:r>
              <a:rPr sz="900" b="0" i="1">
                <a:solidFill>
                  <a:srgbClr val="5B6B7F"/>
                </a:solidFill>
                <a:latin typeface="Calibri"/>
              </a:rPr>
              <a:t>This document is confidential and prepared solely for the addressee. Do not distribute without written consent.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name="S098_div_appx_audit">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07</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Appendix B - Evidence &amp; Audit Trail</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Module verdicts, source register and exceptions</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0" i="0">
                <a:solidFill>
                  <a:srgbClr val="B9C3D1"/>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0" i="0">
                <a:solidFill>
                  <a:srgbClr val="B9C3D1"/>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0" i="0">
                <a:solidFill>
                  <a:srgbClr val="B9C3D1"/>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0" i="0">
                <a:solidFill>
                  <a:srgbClr val="B9C3D1"/>
                </a:solidFill>
                <a:latin typeface="Calibri"/>
              </a:rPr>
              <a:t>04  Competitive Landscape</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0" i="0">
                <a:solidFill>
                  <a:srgbClr val="B9C3D1"/>
                </a:solidFill>
                <a:latin typeface="Calibri"/>
              </a:rPr>
              <a:t>05  Growth Opportunities</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0" i="0">
                <a:solidFill>
                  <a:srgbClr val="B9C3D1"/>
                </a:solidFill>
                <a:latin typeface="Calibri"/>
              </a:rPr>
              <a:t>06  Appendix A - Market Sizing Methodology</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1" i="0">
                <a:solidFill>
                  <a:srgbClr val="F2C879"/>
                </a:solidFill>
                <a:latin typeface="Calibri"/>
              </a:rPr>
              <a:t>07  Appendix B - Evidence &amp; Audit Trail</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name="S099_module_verdict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B - EVIDENCE &amp; AUDIT TRAIL</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Module verdicts restated at the grade the facts support</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A stated pass is lowered when the facts are thinner than the module claimed.</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Scope &amp; Methodology; data room: 2 2 1 Revenue by Service Line  Please see Investor Workbook.txt, 2 3 1 Financial Projections  Please see Investor Workbook.txt, Compost Crew Monthly Financials 23YTD26, Please see 2 1 1 Financial Statements for BS.txt, Please see 2 1 1 Financial Statements for Cash Flow Statements.txt, Please see 2 1 1 Financial Statements.txt</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The adjusted grade is the one this report uses. It is not raised above the facts.</a:t>
            </a:r>
          </a:p>
        </p:txBody>
      </p:sp>
      <p:graphicFrame>
        <p:nvGraphicFramePr>
          <p:cNvPr id="9" name="table"/>
          <p:cNvGraphicFramePr>
            <a:graphicFrameLocks noGrp="1"/>
          </p:cNvGraphicFramePr>
          <p:nvPr/>
        </p:nvGraphicFramePr>
        <p:xfrm>
          <a:off x="411480" y="1691640"/>
          <a:ext cx="11365990" cy="3741420"/>
        </p:xfrm>
        <a:graphic>
          <a:graphicData uri="http://schemas.openxmlformats.org/drawingml/2006/table">
            <a:tbl>
              <a:tblPr firstRow="1">
                <a:tableStyleId>{5940675A-B579-460E-94D1-54222C63F5DA}</a:tableStyleId>
              </a:tblPr>
              <a:tblGrid>
                <a:gridCol w="2997708"/>
                <a:gridCol w="1972397"/>
                <a:gridCol w="1566907"/>
                <a:gridCol w="4828978"/>
              </a:tblGrid>
              <a:tr h="287020">
                <a:tc>
                  <a:txBody>
                    <a:bodyPr wrap="square"/>
                    <a:lstStyle/>
                    <a:p>
                      <a:r>
                        <a:rPr sz="1300" b="1" i="0">
                          <a:solidFill>
                            <a:srgbClr val="FFFFFF"/>
                          </a:solidFill>
                          <a:latin typeface="Calibri"/>
                        </a:rPr>
                        <a:t>Module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Stated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Adjusted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Basis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31800">
                <a:tc>
                  <a:txBody>
                    <a:bodyPr wrap="square"/>
                    <a:lstStyle/>
                    <a:p>
                      <a:r>
                        <a:rPr sz="1300" b="1" i="0">
                          <a:solidFill>
                            <a:srgbClr val="14213D"/>
                          </a:solidFill>
                          <a:latin typeface="Calibri"/>
                        </a:rPr>
                        <a:t>23 modules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BLOCKED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Blocked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Findings from a blocked module are not relied 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Scope &amp; Methodology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PASS / BLOCKED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Not produced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No facts were loaded for this module.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Cash Flow</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PASS / LIMITED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Limited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The lower stated grade is used.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Company Background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PASS / LIMITED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Limited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The lower stated grade is used.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Cost Structure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REWORK / LIMITED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Limited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The lower stated grade is used.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Deal Context And Objectives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PASS / LIMITED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Limited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The lower stated grade is used.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Internal Risk</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REWORK / LIMITED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Limited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The lower stated grade is used.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Ip And Technology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PASS / LIMITED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Limited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The lower stated grade is used.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name="S100_source_register">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B - EVIDENCE &amp; AUDIT TRAIL</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Sources the report rests on, read from the room or only cited</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Read means the workbook was extracted. Cited only means a module named the file.</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Scope &amp; Methodology; 24 data-room documents; 0 external sources (full list in notes)</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Read means the workbook was extracted into the evidence register. Cited only means the file was named by a module and was not read as a workbook.</a:t>
            </a:r>
          </a:p>
        </p:txBody>
      </p:sp>
      <p:graphicFrame>
        <p:nvGraphicFramePr>
          <p:cNvPr id="9" name="table"/>
          <p:cNvGraphicFramePr>
            <a:graphicFrameLocks noGrp="1"/>
          </p:cNvGraphicFramePr>
          <p:nvPr/>
        </p:nvGraphicFramePr>
        <p:xfrm>
          <a:off x="411480" y="1691640"/>
          <a:ext cx="11365991" cy="3741420"/>
        </p:xfrm>
        <a:graphic>
          <a:graphicData uri="http://schemas.openxmlformats.org/drawingml/2006/table">
            <a:tbl>
              <a:tblPr firstRow="1">
                <a:tableStyleId>{5940675A-B579-460E-94D1-54222C63F5DA}</a:tableStyleId>
              </a:tblPr>
              <a:tblGrid>
                <a:gridCol w="9475578"/>
                <a:gridCol w="1890413"/>
              </a:tblGrid>
              <a:tr h="287020">
                <a:tc>
                  <a:txBody>
                    <a:bodyPr wrap="square"/>
                    <a:lstStyle/>
                    <a:p>
                      <a:r>
                        <a:rPr sz="1300" b="1" i="0">
                          <a:solidFill>
                            <a:srgbClr val="FFFFFF"/>
                          </a:solidFill>
                          <a:latin typeface="Calibri"/>
                        </a:rPr>
                        <a:t>Source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How used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31800">
                <a:tc>
                  <a:txBody>
                    <a:bodyPr wrap="square"/>
                    <a:lstStyle/>
                    <a:p>
                      <a:r>
                        <a:rPr sz="1300" b="1" i="0">
                          <a:solidFill>
                            <a:srgbClr val="14213D"/>
                          </a:solidFill>
                          <a:latin typeface="Calibri"/>
                        </a:rPr>
                        <a:t>documents__CC - Depreciation Schedule as on 07_31_2026.xlsx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Read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documents__CC_Investor_Workbook_EXTERNAL.xlsx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Read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documents__Completed 2c2i Baseline Metrics Compost Crew.xlsx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Read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documents__Compost Crew Impact Metric -2024.xlsx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Read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documents__Compost Crew Monthly Financials 23YTD26.xlsx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Read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documents__MD_NOVA_ZIP Expansion Analysis_Final_10_22_2025.xlsx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Read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documents__OG Loan Schedules.xlsx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Read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documents__TAM_SAM_ SOM Data.xlsx</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Read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name="S101_exception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B - EVIDENCE &amp; AUDIT TRAIL</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What this report could not establish</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Each row is a gap in the record. A withheld template page is not, by itself, a finding.</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DiligenceIQ agent outputs: Scope &amp; Methodology; data room: 2 2 1 Revenue by Service Line  Please see Investor Workbook.txt, 2 3 1 Financial Projections  Please see Investor Workbook.txt, Compost Crew Monthly Financials 23YTD26, Please see 2 1 1 Financial Statements for BS.txt, Please see 2 1 1 Financial Statements for Cash Flow Statements.txt, Please see 2 1 1 Financial Statements.txt</a:t>
            </a:r>
          </a:p>
        </p:txBody>
      </p:sp>
      <p:sp>
        <p:nvSpPr>
          <p:cNvPr id="8" name="takeaway"/>
          <p:cNvSpPr/>
          <p:nvPr/>
        </p:nvSpPr>
        <p:spPr>
          <a:xfrm>
            <a:off x="411480" y="5650992"/>
            <a:ext cx="11365992" cy="475488"/>
          </a:xfrm>
          <a:prstGeom prst="rect">
            <a:avLst/>
          </a:prstGeom>
          <a:solidFill>
            <a:srgbClr val="EEF1F5"/>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200" bIns="76200"/>
          <a:lstStyle/>
          <a:p>
            <a:pPr algn="l"/>
            <a:r>
              <a:rPr sz="1200" b="1" i="0">
                <a:solidFill>
                  <a:srgbClr val="14213D"/>
                </a:solidFill>
                <a:latin typeface="Calibri"/>
              </a:rPr>
              <a:t>The adjusted verdicts and the source register are the other half of this audit.</a:t>
            </a:r>
          </a:p>
        </p:txBody>
      </p:sp>
      <p:graphicFrame>
        <p:nvGraphicFramePr>
          <p:cNvPr id="9" name="table"/>
          <p:cNvGraphicFramePr>
            <a:graphicFrameLocks noGrp="1"/>
          </p:cNvGraphicFramePr>
          <p:nvPr/>
        </p:nvGraphicFramePr>
        <p:xfrm>
          <a:off x="411480" y="1691640"/>
          <a:ext cx="11365990" cy="3741420"/>
        </p:xfrm>
        <a:graphic>
          <a:graphicData uri="http://schemas.openxmlformats.org/drawingml/2006/table">
            <a:tbl>
              <a:tblPr firstRow="1">
                <a:tableStyleId>{5940675A-B579-460E-94D1-54222C63F5DA}</a:tableStyleId>
              </a:tblPr>
              <a:tblGrid>
                <a:gridCol w="843626"/>
                <a:gridCol w="1394925"/>
                <a:gridCol w="4228624"/>
                <a:gridCol w="670191"/>
                <a:gridCol w="4228624"/>
              </a:tblGrid>
              <a:tr h="287020">
                <a:tc>
                  <a:txBody>
                    <a:bodyPr wrap="square"/>
                    <a:lstStyle/>
                    <a:p>
                      <a:r>
                        <a:rPr sz="1300" b="1" i="0">
                          <a:solidFill>
                            <a:srgbClr val="FFFFFF"/>
                          </a:solidFill>
                          <a:latin typeface="Calibri"/>
                        </a:rPr>
                        <a:t>Severity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Rule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Gap</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Slide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c>
                  <a:txBody>
                    <a:bodyPr wrap="square"/>
                    <a:lstStyle/>
                    <a:p>
                      <a:r>
                        <a:rPr sz="1300" b="1" i="0">
                          <a:solidFill>
                            <a:srgbClr val="FFFFFF"/>
                          </a:solidFill>
                          <a:latin typeface="Calibri"/>
                        </a:rPr>
                        <a:t>Treatment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14213D"/>
                    </a:solidFill>
                  </a:tcPr>
                </a:tc>
              </a:tr>
              <a:tr h="431800">
                <a:tc>
                  <a:txBody>
                    <a:bodyPr wrap="square"/>
                    <a:lstStyle/>
                    <a:p>
                      <a:r>
                        <a:rPr sz="1300" b="1" i="0">
                          <a:solidFill>
                            <a:srgbClr val="14213D"/>
                          </a:solidFill>
                          <a:latin typeface="Calibri"/>
                        </a:rPr>
                        <a:t>HIGH</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E1-NOT-PROVIDED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26 modules are marked blocked.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S099</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Findings from a blocked module are not relied on.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HIGH</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E3-CONFLICT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2025 accounts $13.41M, workbook $13.28M, CIM $13.3mn.</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S020</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The accounts figure is the one used on the results pages. The others stay visible here.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HIGH</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E3-CONFLICT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Gross retention 90.9% on the model basis and 87.3% on the cohort basis.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S013</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The results pages use the actual cohort basis. The model basis is shown beside it.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MEDIUM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E1-NOT-PROVIDED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Plan years are in the file and are not results.</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S046</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They carry a P suffix and stay off the actuals chart.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MEDIUM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E11-NO-PRIMARY</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No customer survey or interviews were loaded.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S065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NPS and quote pages stay withheld.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MEDIUM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E1-NOT-PROVIDED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The competitor comparison is a self-assessment.</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S062</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Shown once, and not as customer evidence.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r h="431800">
                <a:tc>
                  <a:txBody>
                    <a:bodyPr wrap="square"/>
                    <a:lstStyle/>
                    <a:p>
                      <a:r>
                        <a:rPr sz="1300" b="1" i="0">
                          <a:solidFill>
                            <a:srgbClr val="14213D"/>
                          </a:solidFill>
                          <a:latin typeface="Calibri"/>
                        </a:rPr>
                        <a:t>MEDIUM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E1-NOT-PROVIDED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Quotas have no rep-level bookings behind them.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S075</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c>
                  <a:txBody>
                    <a:bodyPr wrap="square"/>
                    <a:lstStyle/>
                    <a:p>
                      <a:r>
                        <a:rPr sz="1300" b="0" i="0">
                          <a:solidFill>
                            <a:srgbClr val="1F2937"/>
                          </a:solidFill>
                          <a:latin typeface="Calibri"/>
                        </a:rPr>
                        <a:t>They are shown as the plan stated them.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FFFFF"/>
                    </a:solidFill>
                  </a:tcPr>
                </a:tc>
              </a:tr>
              <a:tr h="431800">
                <a:tc>
                  <a:txBody>
                    <a:bodyPr wrap="square"/>
                    <a:lstStyle/>
                    <a:p>
                      <a:r>
                        <a:rPr sz="1300" b="1" i="0">
                          <a:solidFill>
                            <a:srgbClr val="14213D"/>
                          </a:solidFill>
                          <a:latin typeface="Calibri"/>
                        </a:rPr>
                        <a:t>MEDIUM</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E1-NOT-PROVIDED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ZIP scores have no revenue attached.</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S081</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c>
                  <a:txBody>
                    <a:bodyPr wrap="square"/>
                    <a:lstStyle/>
                    <a:p>
                      <a:r>
                        <a:rPr sz="1300" b="0" i="0">
                          <a:solidFill>
                            <a:srgbClr val="1F2937"/>
                          </a:solidFill>
                          <a:latin typeface="Calibri"/>
                        </a:rPr>
                        <a:t>They are not converted into a market figure.</a:t>
                      </a:r>
                    </a:p>
                  </a:txBody>
                  <a:tcPr marL="54864" marR="54864" marT="32004" marB="32004" anchor="ctr">
                    <a:lnL w="9525">
                      <a:solidFill>
                        <a:srgbClr val="D5DBE3"/>
                      </a:solidFill>
                    </a:lnL>
                    <a:lnR w="9525">
                      <a:solidFill>
                        <a:srgbClr val="D5DBE3"/>
                      </a:solidFill>
                    </a:lnR>
                    <a:lnT w="9525">
                      <a:solidFill>
                        <a:srgbClr val="D5DBE3"/>
                      </a:solidFill>
                    </a:lnT>
                    <a:lnB w="9525">
                      <a:solidFill>
                        <a:srgbClr val="D5DBE3"/>
                      </a:solidFill>
                    </a:lnB>
                    <a:solidFill>
                      <a:srgbClr val="F6F8FA"/>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DiligenceIQ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Due Diligence Report</dc:title>
  <dc:subject>PptxGenJS Presentation</dc:subject>
  <dc:creator>DiligenceIQ</dc:creator>
  <cp:lastModifiedBy>DiligenceIQ</cp:lastModifiedBy>
  <cp:revision>1</cp:revision>
  <dcterms:created xsi:type="dcterms:W3CDTF">2026-09-21T09:59:10Z</dcterms:created>
  <dcterms:modified xsi:type="dcterms:W3CDTF">2026-09-21T09:59:10Z</dcterms:modified>
</cp:coreProperties>
</file>